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Folie mittels Klicken verschieben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A00889-BF26-4490-B8F4-4233050A49E9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Kurzvorstellung: Wir haben einen steuerbaren Greifautomaten gebaut. Der Pitch zeigt, wie wir die Software als Architektur aufgesetzt haben.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3B463D-AFDF-41CA-9805-FC42ECE8EE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vier Firmwares: claw_motor_controller, claw_endstop, claw_panel_input und claw_switch2_scanner.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3DF8D3-3C84-4DD2-B25E-ECE891E8CF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Kein Gerät kennt ein anderes direkt. Der Broker ist der einzige Treffpunkt, der Server die einzige Instanz, die Motorbefehle schreibt.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7733F9-A3CE-4B66-B286-142F3BD75B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Architektur ist als Microservice-Ansatz gedacht: kleine Einheiten, lose über MQTT gekoppelt.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E696A2-61DE-4CDF-973B-F1C8282F33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Fahrbefehle kommen mehrmals pro Sekunde. Der Server sendet nur Änderungen, damit der ESP nicht mit Nachrichten und Seriell-Ausgaben ausgebremst wird.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9A0C38-5C8C-42C1-8542-22A8F93FF0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Motor-Controller: Rampen und Schritte zählen. Server: Reihenfolge, Koordinaten, Eingabemapping.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4EF3E0-659F-471B-BC3B-4CE585F4BE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Offen: Fällt nur der Server aus, während der ESP am Broker hängt, läuft eine Achse weiter. Dafür planen wir einen Server-Heartbeat.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CAB466-0C7A-4A8E-A387-5AAA41A35C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 meiste ist implementiert und gebaut, aber noch nicht vollständig an der Hardware verifiziert.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EBBFD2-B4ED-400B-8747-8E67C15D28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AE2E78-7C4F-4872-8FF2-2CA3D2F012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2F048B-850A-403C-A747-EE49723AE11A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5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14B88F-4E20-4158-9854-CEF6DC04F64B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"/>
          <p:cNvSpPr/>
          <p:nvPr/>
        </p:nvSpPr>
        <p:spPr>
          <a:xfrm>
            <a:off x="731520" y="1920240"/>
            <a:ext cx="73137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Clawmachine</a:t>
            </a:r>
            <a:endParaRPr lang="de-D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Untertitel"/>
          <p:cNvSpPr/>
          <p:nvPr/>
        </p:nvSpPr>
        <p:spPr>
          <a:xfrm>
            <a:off x="731520" y="3291840"/>
            <a:ext cx="69480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Ein Greifautomat als verteilte Architektur aus ESP32-Firmware, MQTT und Python-Server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Kontext"/>
          <p:cNvSpPr/>
          <p:nvPr/>
        </p:nvSpPr>
        <p:spPr>
          <a:xfrm>
            <a:off x="731520" y="512064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Softwarepraktikum · Pitch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Motiv Kreis 1"/>
          <p:cNvSpPr/>
          <p:nvPr/>
        </p:nvSpPr>
        <p:spPr>
          <a:xfrm>
            <a:off x="8595360" y="1463040"/>
            <a:ext cx="2193120" cy="21931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5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Motiv Kreis 2"/>
          <p:cNvSpPr/>
          <p:nvPr/>
        </p:nvSpPr>
        <p:spPr>
          <a:xfrm>
            <a:off x="9966960" y="3108960"/>
            <a:ext cx="1735920" cy="17359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C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Motiv Kreis 3"/>
          <p:cNvSpPr/>
          <p:nvPr/>
        </p:nvSpPr>
        <p:spPr>
          <a:xfrm>
            <a:off x="8412480" y="3840480"/>
            <a:ext cx="1461600" cy="14616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F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Motiv Kreis 4"/>
          <p:cNvSpPr/>
          <p:nvPr/>
        </p:nvSpPr>
        <p:spPr>
          <a:xfrm>
            <a:off x="10241280" y="5029200"/>
            <a:ext cx="1004400" cy="100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6C5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Ein Greifautomat mit drei Eingabewegen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Kernaussage"/>
          <p:cNvSpPr/>
          <p:nvPr/>
        </p:nvSpPr>
        <p:spPr>
          <a:xfrm>
            <a:off x="548640" y="1371600"/>
            <a:ext cx="102398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Joy-Con, Bedienpanel oder Browser: Jede Eingabe landet beim selben Server, der daraus Motorbefehle macht.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Kachel 1"/>
          <p:cNvSpPr/>
          <p:nvPr/>
        </p:nvSpPr>
        <p:spPr>
          <a:xfrm>
            <a:off x="548640" y="2743200"/>
            <a:ext cx="2604600" cy="310752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rgbClr val="FF5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Kennzahl 1"/>
          <p:cNvSpPr/>
          <p:nvPr/>
        </p:nvSpPr>
        <p:spPr>
          <a:xfrm>
            <a:off x="731520" y="2926080"/>
            <a:ext cx="223884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de-D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Kennzahl Label 1"/>
          <p:cNvSpPr/>
          <p:nvPr/>
        </p:nvSpPr>
        <p:spPr>
          <a:xfrm>
            <a:off x="731520" y="4114800"/>
            <a:ext cx="223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Eingabewege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Kennzahl Detail 1"/>
          <p:cNvSpPr/>
          <p:nvPr/>
        </p:nvSpPr>
        <p:spPr>
          <a:xfrm>
            <a:off x="731520" y="4572000"/>
            <a:ext cx="2238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Switch-2-Joy-Con, Panel, Webinterface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Kachel 2"/>
          <p:cNvSpPr/>
          <p:nvPr/>
        </p:nvSpPr>
        <p:spPr>
          <a:xfrm>
            <a:off x="3360600" y="2743200"/>
            <a:ext cx="2604600" cy="3107520"/>
          </a:xfrm>
          <a:prstGeom prst="roundRect">
            <a:avLst>
              <a:gd name="adj" fmla="val 4211"/>
            </a:avLst>
          </a:prstGeom>
          <a:solidFill>
            <a:schemeClr val="accent3"/>
          </a:solidFill>
          <a:ln w="12700">
            <a:solidFill>
              <a:srgbClr val="1F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Kennzahl 2"/>
          <p:cNvSpPr/>
          <p:nvPr/>
        </p:nvSpPr>
        <p:spPr>
          <a:xfrm>
            <a:off x="3543480" y="2926080"/>
            <a:ext cx="223884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de-D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Kennzahl Label 2"/>
          <p:cNvSpPr/>
          <p:nvPr/>
        </p:nvSpPr>
        <p:spPr>
          <a:xfrm>
            <a:off x="3543480" y="4114800"/>
            <a:ext cx="223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ESP32-Firmwares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Kennzahl Detail 2"/>
          <p:cNvSpPr/>
          <p:nvPr/>
        </p:nvSpPr>
        <p:spPr>
          <a:xfrm>
            <a:off x="3543480" y="4572000"/>
            <a:ext cx="2238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Motor-Controller, Endstops, Panel, Joy-Con-Scanner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Kachel 3"/>
          <p:cNvSpPr/>
          <p:nvPr/>
        </p:nvSpPr>
        <p:spPr>
          <a:xfrm>
            <a:off x="6172200" y="2743200"/>
            <a:ext cx="2604600" cy="310752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12700">
            <a:solidFill>
              <a:srgbClr val="6C5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Kennzahl 3"/>
          <p:cNvSpPr/>
          <p:nvPr/>
        </p:nvSpPr>
        <p:spPr>
          <a:xfrm>
            <a:off x="6355080" y="2926080"/>
            <a:ext cx="223884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de-D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Kennzahl Label 3"/>
          <p:cNvSpPr/>
          <p:nvPr/>
        </p:nvSpPr>
        <p:spPr>
          <a:xfrm>
            <a:off x="6355080" y="4114800"/>
            <a:ext cx="223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zentraler Server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Kennzahl Detail 3"/>
          <p:cNvSpPr/>
          <p:nvPr/>
        </p:nvSpPr>
        <p:spPr>
          <a:xfrm>
            <a:off x="6355080" y="4572000"/>
            <a:ext cx="2238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Python mit FastAPI und paho-mqtt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Kachel 4"/>
          <p:cNvSpPr/>
          <p:nvPr/>
        </p:nvSpPr>
        <p:spPr>
          <a:xfrm>
            <a:off x="8984160" y="2743200"/>
            <a:ext cx="2604600" cy="310752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 w="12700">
            <a:solidFill>
              <a:srgbClr val="FFC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Kennzahl 4"/>
          <p:cNvSpPr/>
          <p:nvPr/>
        </p:nvSpPr>
        <p:spPr>
          <a:xfrm>
            <a:off x="9167040" y="2926080"/>
            <a:ext cx="223884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MQTT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Kennzahl Label 4"/>
          <p:cNvSpPr/>
          <p:nvPr/>
        </p:nvSpPr>
        <p:spPr>
          <a:xfrm>
            <a:off x="9167040" y="4114800"/>
            <a:ext cx="223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ein Rückgrat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Kennzahl Detail 4"/>
          <p:cNvSpPr/>
          <p:nvPr/>
        </p:nvSpPr>
        <p:spPr>
          <a:xfrm>
            <a:off x="9167040" y="4572000"/>
            <a:ext cx="2238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Mosquitto auf dem Raspberry Pi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6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BA73D1-FD14-4FEE-A1DB-3A12D4639044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"/>
          <p:cNvSpPr/>
          <p:nvPr/>
        </p:nvSpPr>
        <p:spPr>
          <a:xfrm>
            <a:off x="548640" y="365760"/>
            <a:ext cx="110631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Warum eine Microservice-Architektur?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Karte 1"/>
          <p:cNvSpPr/>
          <p:nvPr/>
        </p:nvSpPr>
        <p:spPr>
          <a:xfrm>
            <a:off x="548640" y="1417320"/>
            <a:ext cx="11063160" cy="1004760"/>
          </a:xfrm>
          <a:prstGeom prst="roundRect">
            <a:avLst>
              <a:gd name="adj" fmla="val 10909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Nummer 1"/>
          <p:cNvSpPr/>
          <p:nvPr/>
        </p:nvSpPr>
        <p:spPr>
          <a:xfrm>
            <a:off x="822960" y="1600200"/>
            <a:ext cx="639000" cy="6390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Karte Titel 1"/>
          <p:cNvSpPr/>
          <p:nvPr/>
        </p:nvSpPr>
        <p:spPr>
          <a:xfrm>
            <a:off x="1783080" y="152712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Erste Erfahrung mit MQTT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Karte Text 1"/>
          <p:cNvSpPr/>
          <p:nvPr/>
        </p:nvSpPr>
        <p:spPr>
          <a:xfrm>
            <a:off x="1783080" y="194760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Im Contextawareness-Praktikum haben wir MQTT kennengelernt und wollten darauf aufbauen.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Karte 2"/>
          <p:cNvSpPr/>
          <p:nvPr/>
        </p:nvSpPr>
        <p:spPr>
          <a:xfrm>
            <a:off x="548640" y="2606040"/>
            <a:ext cx="11063160" cy="1004760"/>
          </a:xfrm>
          <a:prstGeom prst="roundRect">
            <a:avLst>
              <a:gd name="adj" fmla="val 10909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Nummer 2"/>
          <p:cNvSpPr/>
          <p:nvPr/>
        </p:nvSpPr>
        <p:spPr>
          <a:xfrm>
            <a:off x="822960" y="2788920"/>
            <a:ext cx="639000" cy="6390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Karte Titel 2"/>
          <p:cNvSpPr/>
          <p:nvPr/>
        </p:nvSpPr>
        <p:spPr>
          <a:xfrm>
            <a:off x="1783080" y="271584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Microservices selbst umsetzen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Karte Text 2"/>
          <p:cNvSpPr/>
          <p:nvPr/>
        </p:nvSpPr>
        <p:spPr>
          <a:xfrm>
            <a:off x="1783080" y="313632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Ich wollte schon immer eine Microservice-Architektur aufbauen, und hier ließ sie sich umsetzen.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Karte 3"/>
          <p:cNvSpPr/>
          <p:nvPr/>
        </p:nvSpPr>
        <p:spPr>
          <a:xfrm>
            <a:off x="548640" y="3794760"/>
            <a:ext cx="11063160" cy="1004760"/>
          </a:xfrm>
          <a:prstGeom prst="roundRect">
            <a:avLst>
              <a:gd name="adj" fmla="val 10909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Nummer 3"/>
          <p:cNvSpPr/>
          <p:nvPr/>
        </p:nvSpPr>
        <p:spPr>
          <a:xfrm>
            <a:off x="822960" y="3977640"/>
            <a:ext cx="639000" cy="639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Karte Titel 3"/>
          <p:cNvSpPr/>
          <p:nvPr/>
        </p:nvSpPr>
        <p:spPr>
          <a:xfrm>
            <a:off x="1783080" y="379476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Mikrocontroller mit Funk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Karte Text 3"/>
          <p:cNvSpPr/>
          <p:nvPr/>
        </p:nvSpPr>
        <p:spPr>
          <a:xfrm>
            <a:off x="1783080" y="420588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Mikrocontroller kannte ich gut, und WLAN und Bluetooth lassen sich dort einfach nutzen – Gut für Joycons.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Karte 4"/>
          <p:cNvSpPr/>
          <p:nvPr/>
        </p:nvSpPr>
        <p:spPr>
          <a:xfrm>
            <a:off x="548640" y="4983480"/>
            <a:ext cx="11063160" cy="1004760"/>
          </a:xfrm>
          <a:prstGeom prst="roundRect">
            <a:avLst>
              <a:gd name="adj" fmla="val 10909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Nummer 4"/>
          <p:cNvSpPr/>
          <p:nvPr/>
        </p:nvSpPr>
        <p:spPr>
          <a:xfrm>
            <a:off x="822960" y="5166360"/>
            <a:ext cx="639000" cy="639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Karte Titel 4"/>
          <p:cNvSpPr/>
          <p:nvPr/>
        </p:nvSpPr>
        <p:spPr>
          <a:xfrm>
            <a:off x="1783080" y="509328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Viele Controller zusammenbringen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Karte Text 4"/>
          <p:cNvSpPr/>
          <p:nvPr/>
        </p:nvSpPr>
        <p:spPr>
          <a:xfrm>
            <a:off x="1783080" y="5513760"/>
            <a:ext cx="9508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Spannend fand ich, viele Controller zu synchronisieren und zu kapseln.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Architektur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Eingabe 1"/>
          <p:cNvSpPr/>
          <p:nvPr/>
        </p:nvSpPr>
        <p:spPr>
          <a:xfrm>
            <a:off x="548640" y="1463040"/>
            <a:ext cx="3198960" cy="109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Joy-Con + ESP32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Switch 2 per Bluetooth LE, Scanner publisht Steuerzustand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feil Eingabe 1"/>
          <p:cNvSpPr/>
          <p:nvPr/>
        </p:nvSpPr>
        <p:spPr>
          <a:xfrm>
            <a:off x="2148840" y="25603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Eingabe 2"/>
          <p:cNvSpPr/>
          <p:nvPr/>
        </p:nvSpPr>
        <p:spPr>
          <a:xfrm>
            <a:off x="4480560" y="1463040"/>
            <a:ext cx="3198960" cy="1095840"/>
          </a:xfrm>
          <a:prstGeom prst="roundRect">
            <a:avLst>
              <a:gd name="adj" fmla="val 10000"/>
            </a:avLst>
          </a:prstGeom>
          <a:solidFill>
            <a:srgbClr val="1F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Bedienpanel (ESP32)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Taster und Potentiometer für Achsen und Klaue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feil Eingabe 2"/>
          <p:cNvSpPr/>
          <p:nvPr/>
        </p:nvSpPr>
        <p:spPr>
          <a:xfrm>
            <a:off x="6080760" y="25603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Eingabe 3"/>
          <p:cNvSpPr/>
          <p:nvPr/>
        </p:nvSpPr>
        <p:spPr>
          <a:xfrm>
            <a:off x="8412480" y="1463040"/>
            <a:ext cx="3198960" cy="109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Webinterface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Angular: Steuerung, Homing, Zielfahrten, Konsole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feil Eingabe 3"/>
          <p:cNvSpPr/>
          <p:nvPr/>
        </p:nvSpPr>
        <p:spPr>
          <a:xfrm>
            <a:off x="10012680" y="25603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MQTT-Broker"/>
          <p:cNvSpPr/>
          <p:nvPr/>
        </p:nvSpPr>
        <p:spPr>
          <a:xfrm>
            <a:off x="548640" y="3291840"/>
            <a:ext cx="11062800" cy="86724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MQTT-Broker (Eclipse Mosquitto)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Alle Nachrichten unter clawmachine/&lt;gerät&gt;/…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Komponente 1"/>
          <p:cNvSpPr/>
          <p:nvPr/>
        </p:nvSpPr>
        <p:spPr>
          <a:xfrm>
            <a:off x="548640" y="4892040"/>
            <a:ext cx="3198960" cy="118728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Python-Server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Einzige Stelle, die Motorbefehle sendet: Mapping, Homing, Positionierung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feil Komponente 1"/>
          <p:cNvSpPr/>
          <p:nvPr/>
        </p:nvSpPr>
        <p:spPr>
          <a:xfrm>
            <a:off x="2148840" y="41605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Komponente 2"/>
          <p:cNvSpPr/>
          <p:nvPr/>
        </p:nvSpPr>
        <p:spPr>
          <a:xfrm>
            <a:off x="4480560" y="4892040"/>
            <a:ext cx="3198960" cy="118728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Motor-Controller (ESP32)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X/Y/Z-Schrittmotoren und Klauen-Servo, Rampen, Schrittzähler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feil Komponente 2"/>
          <p:cNvSpPr/>
          <p:nvPr/>
        </p:nvSpPr>
        <p:spPr>
          <a:xfrm>
            <a:off x="6080760" y="41605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Komponente 3"/>
          <p:cNvSpPr/>
          <p:nvPr/>
        </p:nvSpPr>
        <p:spPr>
          <a:xfrm>
            <a:off x="8412480" y="4892040"/>
            <a:ext cx="3198960" cy="118728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Endstop-Board (ESP32)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Meldet Endschalter der drei Achsen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feil Komponente 3"/>
          <p:cNvSpPr/>
          <p:nvPr/>
        </p:nvSpPr>
        <p:spPr>
          <a:xfrm>
            <a:off x="10012680" y="4160520"/>
            <a:ext cx="360" cy="731520"/>
          </a:xfrm>
          <a:prstGeom prst="line">
            <a:avLst/>
          </a:prstGeom>
          <a:ln w="28575">
            <a:solidFill>
              <a:srgbClr val="7C7A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63D957-2B84-41A5-98DB-3AABDED3B25B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el"/>
          <p:cNvSpPr/>
          <p:nvPr/>
        </p:nvSpPr>
        <p:spPr>
          <a:xfrm>
            <a:off x="548640" y="365760"/>
            <a:ext cx="11063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Warum wir es so aufgesetzt haben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Karte 1"/>
          <p:cNvSpPr/>
          <p:nvPr/>
        </p:nvSpPr>
        <p:spPr>
          <a:xfrm>
            <a:off x="548640" y="1417320"/>
            <a:ext cx="3565440" cy="2239560"/>
          </a:xfrm>
          <a:prstGeom prst="roundRect">
            <a:avLst>
              <a:gd name="adj" fmla="val 489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Nummer 1"/>
          <p:cNvSpPr/>
          <p:nvPr/>
        </p:nvSpPr>
        <p:spPr>
          <a:xfrm>
            <a:off x="822960" y="1691640"/>
            <a:ext cx="639360" cy="6393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Karte Titel 1"/>
          <p:cNvSpPr/>
          <p:nvPr/>
        </p:nvSpPr>
        <p:spPr>
          <a:xfrm>
            <a:off x="1645920" y="169164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Entkopplung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Karte Text 1"/>
          <p:cNvSpPr/>
          <p:nvPr/>
        </p:nvSpPr>
        <p:spPr>
          <a:xfrm>
            <a:off x="822960" y="2468880"/>
            <a:ext cx="30168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Jedes Gerät hat eine Aufgabe und kennt nur MQTT-Topics. Eine Firmware lässt sich tauschen, ohne die anderen anzufassen.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Karte 2"/>
          <p:cNvSpPr/>
          <p:nvPr/>
        </p:nvSpPr>
        <p:spPr>
          <a:xfrm>
            <a:off x="4297680" y="1417320"/>
            <a:ext cx="3565440" cy="2239560"/>
          </a:xfrm>
          <a:prstGeom prst="roundRect">
            <a:avLst>
              <a:gd name="adj" fmla="val 489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Nummer 2"/>
          <p:cNvSpPr/>
          <p:nvPr/>
        </p:nvSpPr>
        <p:spPr>
          <a:xfrm>
            <a:off x="4572000" y="1691640"/>
            <a:ext cx="639360" cy="6393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Karte Titel 2"/>
          <p:cNvSpPr/>
          <p:nvPr/>
        </p:nvSpPr>
        <p:spPr>
          <a:xfrm>
            <a:off x="5394960" y="169164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Ein Schreiber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Karte Text 2"/>
          <p:cNvSpPr/>
          <p:nvPr/>
        </p:nvSpPr>
        <p:spPr>
          <a:xfrm>
            <a:off x="4572000" y="2468880"/>
            <a:ext cx="30168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Nur der Server publiziert Motorbefehle. Eingabequellen lassen sich umschalten, ohne dass sich zwei Quellen in die Quere kommen.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Karte 3"/>
          <p:cNvSpPr/>
          <p:nvPr/>
        </p:nvSpPr>
        <p:spPr>
          <a:xfrm>
            <a:off x="8046720" y="1417320"/>
            <a:ext cx="3565440" cy="2239560"/>
          </a:xfrm>
          <a:prstGeom prst="roundRect">
            <a:avLst>
              <a:gd name="adj" fmla="val 489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Nummer 3"/>
          <p:cNvSpPr/>
          <p:nvPr/>
        </p:nvSpPr>
        <p:spPr>
          <a:xfrm>
            <a:off x="8321040" y="1691640"/>
            <a:ext cx="639360" cy="6393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Karte Titel 3"/>
          <p:cNvSpPr/>
          <p:nvPr/>
        </p:nvSpPr>
        <p:spPr>
          <a:xfrm>
            <a:off x="9144000" y="169164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Automatische Anmeldung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Karte Text 3"/>
          <p:cNvSpPr/>
          <p:nvPr/>
        </p:nvSpPr>
        <p:spPr>
          <a:xfrm>
            <a:off x="8321040" y="2468880"/>
            <a:ext cx="30168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Ein neues Gerät meldet sich mit seiner ersten Nachricht an. Der Server legt es selbst an und bestätigt es.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Karte 4"/>
          <p:cNvSpPr/>
          <p:nvPr/>
        </p:nvSpPr>
        <p:spPr>
          <a:xfrm>
            <a:off x="548640" y="3840480"/>
            <a:ext cx="5439960" cy="2239560"/>
          </a:xfrm>
          <a:prstGeom prst="roundRect">
            <a:avLst>
              <a:gd name="adj" fmla="val 489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Nummer 4"/>
          <p:cNvSpPr/>
          <p:nvPr/>
        </p:nvSpPr>
        <p:spPr>
          <a:xfrm>
            <a:off x="822960" y="4114800"/>
            <a:ext cx="639360" cy="6393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Karte Titel 4"/>
          <p:cNvSpPr/>
          <p:nvPr/>
        </p:nvSpPr>
        <p:spPr>
          <a:xfrm>
            <a:off x="1645920" y="4114800"/>
            <a:ext cx="4159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Gemeinsamer Code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Karte Text 4"/>
          <p:cNvSpPr/>
          <p:nvPr/>
        </p:nvSpPr>
        <p:spPr>
          <a:xfrm>
            <a:off x="822960" y="4892040"/>
            <a:ext cx="48913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WiFi- und MQTT-Verbindung stecken in einer Bibliothek für alle ESP32-Firmwares.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Karte 5"/>
          <p:cNvSpPr/>
          <p:nvPr/>
        </p:nvSpPr>
        <p:spPr>
          <a:xfrm>
            <a:off x="6172200" y="3840480"/>
            <a:ext cx="5439960" cy="2239560"/>
          </a:xfrm>
          <a:prstGeom prst="roundRect">
            <a:avLst>
              <a:gd name="adj" fmla="val 489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Nummer 5"/>
          <p:cNvSpPr/>
          <p:nvPr/>
        </p:nvSpPr>
        <p:spPr>
          <a:xfrm>
            <a:off x="6446520" y="4114800"/>
            <a:ext cx="639360" cy="639360"/>
          </a:xfrm>
          <a:prstGeom prst="ellipse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Karte Titel 5"/>
          <p:cNvSpPr/>
          <p:nvPr/>
        </p:nvSpPr>
        <p:spPr>
          <a:xfrm>
            <a:off x="7269480" y="4114800"/>
            <a:ext cx="4159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de-DE" sz="2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Passwortschutz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Karte Text 5"/>
          <p:cNvSpPr/>
          <p:nvPr/>
        </p:nvSpPr>
        <p:spPr>
          <a:xfrm>
            <a:off x="6446520" y="4892040"/>
            <a:ext cx="48913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Calibri"/>
              </a:rPr>
              <a:t>Der Broker erlaubt keine anonymen Verbindungen. Server, ESP32-Geräte und Webinterface melden sich mit Benutzername und Passwort an.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F439DE-B019-47DA-99FB-CB8CA72D67BE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Vom Tastendruck zur Motorbewegung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chritt 1"/>
          <p:cNvSpPr/>
          <p:nvPr/>
        </p:nvSpPr>
        <p:spPr>
          <a:xfrm>
            <a:off x="548640" y="1554480"/>
            <a:ext cx="2010240" cy="228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Spieler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drückt Taste oder bewegt den Stick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feil 1"/>
          <p:cNvSpPr/>
          <p:nvPr/>
        </p:nvSpPr>
        <p:spPr>
          <a:xfrm>
            <a:off x="2578320" y="2697480"/>
            <a:ext cx="214920" cy="360"/>
          </a:xfrm>
          <a:prstGeom prst="line">
            <a:avLst/>
          </a:prstGeom>
          <a:ln w="28575">
            <a:solidFill>
              <a:srgbClr val="7C7A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chritt 2"/>
          <p:cNvSpPr/>
          <p:nvPr/>
        </p:nvSpPr>
        <p:spPr>
          <a:xfrm>
            <a:off x="2811960" y="1554480"/>
            <a:ext cx="2010240" cy="228456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Eingabe-ESP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publisht den Steuerzustand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feil 2"/>
          <p:cNvSpPr/>
          <p:nvPr/>
        </p:nvSpPr>
        <p:spPr>
          <a:xfrm>
            <a:off x="4841640" y="2697480"/>
            <a:ext cx="214920" cy="360"/>
          </a:xfrm>
          <a:prstGeom prst="line">
            <a:avLst/>
          </a:prstGeom>
          <a:ln w="28575">
            <a:solidFill>
              <a:srgbClr val="7C7A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opic 2"/>
          <p:cNvSpPr/>
          <p:nvPr/>
        </p:nvSpPr>
        <p:spPr>
          <a:xfrm>
            <a:off x="2811960" y="4069080"/>
            <a:ext cx="20102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clawmachine/player_input/joycon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chritt 3"/>
          <p:cNvSpPr/>
          <p:nvPr/>
        </p:nvSpPr>
        <p:spPr>
          <a:xfrm>
            <a:off x="5074920" y="1554480"/>
            <a:ext cx="2010240" cy="228456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Python-Server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mappt auf Achsen, prüft Endstops, rechnet Klauenwinkel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Pfeil 3"/>
          <p:cNvSpPr/>
          <p:nvPr/>
        </p:nvSpPr>
        <p:spPr>
          <a:xfrm>
            <a:off x="7104600" y="2697480"/>
            <a:ext cx="214920" cy="360"/>
          </a:xfrm>
          <a:prstGeom prst="line">
            <a:avLst/>
          </a:prstGeom>
          <a:ln w="28575">
            <a:solidFill>
              <a:srgbClr val="7C7A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chritt 4"/>
          <p:cNvSpPr/>
          <p:nvPr/>
        </p:nvSpPr>
        <p:spPr>
          <a:xfrm>
            <a:off x="7338240" y="1554480"/>
            <a:ext cx="2010240" cy="228456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Server publisht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z. B. X:50 oder goto:X:1200:50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feil 4"/>
          <p:cNvSpPr/>
          <p:nvPr/>
        </p:nvSpPr>
        <p:spPr>
          <a:xfrm>
            <a:off x="9367920" y="2697480"/>
            <a:ext cx="214920" cy="360"/>
          </a:xfrm>
          <a:prstGeom prst="line">
            <a:avLst/>
          </a:prstGeom>
          <a:ln w="28575">
            <a:solidFill>
              <a:srgbClr val="7C7A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opic 4"/>
          <p:cNvSpPr/>
          <p:nvPr/>
        </p:nvSpPr>
        <p:spPr>
          <a:xfrm>
            <a:off x="7338240" y="4069080"/>
            <a:ext cx="20102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clawmachine/claw_motor_controller/motor/command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chritt 5"/>
          <p:cNvSpPr/>
          <p:nvPr/>
        </p:nvSpPr>
        <p:spPr>
          <a:xfrm>
            <a:off x="9601200" y="1554480"/>
            <a:ext cx="2010240" cy="228456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152280" rIns="152280" bIns="152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Motorsteuerung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fährt die Schrittmotoren mit Rampe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ückkanal"/>
          <p:cNvSpPr/>
          <p:nvPr/>
        </p:nvSpPr>
        <p:spPr>
          <a:xfrm>
            <a:off x="548640" y="53949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Rückkanal: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Position der Achsen und Endstop-Zustände laufen zurück an den Server und ans Webinterface.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29F9DD-083D-4805-A01E-F59055C1593F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Die Logik sitzt im Server, die Muskeln im ESP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palte Homing"/>
          <p:cNvSpPr/>
          <p:nvPr/>
        </p:nvSpPr>
        <p:spPr>
          <a:xfrm>
            <a:off x="548640" y="1463040"/>
            <a:ext cx="3564720" cy="393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F3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ymbol Homing"/>
          <p:cNvSpPr/>
          <p:nvPr/>
        </p:nvSpPr>
        <p:spPr>
          <a:xfrm>
            <a:off x="822960" y="1737360"/>
            <a:ext cx="547200" cy="5472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palte Titel Homing"/>
          <p:cNvSpPr/>
          <p:nvPr/>
        </p:nvSpPr>
        <p:spPr>
          <a:xfrm>
            <a:off x="1554480" y="1737360"/>
            <a:ext cx="2376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Homing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palte Text Homing"/>
          <p:cNvSpPr/>
          <p:nvPr/>
        </p:nvSpPr>
        <p:spPr>
          <a:xfrm>
            <a:off x="822960" y="2560320"/>
            <a:ext cx="3107520" cy="26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Achsen X, Y, Z fahren nacheinander auf ihre Endstops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Steht eine Achse schon am Endstop, fährt sie weg und wieder hin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 ESP fordert nach jedem Start selbst ein Homing an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palte Positionierung"/>
          <p:cNvSpPr/>
          <p:nvPr/>
        </p:nvSpPr>
        <p:spPr>
          <a:xfrm>
            <a:off x="4297680" y="1463040"/>
            <a:ext cx="3564720" cy="393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F3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ymbol Positionierung"/>
          <p:cNvSpPr/>
          <p:nvPr/>
        </p:nvSpPr>
        <p:spPr>
          <a:xfrm>
            <a:off x="4572000" y="1737360"/>
            <a:ext cx="547200" cy="5472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palte Titel Positionierung"/>
          <p:cNvSpPr/>
          <p:nvPr/>
        </p:nvSpPr>
        <p:spPr>
          <a:xfrm>
            <a:off x="5303520" y="1737360"/>
            <a:ext cx="2376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Positionierung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palte Text Positionierung"/>
          <p:cNvSpPr/>
          <p:nvPr/>
        </p:nvSpPr>
        <p:spPr>
          <a:xfrm>
            <a:off x="4572000" y="2560320"/>
            <a:ext cx="3107520" cy="26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 Motor-Controller zählt jeden Schritt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 Server merkt sich Koordinaten ab dem Endstop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Ziel anfahren per Befehl goto:x,y,z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Einfaches Anfahren von Positionen per Webinterface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palte Eingaben"/>
          <p:cNvSpPr/>
          <p:nvPr/>
        </p:nvSpPr>
        <p:spPr>
          <a:xfrm>
            <a:off x="8046720" y="1463040"/>
            <a:ext cx="3564720" cy="393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F3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ymbol Eingaben"/>
          <p:cNvSpPr/>
          <p:nvPr/>
        </p:nvSpPr>
        <p:spPr>
          <a:xfrm>
            <a:off x="8321040" y="1737360"/>
            <a:ext cx="547200" cy="5472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palte Titel Eingaben"/>
          <p:cNvSpPr/>
          <p:nvPr/>
        </p:nvSpPr>
        <p:spPr>
          <a:xfrm>
            <a:off x="9052560" y="1737360"/>
            <a:ext cx="2376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Eingaben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palte Text Eingaben"/>
          <p:cNvSpPr/>
          <p:nvPr/>
        </p:nvSpPr>
        <p:spPr>
          <a:xfrm>
            <a:off x="8321040" y="2560320"/>
            <a:ext cx="3107520" cy="26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Joy-Con, Panel und Web werden zu einheitlichen Achsbefehlen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Eingabequelle ist umschaltbar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Potentiometer wird in Klauenwinkel umgerechnet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Konfiguration"/>
          <p:cNvSpPr/>
          <p:nvPr/>
        </p:nvSpPr>
        <p:spPr>
          <a:xfrm>
            <a:off x="548640" y="5669280"/>
            <a:ext cx="11062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Alle Tempi und Verfahrwege stehen in der config.ini und gehen beim Start als Settings an den ESP, ohne Neuflashen.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7CB057-BE3D-4552-9F1C-D2187784CBBA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Sicherheit liegt auch im ESP, nicht nur im Server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ymbol 1"/>
          <p:cNvSpPr/>
          <p:nvPr/>
        </p:nvSpPr>
        <p:spPr>
          <a:xfrm>
            <a:off x="548640" y="1508760"/>
            <a:ext cx="730080" cy="7300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Punkt Titel 1"/>
          <p:cNvSpPr/>
          <p:nvPr/>
        </p:nvSpPr>
        <p:spPr>
          <a:xfrm>
            <a:off x="1554480" y="1417320"/>
            <a:ext cx="9965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Verfahrgrenzen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unkt Text 1"/>
          <p:cNvSpPr/>
          <p:nvPr/>
        </p:nvSpPr>
        <p:spPr>
          <a:xfrm>
            <a:off x="1554480" y="1874520"/>
            <a:ext cx="9965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 Motor-Controller hält eine referenzierte Achse selbst an 0 und am Verfahrweg an, auch bei Handfahrt.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ymbol 2"/>
          <p:cNvSpPr/>
          <p:nvPr/>
        </p:nvSpPr>
        <p:spPr>
          <a:xfrm>
            <a:off x="548640" y="2697480"/>
            <a:ext cx="730080" cy="7300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unkt Titel 2"/>
          <p:cNvSpPr/>
          <p:nvPr/>
        </p:nvSpPr>
        <p:spPr>
          <a:xfrm>
            <a:off x="1554480" y="2606040"/>
            <a:ext cx="9965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Stopp bei Verbindungsverlust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unkt Text 2"/>
          <p:cNvSpPr/>
          <p:nvPr/>
        </p:nvSpPr>
        <p:spPr>
          <a:xfrm>
            <a:off x="1554480" y="3063240"/>
            <a:ext cx="9965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Bricht WLAN oder MQTT weg, stoppt der ESP alle Achsen und die Klaue sofort.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ymbol 3"/>
          <p:cNvSpPr/>
          <p:nvPr/>
        </p:nvSpPr>
        <p:spPr>
          <a:xfrm>
            <a:off x="548640" y="3886200"/>
            <a:ext cx="730080" cy="7300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unkt Titel 3"/>
          <p:cNvSpPr/>
          <p:nvPr/>
        </p:nvSpPr>
        <p:spPr>
          <a:xfrm>
            <a:off x="1554480" y="3794760"/>
            <a:ext cx="9965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Sofortstopp am Endstop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unkt Text 3"/>
          <p:cNvSpPr/>
          <p:nvPr/>
        </p:nvSpPr>
        <p:spPr>
          <a:xfrm>
            <a:off x="1554480" y="4251960"/>
            <a:ext cx="9965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Der Server stoppt ohne Rampe und setzt die Position zurück auf 0.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ymbol 4"/>
          <p:cNvSpPr/>
          <p:nvPr/>
        </p:nvSpPr>
        <p:spPr>
          <a:xfrm>
            <a:off x="548640" y="5074920"/>
            <a:ext cx="730080" cy="7300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unkt Titel 4"/>
          <p:cNvSpPr/>
          <p:nvPr/>
        </p:nvSpPr>
        <p:spPr>
          <a:xfrm>
            <a:off x="1554480" y="4983480"/>
            <a:ext cx="9965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Sanftes Anfahren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unkt Text 4"/>
          <p:cNvSpPr/>
          <p:nvPr/>
        </p:nvSpPr>
        <p:spPr>
          <a:xfrm>
            <a:off x="1554480" y="5440680"/>
            <a:ext cx="9965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Beschleunigungsrampen schonen Motoren und Mechanik, getrennt für X/Y und Z.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6B4AA8-DC50-4D75-8270-15C32D015920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el"/>
          <p:cNvSpPr/>
          <p:nvPr/>
        </p:nvSpPr>
        <p:spPr>
          <a:xfrm>
            <a:off x="548640" y="365760"/>
            <a:ext cx="11062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Stand und nächste Schritte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palte Läuft"/>
          <p:cNvSpPr/>
          <p:nvPr/>
        </p:nvSpPr>
        <p:spPr>
          <a:xfrm>
            <a:off x="548640" y="1463040"/>
            <a:ext cx="5439240" cy="447912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rgbClr val="F3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ymbol Läuft"/>
          <p:cNvSpPr/>
          <p:nvPr/>
        </p:nvSpPr>
        <p:spPr>
          <a:xfrm>
            <a:off x="822960" y="1737360"/>
            <a:ext cx="638640" cy="6386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✓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palte Titel Läuft"/>
          <p:cNvSpPr/>
          <p:nvPr/>
        </p:nvSpPr>
        <p:spPr>
          <a:xfrm>
            <a:off x="1645920" y="1737360"/>
            <a:ext cx="4113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Läuft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palte Text Läuft"/>
          <p:cNvSpPr/>
          <p:nvPr/>
        </p:nvSpPr>
        <p:spPr>
          <a:xfrm>
            <a:off x="822960" y="2651760"/>
            <a:ext cx="493632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MQTT-Architektur mit automatischer Geräteanmeldung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Drei Eingabewege: Joy-Con, Panel, Webinterface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Homing, Positionierung und Zielfahrten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Sicherheitsstopps im Motor-Controller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palte Als Nächstes"/>
          <p:cNvSpPr/>
          <p:nvPr/>
        </p:nvSpPr>
        <p:spPr>
          <a:xfrm>
            <a:off x="6172200" y="1463040"/>
            <a:ext cx="5439240" cy="447912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rgbClr val="F3F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ymbol Als Nächstes"/>
          <p:cNvSpPr/>
          <p:nvPr/>
        </p:nvSpPr>
        <p:spPr>
          <a:xfrm>
            <a:off x="6446520" y="1737360"/>
            <a:ext cx="638640" cy="638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→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palte Titel Als Nächstes"/>
          <p:cNvSpPr/>
          <p:nvPr/>
        </p:nvSpPr>
        <p:spPr>
          <a:xfrm>
            <a:off x="7269480" y="1737360"/>
            <a:ext cx="4113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Als Nächstes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palte Text Als Nächstes"/>
          <p:cNvSpPr/>
          <p:nvPr/>
        </p:nvSpPr>
        <p:spPr>
          <a:xfrm>
            <a:off x="6446520" y="2651760"/>
            <a:ext cx="493632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Verfahrwege ausmessen und eintragen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Heartbeat für den Fall eines Serverausfalls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Joy-Con-Pairing per Weboberfläche starten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Kamera anbinden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547200" cy="27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963B3F-9DE1-4531-AB51-C9264B15F3F9}" type="slidenum">
              <a:rPr lang="en-US" sz="11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&lt;Foliennummer&gt;</a:t>
            </a:fld>
            <a:endParaRPr lang="de-DE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el"/>
          <p:cNvSpPr/>
          <p:nvPr/>
        </p:nvSpPr>
        <p:spPr>
          <a:xfrm>
            <a:off x="731520" y="2377440"/>
            <a:ext cx="73137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Fragen?</a:t>
            </a:r>
            <a:endParaRPr lang="de-D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chlusssatz"/>
          <p:cNvSpPr/>
          <p:nvPr/>
        </p:nvSpPr>
        <p:spPr>
          <a:xfrm>
            <a:off x="731520" y="374904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Ein Server, viele kleine Geräte, ein gemeinsamer Bus.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Motiv Kreis 1"/>
          <p:cNvSpPr/>
          <p:nvPr/>
        </p:nvSpPr>
        <p:spPr>
          <a:xfrm>
            <a:off x="9326880" y="2011680"/>
            <a:ext cx="1827360" cy="18273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5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Motiv Kreis 2"/>
          <p:cNvSpPr/>
          <p:nvPr/>
        </p:nvSpPr>
        <p:spPr>
          <a:xfrm>
            <a:off x="10424160" y="3840480"/>
            <a:ext cx="1278720" cy="12787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C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Motiv Kreis 3"/>
          <p:cNvSpPr/>
          <p:nvPr/>
        </p:nvSpPr>
        <p:spPr>
          <a:xfrm>
            <a:off x="8869680" y="4206240"/>
            <a:ext cx="1004400" cy="100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F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awmachine Arcade">
  <a:themeElements>
    <a:clrScheme name="Clawmachine Arcade">
      <a:dk1>
        <a:srgbClr val="1B1B2F"/>
      </a:dk1>
      <a:lt1>
        <a:srgbClr val="FFFFFF"/>
      </a:lt1>
      <a:dk2>
        <a:srgbClr val="2D2A4A"/>
      </a:dk2>
      <a:lt2>
        <a:srgbClr val="F3F0FA"/>
      </a:lt2>
      <a:accent1>
        <a:srgbClr val="FF5A5F"/>
      </a:accent1>
      <a:accent2>
        <a:srgbClr val="FFC857"/>
      </a:accent2>
      <a:accent3>
        <a:srgbClr val="1FA896"/>
      </a:accent3>
      <a:accent4>
        <a:srgbClr val="6C5CE7"/>
      </a:accent4>
      <a:accent5>
        <a:srgbClr val="7C7A99"/>
      </a:accent5>
      <a:accent6>
        <a:srgbClr val="3A86FF"/>
      </a:accent6>
      <a:hlink>
        <a:srgbClr val="3A86FF"/>
      </a:hlink>
      <a:folHlink>
        <a:srgbClr val="7C7A99"/>
      </a:folHlink>
    </a:clrScheme>
    <a:fontScheme name="Clawmachine Arcad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2026-10-28T20:11:07Z</dcterms:created>
  <dc:creator>Softwarepraktikum Clawmachine</dc:creator>
  <dc:description/>
  <dc:language>de-DE</dc:language>
  <cp:lastModifiedBy/>
  <dcterms:modified xsi:type="dcterms:W3CDTF">2026-10-29T10:25:34Z</dcterms:modified>
  <cp:revision>7</cp:revision>
  <dc:subject>PptxGenJS Presentation</dc:subject>
  <dc:title>Clawmachine – Architektur-Pitch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