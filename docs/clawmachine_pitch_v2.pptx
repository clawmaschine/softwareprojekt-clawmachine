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5.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Masters/notesMaster1.xml" ContentType="application/vnd.openxmlformats-officedocument.presentationml.notesMaster+xml"/>
  <Override PartName="/ppt/slides/slide12.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11.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notesSlides/notesSlide14.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Override PartName="/ppt/notesSlides/notesSlide4.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5.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Lst>
  <p:sldSz cx="12192000" cy="6858000"/>
  <p:notesSz cx="6858000" cy="12192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PlaceHolder 1"/>
          <p:cNvSpPr>
            <a:spLocks noGrp="1"/>
          </p:cNvSpPr>
          <p:nvPr>
            <p:ph type="sldImg"/>
          </p:nvPr>
        </p:nvSpPr>
        <p:spPr>
          <a:xfrm>
            <a:off x="0" y="812520"/>
            <a:ext cx="0" cy="0"/>
          </a:xfrm>
          <a:prstGeom prst="rect">
            <a:avLst/>
          </a:prstGeom>
          <a:noFill/>
          <a:ln w="0">
            <a:noFill/>
          </a:ln>
        </p:spPr>
        <p:txBody>
          <a:bodyPr lIns="0" tIns="0" rIns="0" bIns="0" anchor="ctr">
            <a:noAutofit/>
          </a:bodyPr>
          <a:p>
            <a:r>
              <a:rPr lang="de-DE" sz="1800" b="0" u="none" strike="noStrike">
                <a:solidFill>
                  <a:schemeClr val="dk1"/>
                </a:solidFill>
                <a:effectLst/>
                <a:uFillTx/>
                <a:latin typeface="Calibri"/>
              </a:rPr>
              <a:t>Folie mittels Klicken verschieben</a:t>
            </a:r>
            <a:endParaRPr lang="de-DE" sz="1800" b="0" u="none" strike="noStrike">
              <a:solidFill>
                <a:schemeClr val="dk1"/>
              </a:solidFill>
              <a:effectLst/>
              <a:uFillTx/>
              <a:latin typeface="Calibri"/>
            </a:endParaRPr>
          </a:p>
        </p:txBody>
      </p:sp>
      <p:sp>
        <p:nvSpPr>
          <p:cNvPr id="1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p>
            <a:pPr indent="0" algn="l">
              <a:buNone/>
            </a:pPr>
            <a:r>
              <a:rPr lang="de-DE" sz="2000" b="0" u="none" strike="noStrike">
                <a:solidFill>
                  <a:srgbClr val="000000"/>
                </a:solidFill>
                <a:effectLst/>
                <a:uFillTx/>
                <a:latin typeface="Arial"/>
              </a:rPr>
              <a:t>Format der Notizen mittels Klicken bearbeiten</a:t>
            </a:r>
            <a:endParaRPr lang="de-DE" sz="2000" b="0" u="none" strike="noStrike">
              <a:solidFill>
                <a:srgbClr val="000000"/>
              </a:solidFill>
              <a:effectLst/>
              <a:uFillTx/>
              <a:latin typeface="Arial"/>
            </a:endParaRPr>
          </a:p>
        </p:txBody>
      </p:sp>
      <p:sp>
        <p:nvSpPr>
          <p:cNvPr id="13" name="PlaceHolder 3"/>
          <p:cNvSpPr>
            <a:spLocks noGrp="1"/>
          </p:cNvSpPr>
          <p:nvPr>
            <p:ph type="hdr"/>
          </p:nvPr>
        </p:nvSpPr>
        <p:spPr>
          <a:xfrm>
            <a:off x="0" y="0"/>
            <a:ext cx="3280680" cy="534240"/>
          </a:xfrm>
          <a:prstGeom prst="rect">
            <a:avLst/>
          </a:prstGeom>
          <a:noFill/>
          <a:ln w="0">
            <a:noFill/>
          </a:ln>
        </p:spPr>
        <p:txBody>
          <a:bodyPr lIns="0" tIns="0" rIns="0" bIns="0" anchor="t">
            <a:noAutofit/>
          </a:bodyPr>
          <a:p>
            <a:pPr indent="0" algn="l">
              <a:buNone/>
            </a:pPr>
            <a:r>
              <a:rPr lang="de-DE" sz="1400" b="0" u="none" strike="noStrike">
                <a:solidFill>
                  <a:srgbClr val="000000"/>
                </a:solidFill>
                <a:effectLst/>
                <a:uFillTx/>
                <a:latin typeface="Times New Roman"/>
              </a:rPr>
              <a:t>&lt;Kopfzeile&gt;</a:t>
            </a:r>
            <a:endParaRPr lang="de-DE" sz="1400" b="0" u="none" strike="noStrike">
              <a:solidFill>
                <a:srgbClr val="000000"/>
              </a:solidFill>
              <a:effectLst/>
              <a:uFillTx/>
              <a:latin typeface="Times New Roman"/>
            </a:endParaRPr>
          </a:p>
        </p:txBody>
      </p:sp>
      <p:sp>
        <p:nvSpPr>
          <p:cNvPr id="14" name="PlaceHolder 4"/>
          <p:cNvSpPr>
            <a:spLocks noGrp="1"/>
          </p:cNvSpPr>
          <p:nvPr>
            <p:ph type="dt" idx="3"/>
          </p:nvPr>
        </p:nvSpPr>
        <p:spPr>
          <a:xfrm>
            <a:off x="4278960" y="0"/>
            <a:ext cx="3280680" cy="534240"/>
          </a:xfrm>
          <a:prstGeom prst="rect">
            <a:avLst/>
          </a:prstGeom>
          <a:noFill/>
          <a:ln w="0">
            <a:noFill/>
          </a:ln>
        </p:spPr>
        <p:txBody>
          <a:bodyPr lIns="0" tIns="0" rIns="0" bIns="0" anchor="t">
            <a:noAutofit/>
          </a:bodyPr>
          <a:lstStyle>
            <a:lvl1pPr indent="0" algn="r">
              <a:buNone/>
              <a:defRPr lang="de-DE" sz="1400" b="0" u="none" strike="noStrike">
                <a:solidFill>
                  <a:srgbClr val="000000"/>
                </a:solidFill>
                <a:effectLst/>
                <a:uFillTx/>
                <a:latin typeface="Times New Roman"/>
              </a:defRPr>
            </a:lvl1pPr>
          </a:lstStyle>
          <a:p>
            <a:pPr indent="0" algn="r">
              <a:buNone/>
            </a:pPr>
            <a:r>
              <a:rPr lang="de-DE" sz="1400" b="0" u="none" strike="noStrike">
                <a:solidFill>
                  <a:srgbClr val="000000"/>
                </a:solidFill>
                <a:effectLst/>
                <a:uFillTx/>
                <a:latin typeface="Times New Roman"/>
              </a:rPr>
              <a:t>&lt;Datum/Uhrzeit&gt;</a:t>
            </a:r>
            <a:endParaRPr lang="de-DE" sz="1400" b="0" u="none" strike="noStrike">
              <a:solidFill>
                <a:srgbClr val="000000"/>
              </a:solidFill>
              <a:effectLst/>
              <a:uFillTx/>
              <a:latin typeface="Times New Roman"/>
            </a:endParaRPr>
          </a:p>
        </p:txBody>
      </p:sp>
      <p:sp>
        <p:nvSpPr>
          <p:cNvPr id="15" name="PlaceHolder 5"/>
          <p:cNvSpPr>
            <a:spLocks noGrp="1"/>
          </p:cNvSpPr>
          <p:nvPr>
            <p:ph type="ftr" idx="4"/>
          </p:nvPr>
        </p:nvSpPr>
        <p:spPr>
          <a:xfrm>
            <a:off x="0" y="10157400"/>
            <a:ext cx="3280680" cy="534240"/>
          </a:xfrm>
          <a:prstGeom prst="rect">
            <a:avLst/>
          </a:prstGeom>
          <a:noFill/>
          <a:ln w="0">
            <a:noFill/>
          </a:ln>
        </p:spPr>
        <p:txBody>
          <a:bodyPr lIns="0" tIns="0" rIns="0" bIns="0" anchor="b">
            <a:noAutofit/>
          </a:bodyPr>
          <a:lstStyle>
            <a:lvl1pPr indent="0" algn="l">
              <a:buNone/>
              <a:defRPr lang="de-DE" sz="1400" b="0" u="none" strike="noStrike">
                <a:solidFill>
                  <a:srgbClr val="000000"/>
                </a:solidFill>
                <a:effectLst/>
                <a:uFillTx/>
                <a:latin typeface="Times New Roman"/>
              </a:defRPr>
            </a:lvl1pPr>
          </a:lstStyle>
          <a:p>
            <a:pPr indent="0" algn="l">
              <a:buNone/>
            </a:pPr>
            <a:r>
              <a:rPr lang="de-DE" sz="1400" b="0" u="none" strike="noStrike">
                <a:solidFill>
                  <a:srgbClr val="000000"/>
                </a:solidFill>
                <a:effectLst/>
                <a:uFillTx/>
                <a:latin typeface="Times New Roman"/>
              </a:rPr>
              <a:t>&lt;Fußzeile&gt;</a:t>
            </a:r>
            <a:endParaRPr lang="de-DE" sz="1400" b="0" u="none" strike="noStrike">
              <a:solidFill>
                <a:srgbClr val="000000"/>
              </a:solidFill>
              <a:effectLst/>
              <a:uFillTx/>
              <a:latin typeface="Times New Roman"/>
            </a:endParaRPr>
          </a:p>
        </p:txBody>
      </p:sp>
      <p:sp>
        <p:nvSpPr>
          <p:cNvPr id="16" name="PlaceHolder 6"/>
          <p:cNvSpPr>
            <a:spLocks noGrp="1"/>
          </p:cNvSpPr>
          <p:nvPr>
            <p:ph type="sldNum" idx="5"/>
          </p:nvPr>
        </p:nvSpPr>
        <p:spPr>
          <a:xfrm>
            <a:off x="4278960" y="10157400"/>
            <a:ext cx="3280680" cy="534240"/>
          </a:xfrm>
          <a:prstGeom prst="rect">
            <a:avLst/>
          </a:prstGeom>
          <a:noFill/>
          <a:ln w="0">
            <a:noFill/>
          </a:ln>
        </p:spPr>
        <p:txBody>
          <a:bodyPr lIns="0" tIns="0" rIns="0" bIns="0" anchor="b">
            <a:noAutofit/>
          </a:bodyPr>
          <a:lstStyle>
            <a:lvl1pPr indent="0" algn="r">
              <a:buNone/>
              <a:defRPr lang="de-DE" sz="1400" b="0" u="none" strike="noStrike">
                <a:solidFill>
                  <a:srgbClr val="000000"/>
                </a:solidFill>
                <a:effectLst/>
                <a:uFillTx/>
                <a:latin typeface="Times New Roman"/>
              </a:defRPr>
            </a:lvl1pPr>
          </a:lstStyle>
          <a:p>
            <a:pPr indent="0" algn="r">
              <a:buNone/>
            </a:pPr>
            <a:fld id="{F5371E72-77C8-44BB-A21F-A331CAF1411B}" type="slidenum">
              <a:rPr lang="de-DE" sz="1400" b="0" u="none" strike="noStrike">
                <a:solidFill>
                  <a:srgbClr val="000000"/>
                </a:solidFill>
                <a:effectLst/>
                <a:uFillTx/>
                <a:latin typeface="Times New Roman"/>
              </a:rPr>
              <a:t>&lt;Foliennummer&gt;</a:t>
            </a:fld>
            <a:endParaRPr lang="de-DE"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685800" y="1143000"/>
            <a:ext cx="5483880" cy="3083760"/>
          </a:xfrm>
          <a:prstGeom prst="rect">
            <a:avLst/>
          </a:prstGeom>
          <a:ln w="0">
            <a:noFill/>
          </a:ln>
        </p:spPr>
      </p:sp>
      <p:sp>
        <p:nvSpPr>
          <p:cNvPr id="373"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Kurzvorstellung: Wir haben einen steuerbaren Greifautomaten gebaut. Der Pitch zeigt, wie wir die Software als Architektur aufgesetzt haben.</a:t>
            </a:r>
            <a:endParaRPr lang="de-DE" sz="2000" b="0" u="none" strike="noStrike">
              <a:solidFill>
                <a:srgbClr val="000000"/>
              </a:solidFill>
              <a:effectLst/>
              <a:uFillTx/>
              <a:latin typeface="Arial"/>
            </a:endParaRPr>
          </a:p>
        </p:txBody>
      </p:sp>
      <p:sp>
        <p:nvSpPr>
          <p:cNvPr id="374" name="PlaceHolder 3"/>
          <p:cNvSpPr>
            <a:spLocks noGrp="1"/>
          </p:cNvSpPr>
          <p:nvPr>
            <p:ph type="sldNum" idx="12"/>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F1FAF27-4594-4A14-A47E-88D443252F0E}"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685800" y="1143000"/>
            <a:ext cx="5483880" cy="3083760"/>
          </a:xfrm>
          <a:prstGeom prst="rect">
            <a:avLst/>
          </a:prstGeom>
          <a:ln w="0">
            <a:noFill/>
          </a:ln>
        </p:spPr>
      </p:sp>
      <p:sp>
        <p:nvSpPr>
          <p:cNvPr id="376"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Die vier Firmwares: claw_motor_controller, claw_endstop, claw_panel_input und claw_switch2_scanner.</a:t>
            </a:r>
            <a:endParaRPr lang="de-DE" sz="2000" b="0" u="none" strike="noStrike">
              <a:solidFill>
                <a:srgbClr val="000000"/>
              </a:solidFill>
              <a:effectLst/>
              <a:uFillTx/>
              <a:latin typeface="Arial"/>
            </a:endParaRPr>
          </a:p>
        </p:txBody>
      </p:sp>
      <p:sp>
        <p:nvSpPr>
          <p:cNvPr id="377" name="PlaceHolder 3"/>
          <p:cNvSpPr>
            <a:spLocks noGrp="1"/>
          </p:cNvSpPr>
          <p:nvPr>
            <p:ph type="sldNum" idx="13"/>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ED6EA8D-677F-4463-A8EF-34B6CC371936}"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685800" y="1143000"/>
            <a:ext cx="5483880" cy="3083760"/>
          </a:xfrm>
          <a:prstGeom prst="rect">
            <a:avLst/>
          </a:prstGeom>
          <a:ln w="0">
            <a:noFill/>
          </a:ln>
        </p:spPr>
      </p:sp>
      <p:sp>
        <p:nvSpPr>
          <p:cNvPr id="379"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Kein Gerät kennt ein anderes direkt. Der Broker ist der einzige Treffpunkt, der Server die einzige Instanz, die Motorbefehle schreibt.</a:t>
            </a:r>
            <a:endParaRPr lang="de-DE" sz="2000" b="0" u="none" strike="noStrike">
              <a:solidFill>
                <a:srgbClr val="000000"/>
              </a:solidFill>
              <a:effectLst/>
              <a:uFillTx/>
              <a:latin typeface="Arial"/>
            </a:endParaRPr>
          </a:p>
        </p:txBody>
      </p:sp>
      <p:sp>
        <p:nvSpPr>
          <p:cNvPr id="380" name="PlaceHolder 3"/>
          <p:cNvSpPr>
            <a:spLocks noGrp="1"/>
          </p:cNvSpPr>
          <p:nvPr>
            <p:ph type="sldNum" idx="14"/>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731D002-B585-4377-9A8E-BD0D2815C550}"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685800" y="1143000"/>
            <a:ext cx="5483880" cy="3083760"/>
          </a:xfrm>
          <a:prstGeom prst="rect">
            <a:avLst/>
          </a:prstGeom>
          <a:ln w="0">
            <a:noFill/>
          </a:ln>
        </p:spPr>
      </p:sp>
      <p:sp>
        <p:nvSpPr>
          <p:cNvPr id="382"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Die Architektur ist als Microservice-Ansatz gedacht: kleine Einheiten, lose über MQTT gekoppelt.</a:t>
            </a:r>
            <a:endParaRPr lang="de-DE" sz="2000" b="0" u="none" strike="noStrike">
              <a:solidFill>
                <a:srgbClr val="000000"/>
              </a:solidFill>
              <a:effectLst/>
              <a:uFillTx/>
              <a:latin typeface="Arial"/>
            </a:endParaRPr>
          </a:p>
        </p:txBody>
      </p:sp>
      <p:sp>
        <p:nvSpPr>
          <p:cNvPr id="383" name="PlaceHolder 3"/>
          <p:cNvSpPr>
            <a:spLocks noGrp="1"/>
          </p:cNvSpPr>
          <p:nvPr>
            <p:ph type="sldNum" idx="15"/>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2688E50-9D2E-463A-A6BE-8378AE859D8B}"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360" y="812160"/>
            <a:ext cx="720" cy="720"/>
          </a:xfrm>
          <a:prstGeom prst="rect">
            <a:avLst/>
          </a:prstGeom>
          <a:ln w="0">
            <a:noFill/>
          </a:ln>
        </p:spPr>
      </p:sp>
      <p:sp>
        <p:nvSpPr>
          <p:cNvPr id="385" name="PlaceHolder 2"/>
          <p:cNvSpPr>
            <a:spLocks noGrp="1"/>
          </p:cNvSpPr>
          <p:nvPr>
            <p:ph type="body"/>
          </p:nvPr>
        </p:nvSpPr>
        <p:spPr>
          <a:xfrm>
            <a:off x="756000" y="5078520"/>
            <a:ext cx="6046920" cy="4810320"/>
          </a:xfrm>
          <a:prstGeom prst="rect">
            <a:avLst/>
          </a:prstGeom>
          <a:noFill/>
          <a:ln w="0">
            <a:noFill/>
          </a:ln>
        </p:spPr>
        <p:txBody>
          <a:bodyPr lIns="0" tIns="0" rIns="0" bIns="0" anchor="t">
            <a:noAutofit/>
          </a:bodyPr>
          <a:p>
            <a:pPr indent="0" algn="l">
              <a:lnSpc>
                <a:spcPct val="100000"/>
              </a:lnSpc>
              <a:buNone/>
              <a:tabLst>
                <a:tab pos="0" algn="l"/>
              </a:tabLst>
            </a:pPr>
            <a:r>
              <a:rPr lang="de-DE" sz="2000" b="0" u="none" strike="noStrike">
                <a:solidFill>
                  <a:srgbClr val="000000"/>
                </a:solidFill>
                <a:effectLst/>
                <a:uFillTx/>
                <a:latin typeface="Arial"/>
              </a:rPr>
              <a:t>Es gibt kein eigenes Anmelde-Topic. Ein Gerät ist registriert, sobald es zum ersten Mal auf einem seiner Topics sendet. Die Registry ist eine reine In-Memory-Liste im Server und baut sich nach einem Neustart über die Heartbeats von selbst wieder auf.</a:t>
            </a:r>
            <a:endParaRPr lang="de-DE" sz="2000" b="0" u="none" strike="noStrike">
              <a:solidFill>
                <a:srgbClr val="000000"/>
              </a:solidFill>
              <a:effectLst/>
              <a:uFillTx/>
              <a:latin typeface="Arial"/>
            </a:endParaRPr>
          </a:p>
        </p:txBody>
      </p:sp>
      <p:sp>
        <p:nvSpPr>
          <p:cNvPr id="386" name="PlaceHolder 3"/>
          <p:cNvSpPr>
            <a:spLocks noGrp="1"/>
          </p:cNvSpPr>
          <p:nvPr>
            <p:ph type="sldNum" idx="16"/>
          </p:nvPr>
        </p:nvSpPr>
        <p:spPr>
          <a:xfrm>
            <a:off x="4278960" y="10157400"/>
            <a:ext cx="3279960" cy="533520"/>
          </a:xfrm>
          <a:prstGeom prst="rect">
            <a:avLst/>
          </a:prstGeom>
          <a:noFill/>
          <a:ln w="0">
            <a:noFill/>
          </a:ln>
        </p:spPr>
        <p:txBody>
          <a:bodyPr lIns="0" tIns="0" rIns="0" bIns="0" anchor="b">
            <a:noAutofit/>
          </a:bodyPr>
          <a:lstStyle>
            <a:lvl1pPr indent="0" algn="r">
              <a:lnSpc>
                <a:spcPct val="100000"/>
              </a:lnSpc>
              <a:buNone/>
              <a:tabLst>
                <a:tab pos="0" algn="l"/>
              </a:tabLst>
              <a:defRPr lang="de-DE" sz="1400" b="0" u="none" strike="noStrike">
                <a:solidFill>
                  <a:srgbClr val="000000"/>
                </a:solidFill>
                <a:effectLst/>
                <a:uFillTx/>
                <a:latin typeface="Times New Roman"/>
              </a:defRPr>
            </a:lvl1pPr>
          </a:lstStyle>
          <a:p>
            <a:pPr indent="0" algn="r">
              <a:lnSpc>
                <a:spcPct val="100000"/>
              </a:lnSpc>
              <a:buNone/>
              <a:tabLst>
                <a:tab pos="0" algn="l"/>
              </a:tabLst>
            </a:pPr>
            <a:fld id="{C910BBC9-48CE-482F-93DB-F7DFF4B0B76D}" type="slidenum">
              <a:rPr lang="de-DE" sz="1400" b="0" u="none" strike="noStrike">
                <a:solidFill>
                  <a:srgbClr val="000000"/>
                </a:solidFill>
                <a:effectLst/>
                <a:uFillTx/>
                <a:latin typeface="Times New Roman"/>
              </a:rPr>
              <a:t>&lt;Foliennummer&gt;</a:t>
            </a:fld>
            <a:endParaRPr lang="de-DE" sz="14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0" y="812520"/>
            <a:ext cx="0" cy="0"/>
          </a:xfrm>
          <a:prstGeom prst="rect">
            <a:avLst/>
          </a:prstGeom>
          <a:ln w="0">
            <a:noFill/>
          </a:ln>
        </p:spPr>
      </p:sp>
      <p:sp>
        <p:nvSpPr>
          <p:cNvPr id="388"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de-DE" sz="2000" b="0" u="none" strike="noStrike">
                <a:solidFill>
                  <a:srgbClr val="000000"/>
                </a:solidFill>
                <a:effectLst/>
                <a:uFillTx/>
                <a:latin typeface="Arial"/>
              </a:rPr>
              <a:t>Die drei Geräte, die Eingaben liefern. Der Joy-Con-Scanner abonniert als einziger etwas: den Endstop-Zustand, um die Joy-Cons vibrieren zu lassen.</a:t>
            </a:r>
            <a:endParaRPr lang="de-DE" sz="2000" b="0" u="none" strike="noStrike">
              <a:solidFill>
                <a:srgbClr val="000000"/>
              </a:solidFill>
              <a:effectLst/>
              <a:uFillTx/>
              <a:latin typeface="Arial"/>
            </a:endParaRPr>
          </a:p>
        </p:txBody>
      </p:sp>
      <p:sp>
        <p:nvSpPr>
          <p:cNvPr id="389" name="PlaceHolder 3"/>
          <p:cNvSpPr>
            <a:spLocks noGrp="1"/>
          </p:cNvSpPr>
          <p:nvPr>
            <p:ph type="sldNum" idx="17"/>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de-DE" sz="1400" b="0" u="none" strike="noStrike">
                <a:solidFill>
                  <a:srgbClr val="000000"/>
                </a:solidFill>
                <a:effectLst/>
                <a:uFillTx/>
                <a:latin typeface="Times New Roman"/>
              </a:defRPr>
            </a:lvl1pPr>
          </a:lstStyle>
          <a:p>
            <a:pPr indent="0" algn="r">
              <a:lnSpc>
                <a:spcPct val="100000"/>
              </a:lnSpc>
              <a:buNone/>
              <a:tabLst>
                <a:tab pos="0" algn="l"/>
              </a:tabLst>
            </a:pPr>
            <a:fld id="{0108BE55-E587-4D23-85ED-ADEA764214DE}" type="slidenum">
              <a:rPr lang="de-DE" sz="1400" b="0" u="none" strike="noStrike">
                <a:solidFill>
                  <a:srgbClr val="000000"/>
                </a:solidFill>
                <a:effectLst/>
                <a:uFillTx/>
                <a:latin typeface="Times New Roman"/>
              </a:rPr>
              <a:t>&lt;Foliennummer&gt;</a:t>
            </a:fld>
            <a:endParaRPr lang="de-DE" sz="14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0" y="812520"/>
            <a:ext cx="0" cy="0"/>
          </a:xfrm>
          <a:prstGeom prst="rect">
            <a:avLst/>
          </a:prstGeom>
          <a:ln w="0">
            <a:noFill/>
          </a:ln>
        </p:spPr>
      </p:sp>
      <p:sp>
        <p:nvSpPr>
          <p:cNvPr id="391"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de-DE" sz="2000" b="0" u="none" strike="noStrike">
                <a:solidFill>
                  <a:srgbClr val="000000"/>
                </a:solidFill>
                <a:effectLst/>
                <a:uFillTx/>
                <a:latin typeface="Arial"/>
              </a:rPr>
              <a:t>Der Motor-Controller bekommt Fahrbefehle auf motor/command und Einstellungen auf settings. Er meldet Position und Fehler zurück.</a:t>
            </a:r>
            <a:endParaRPr lang="de-DE" sz="2000" b="0" u="none" strike="noStrike">
              <a:solidFill>
                <a:srgbClr val="000000"/>
              </a:solidFill>
              <a:effectLst/>
              <a:uFillTx/>
              <a:latin typeface="Arial"/>
            </a:endParaRPr>
          </a:p>
        </p:txBody>
      </p:sp>
      <p:sp>
        <p:nvSpPr>
          <p:cNvPr id="392" name="PlaceHolder 3"/>
          <p:cNvSpPr>
            <a:spLocks noGrp="1"/>
          </p:cNvSpPr>
          <p:nvPr>
            <p:ph type="sldNum" idx="18"/>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de-DE" sz="1400" b="0" u="none" strike="noStrike">
                <a:solidFill>
                  <a:srgbClr val="000000"/>
                </a:solidFill>
                <a:effectLst/>
                <a:uFillTx/>
                <a:latin typeface="Times New Roman"/>
              </a:defRPr>
            </a:lvl1pPr>
          </a:lstStyle>
          <a:p>
            <a:pPr indent="0" algn="r">
              <a:lnSpc>
                <a:spcPct val="100000"/>
              </a:lnSpc>
              <a:buNone/>
              <a:tabLst>
                <a:tab pos="0" algn="l"/>
              </a:tabLst>
            </a:pPr>
            <a:fld id="{99981212-41BB-4BC3-ABD2-155F38813F88}" type="slidenum">
              <a:rPr lang="de-DE" sz="1400" b="0" u="none" strike="noStrike">
                <a:solidFill>
                  <a:srgbClr val="000000"/>
                </a:solidFill>
                <a:effectLst/>
                <a:uFillTx/>
                <a:latin typeface="Times New Roman"/>
              </a:rPr>
              <a:t>&lt;Foliennummer&gt;</a:t>
            </a:fld>
            <a:endParaRPr lang="de-DE" sz="14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360" y="812160"/>
            <a:ext cx="720" cy="720"/>
          </a:xfrm>
          <a:prstGeom prst="rect">
            <a:avLst/>
          </a:prstGeom>
          <a:ln w="0">
            <a:noFill/>
          </a:ln>
        </p:spPr>
      </p:sp>
      <p:sp>
        <p:nvSpPr>
          <p:cNvPr id="394"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de-DE" sz="2000" b="0" u="none" strike="noStrike">
                <a:solidFill>
                  <a:srgbClr val="000000"/>
                </a:solidFill>
                <a:effectLst/>
                <a:uFillTx/>
                <a:latin typeface="Arial"/>
              </a:rPr>
              <a:t>Eine Eingabe vom Joy-Con bis zum Motor, danach ein ausgelöster Endschalter. Alles läuft über den Broker; nur der Server schreibt Motorbefehle.</a:t>
            </a:r>
            <a:endParaRPr lang="de-DE" sz="2000" b="0" u="none" strike="noStrike">
              <a:solidFill>
                <a:srgbClr val="000000"/>
              </a:solidFill>
              <a:effectLst/>
              <a:uFillTx/>
              <a:latin typeface="Arial"/>
            </a:endParaRPr>
          </a:p>
        </p:txBody>
      </p:sp>
      <p:sp>
        <p:nvSpPr>
          <p:cNvPr id="395" name="PlaceHolder 3"/>
          <p:cNvSpPr>
            <a:spLocks noGrp="1"/>
          </p:cNvSpPr>
          <p:nvPr>
            <p:ph type="sldNum" idx="19"/>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de-DE" sz="1400" b="0" u="none" strike="noStrike">
                <a:solidFill>
                  <a:srgbClr val="000000"/>
                </a:solidFill>
                <a:effectLst/>
                <a:uFillTx/>
                <a:latin typeface="Times New Roman"/>
              </a:defRPr>
            </a:lvl1pPr>
          </a:lstStyle>
          <a:p>
            <a:pPr indent="0" algn="r">
              <a:lnSpc>
                <a:spcPct val="100000"/>
              </a:lnSpc>
              <a:buNone/>
              <a:tabLst>
                <a:tab pos="0" algn="l"/>
              </a:tabLst>
            </a:pPr>
            <a:fld id="{430136F4-9673-4B3F-BE22-6B18618E00BE}" type="slidenum">
              <a:rPr lang="de-DE" sz="1400" b="0" u="none" strike="noStrike">
                <a:solidFill>
                  <a:srgbClr val="000000"/>
                </a:solidFill>
                <a:effectLst/>
                <a:uFillTx/>
                <a:latin typeface="Times New Roman"/>
              </a:rPr>
              <a:t>&lt;Foliennummer&gt;</a:t>
            </a:fld>
            <a:endParaRPr lang="de-DE" sz="14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685800" y="1143000"/>
            <a:ext cx="5483880" cy="3083760"/>
          </a:xfrm>
          <a:prstGeom prst="rect">
            <a:avLst/>
          </a:prstGeom>
          <a:ln w="0">
            <a:noFill/>
          </a:ln>
        </p:spPr>
      </p:sp>
      <p:sp>
        <p:nvSpPr>
          <p:cNvPr id="397"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Motor-Controller: Rampen und Schritte zählen. Server: Reihenfolge, Koordinaten, Eingabemapping.</a:t>
            </a:r>
            <a:endParaRPr lang="de-DE" sz="2000" b="0" u="none" strike="noStrike">
              <a:solidFill>
                <a:srgbClr val="000000"/>
              </a:solidFill>
              <a:effectLst/>
              <a:uFillTx/>
              <a:latin typeface="Arial"/>
            </a:endParaRPr>
          </a:p>
        </p:txBody>
      </p:sp>
      <p:sp>
        <p:nvSpPr>
          <p:cNvPr id="398" name="PlaceHolder 3"/>
          <p:cNvSpPr>
            <a:spLocks noGrp="1"/>
          </p:cNvSpPr>
          <p:nvPr>
            <p:ph type="sldNum" idx="20"/>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7420A6E-0F14-42A9-8524-E37298BD3A7E}"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360" y="812160"/>
            <a:ext cx="720" cy="720"/>
          </a:xfrm>
          <a:prstGeom prst="rect">
            <a:avLst/>
          </a:prstGeom>
          <a:ln w="0">
            <a:noFill/>
          </a:ln>
        </p:spPr>
      </p:sp>
      <p:sp>
        <p:nvSpPr>
          <p:cNvPr id="400" name="PlaceHolder 2"/>
          <p:cNvSpPr>
            <a:spLocks noGrp="1"/>
          </p:cNvSpPr>
          <p:nvPr>
            <p:ph type="body"/>
          </p:nvPr>
        </p:nvSpPr>
        <p:spPr>
          <a:xfrm>
            <a:off x="756000" y="5078520"/>
            <a:ext cx="6047280" cy="4810680"/>
          </a:xfrm>
          <a:prstGeom prst="rect">
            <a:avLst/>
          </a:prstGeom>
          <a:noFill/>
          <a:ln w="0">
            <a:noFill/>
          </a:ln>
        </p:spPr>
        <p:txBody>
          <a:bodyPr lIns="0" tIns="0" rIns="0" bIns="0" anchor="t">
            <a:noAutofit/>
          </a:bodyPr>
          <a:p>
            <a:pPr indent="0" algn="l">
              <a:lnSpc>
                <a:spcPct val="100000"/>
              </a:lnSpc>
              <a:buNone/>
            </a:pPr>
            <a:r>
              <a:rPr lang="de-DE" sz="2000" b="0" u="none" strike="noStrike">
                <a:solidFill>
                  <a:srgbClr val="000000"/>
                </a:solidFill>
                <a:effectLst/>
                <a:uFillTx/>
                <a:latin typeface="Arial"/>
              </a:rPr>
              <a:t>on_message ist der einzige Callback von paho-mqtt. Er schaut nur auf das Topic und verteilt. Die eigentliche Steuerlogik steckt in on_control_command und in Moving.</a:t>
            </a:r>
            <a:endParaRPr lang="de-DE" sz="2000" b="0" u="none" strike="noStrike">
              <a:solidFill>
                <a:srgbClr val="000000"/>
              </a:solidFill>
              <a:effectLst/>
              <a:uFillTx/>
              <a:latin typeface="Arial"/>
            </a:endParaRPr>
          </a:p>
        </p:txBody>
      </p:sp>
      <p:sp>
        <p:nvSpPr>
          <p:cNvPr id="401" name="PlaceHolder 3"/>
          <p:cNvSpPr>
            <a:spLocks noGrp="1"/>
          </p:cNvSpPr>
          <p:nvPr>
            <p:ph type="sldNum" idx="21"/>
          </p:nvPr>
        </p:nvSpPr>
        <p:spPr>
          <a:xfrm>
            <a:off x="4278960" y="10157400"/>
            <a:ext cx="3280320" cy="533880"/>
          </a:xfrm>
          <a:prstGeom prst="rect">
            <a:avLst/>
          </a:prstGeom>
          <a:noFill/>
          <a:ln w="0">
            <a:noFill/>
          </a:ln>
        </p:spPr>
        <p:txBody>
          <a:bodyPr lIns="0" tIns="0" rIns="0" bIns="0" anchor="b">
            <a:noAutofit/>
          </a:bodyPr>
          <a:lstStyle>
            <a:lvl1pPr indent="0" algn="r">
              <a:lnSpc>
                <a:spcPct val="100000"/>
              </a:lnSpc>
              <a:buNone/>
              <a:tabLst>
                <a:tab pos="0" algn="l"/>
              </a:tabLst>
              <a:defRPr lang="de-DE" sz="1400" b="0" u="none" strike="noStrike">
                <a:solidFill>
                  <a:srgbClr val="000000"/>
                </a:solidFill>
                <a:effectLst/>
                <a:uFillTx/>
                <a:latin typeface="Times New Roman"/>
              </a:defRPr>
            </a:lvl1pPr>
          </a:lstStyle>
          <a:p>
            <a:pPr indent="0" algn="r">
              <a:lnSpc>
                <a:spcPct val="100000"/>
              </a:lnSpc>
              <a:buNone/>
              <a:tabLst>
                <a:tab pos="0" algn="l"/>
              </a:tabLst>
            </a:pPr>
            <a:fld id="{2689A9CD-6E61-403C-BB09-024B39897028}" type="slidenum">
              <a:rPr lang="de-DE" sz="1400" b="0" u="none" strike="noStrike">
                <a:solidFill>
                  <a:srgbClr val="000000"/>
                </a:solidFill>
                <a:effectLst/>
                <a:uFillTx/>
                <a:latin typeface="Times New Roman"/>
              </a:rPr>
              <a:t>&lt;Foliennummer&gt;</a:t>
            </a:fld>
            <a:endParaRPr lang="de-DE" sz="14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685800" y="1143000"/>
            <a:ext cx="5483880" cy="3083760"/>
          </a:xfrm>
          <a:prstGeom prst="rect">
            <a:avLst/>
          </a:prstGeom>
          <a:ln w="0">
            <a:noFill/>
          </a:ln>
        </p:spPr>
      </p:sp>
      <p:sp>
        <p:nvSpPr>
          <p:cNvPr id="403"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Offen: Fällt nur der Server aus, während der ESP am Broker hängt, läuft eine Achse weiter. Dafür planen wir einen Server-Heartbeat.</a:t>
            </a:r>
            <a:endParaRPr lang="de-DE" sz="2000" b="0" u="none" strike="noStrike">
              <a:solidFill>
                <a:srgbClr val="000000"/>
              </a:solidFill>
              <a:effectLst/>
              <a:uFillTx/>
              <a:latin typeface="Arial"/>
            </a:endParaRPr>
          </a:p>
        </p:txBody>
      </p:sp>
      <p:sp>
        <p:nvSpPr>
          <p:cNvPr id="404" name="PlaceHolder 3"/>
          <p:cNvSpPr>
            <a:spLocks noGrp="1"/>
          </p:cNvSpPr>
          <p:nvPr>
            <p:ph type="sldNum" idx="22"/>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9EC6DA4-FA81-40B5-899E-E89A562402E8}"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0" y="812520"/>
            <a:ext cx="0" cy="0"/>
          </a:xfrm>
          <a:prstGeom prst="rect">
            <a:avLst/>
          </a:prstGeom>
          <a:ln w="0">
            <a:noFill/>
          </a:ln>
        </p:spPr>
      </p:sp>
      <p:sp>
        <p:nvSpPr>
          <p:cNvPr id="406"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de-DE" sz="2000" b="0" u="none" strike="noStrike">
                <a:solidFill>
                  <a:srgbClr val="000000"/>
                </a:solidFill>
                <a:effectLst/>
                <a:uFillTx/>
                <a:latin typeface="Arial"/>
              </a:rPr>
              <a:t>Sieben Meilensteine, streng sequenziell. August und September sind vorlesungsfreie Sommerpause. Heute, Ende Oktober, stehen wir am Ende von M4. Die Technik-Doku soll ab M5 parallel mitlaufen, damit M7 im Januar nicht unter Prüfungsdruck startet.</a:t>
            </a:r>
            <a:endParaRPr lang="de-DE" sz="2000" b="0" u="none" strike="noStrike">
              <a:solidFill>
                <a:srgbClr val="000000"/>
              </a:solidFill>
              <a:effectLst/>
              <a:uFillTx/>
              <a:latin typeface="Arial"/>
            </a:endParaRPr>
          </a:p>
        </p:txBody>
      </p:sp>
      <p:sp>
        <p:nvSpPr>
          <p:cNvPr id="407" name="PlaceHolder 3"/>
          <p:cNvSpPr>
            <a:spLocks noGrp="1"/>
          </p:cNvSpPr>
          <p:nvPr>
            <p:ph type="sldNum" idx="23"/>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de-DE" sz="1400" b="0" u="none" strike="noStrike">
                <a:solidFill>
                  <a:srgbClr val="000000"/>
                </a:solidFill>
                <a:effectLst/>
                <a:uFillTx/>
                <a:latin typeface="Times New Roman"/>
              </a:defRPr>
            </a:lvl1pPr>
          </a:lstStyle>
          <a:p>
            <a:pPr indent="0" algn="r">
              <a:lnSpc>
                <a:spcPct val="100000"/>
              </a:lnSpc>
              <a:buNone/>
              <a:tabLst>
                <a:tab pos="0" algn="l"/>
              </a:tabLst>
            </a:pPr>
            <a:fld id="{40576DB7-99F9-4383-B685-D2C936ABCE28}" type="slidenum">
              <a:rPr lang="de-DE" sz="1400" b="0" u="none" strike="noStrike">
                <a:solidFill>
                  <a:srgbClr val="000000"/>
                </a:solidFill>
                <a:effectLst/>
                <a:uFillTx/>
                <a:latin typeface="Times New Roman"/>
              </a:rPr>
              <a:t>&lt;Foliennummer&gt;</a:t>
            </a:fld>
            <a:endParaRPr lang="de-DE" sz="14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sldImg"/>
          </p:nvPr>
        </p:nvSpPr>
        <p:spPr>
          <a:xfrm>
            <a:off x="0" y="812520"/>
            <a:ext cx="0" cy="0"/>
          </a:xfrm>
          <a:prstGeom prst="rect">
            <a:avLst/>
          </a:prstGeom>
          <a:ln w="0">
            <a:noFill/>
          </a:ln>
        </p:spPr>
      </p:sp>
      <p:sp>
        <p:nvSpPr>
          <p:cNvPr id="409" name="PlaceHolder 2"/>
          <p:cNvSpPr>
            <a:spLocks noGrp="1"/>
          </p:cNvSpPr>
          <p:nvPr>
            <p:ph type="body"/>
          </p:nvPr>
        </p:nvSpPr>
        <p:spPr>
          <a:xfrm>
            <a:off x="756000" y="5078520"/>
            <a:ext cx="6046560" cy="4809960"/>
          </a:xfrm>
          <a:prstGeom prst="rect">
            <a:avLst/>
          </a:prstGeom>
          <a:noFill/>
          <a:ln w="0">
            <a:noFill/>
          </a:ln>
        </p:spPr>
        <p:txBody>
          <a:bodyPr lIns="0" tIns="0" rIns="0" bIns="0" anchor="t">
            <a:noAutofit/>
          </a:bodyPr>
          <a:p>
            <a:pPr indent="0" algn="l">
              <a:lnSpc>
                <a:spcPct val="100000"/>
              </a:lnSpc>
              <a:buNone/>
              <a:tabLst>
                <a:tab pos="0" algn="l"/>
              </a:tabLst>
            </a:pPr>
            <a:r>
              <a:rPr lang="de-DE" sz="2000" b="0" u="none" strike="noStrike">
                <a:solidFill>
                  <a:srgbClr val="000000"/>
                </a:solidFill>
                <a:effectLst/>
                <a:uFillTx/>
                <a:latin typeface="Arial"/>
              </a:rPr>
              <a:t>Links der Plan aus der Meilensteinplanung, rechts was tatsächlich steht. Wir sind bei M4 weiter als geplant, weil die Architektur früh stand. Offen sind die Latenzmessung und die Kamera im Greifarm.</a:t>
            </a:r>
            <a:endParaRPr lang="de-DE" sz="2000" b="0" u="none" strike="noStrike">
              <a:solidFill>
                <a:srgbClr val="000000"/>
              </a:solidFill>
              <a:effectLst/>
              <a:uFillTx/>
              <a:latin typeface="Arial"/>
            </a:endParaRPr>
          </a:p>
        </p:txBody>
      </p:sp>
      <p:sp>
        <p:nvSpPr>
          <p:cNvPr id="410" name="PlaceHolder 3"/>
          <p:cNvSpPr>
            <a:spLocks noGrp="1"/>
          </p:cNvSpPr>
          <p:nvPr>
            <p:ph type="sldNum" idx="24"/>
          </p:nvPr>
        </p:nvSpPr>
        <p:spPr>
          <a:xfrm>
            <a:off x="4278960" y="10157400"/>
            <a:ext cx="3279600" cy="533160"/>
          </a:xfrm>
          <a:prstGeom prst="rect">
            <a:avLst/>
          </a:prstGeom>
          <a:noFill/>
          <a:ln w="0">
            <a:noFill/>
          </a:ln>
        </p:spPr>
        <p:txBody>
          <a:bodyPr lIns="0" tIns="0" rIns="0" bIns="0" anchor="b">
            <a:noAutofit/>
          </a:bodyPr>
          <a:lstStyle>
            <a:lvl1pPr indent="0" algn="r">
              <a:lnSpc>
                <a:spcPct val="100000"/>
              </a:lnSpc>
              <a:buNone/>
              <a:tabLst>
                <a:tab pos="0" algn="l"/>
              </a:tabLst>
              <a:defRPr lang="de-DE" sz="1400" b="0" u="none" strike="noStrike">
                <a:solidFill>
                  <a:srgbClr val="000000"/>
                </a:solidFill>
                <a:effectLst/>
                <a:uFillTx/>
                <a:latin typeface="Times New Roman"/>
              </a:defRPr>
            </a:lvl1pPr>
          </a:lstStyle>
          <a:p>
            <a:pPr indent="0" algn="r">
              <a:lnSpc>
                <a:spcPct val="100000"/>
              </a:lnSpc>
              <a:buNone/>
              <a:tabLst>
                <a:tab pos="0" algn="l"/>
              </a:tabLst>
            </a:pPr>
            <a:fld id="{D0349D25-7A28-4C95-B8DF-99A9E83C2A3D}" type="slidenum">
              <a:rPr lang="de-DE" sz="1400" b="0" u="none" strike="noStrike">
                <a:solidFill>
                  <a:srgbClr val="000000"/>
                </a:solidFill>
                <a:effectLst/>
                <a:uFillTx/>
                <a:latin typeface="Times New Roman"/>
              </a:rPr>
              <a:t>&lt;Foliennummer&gt;</a:t>
            </a:fld>
            <a:endParaRPr lang="de-DE" sz="14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1" name="PlaceHolder 1"/>
          <p:cNvSpPr>
            <a:spLocks noGrp="1"/>
          </p:cNvSpPr>
          <p:nvPr>
            <p:ph type="sldImg"/>
          </p:nvPr>
        </p:nvSpPr>
        <p:spPr>
          <a:xfrm>
            <a:off x="685800" y="1143000"/>
            <a:ext cx="5483880" cy="3083760"/>
          </a:xfrm>
          <a:prstGeom prst="rect">
            <a:avLst/>
          </a:prstGeom>
          <a:ln w="0">
            <a:noFill/>
          </a:ln>
        </p:spPr>
      </p:sp>
      <p:sp>
        <p:nvSpPr>
          <p:cNvPr id="412"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lnSpc>
                <a:spcPct val="100000"/>
              </a:lnSpc>
              <a:buNone/>
              <a:tabLst>
                <a:tab pos="0" algn="l"/>
              </a:tabLst>
            </a:pPr>
            <a:r>
              <a:rPr lang="de-DE" sz="2000" b="0" u="none" strike="noStrike">
                <a:solidFill>
                  <a:srgbClr val="000000"/>
                </a:solidFill>
                <a:effectLst/>
                <a:uFillTx/>
                <a:latin typeface="Arial"/>
              </a:rPr>
              <a:t>Das meiste ist implementiert, aber noch nicht vollständig an der Hardware verifiziert. Der Rest verteilt sich auf M4 bis M7.</a:t>
            </a:r>
            <a:endParaRPr lang="de-DE" sz="2000" b="0" u="none" strike="noStrike">
              <a:solidFill>
                <a:srgbClr val="000000"/>
              </a:solidFill>
              <a:effectLst/>
              <a:uFillTx/>
              <a:latin typeface="Arial"/>
            </a:endParaRPr>
          </a:p>
        </p:txBody>
      </p:sp>
      <p:sp>
        <p:nvSpPr>
          <p:cNvPr id="413" name="PlaceHolder 3"/>
          <p:cNvSpPr>
            <a:spLocks noGrp="1"/>
          </p:cNvSpPr>
          <p:nvPr>
            <p:ph type="sldNum" idx="25"/>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0B47BCB-FD83-4FC4-BBFD-3CE5578F5250}"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PlaceHolder 1"/>
          <p:cNvSpPr>
            <a:spLocks noGrp="1"/>
          </p:cNvSpPr>
          <p:nvPr>
            <p:ph type="sldImg"/>
          </p:nvPr>
        </p:nvSpPr>
        <p:spPr>
          <a:xfrm>
            <a:off x="685800" y="1143000"/>
            <a:ext cx="5483880" cy="3083760"/>
          </a:xfrm>
          <a:prstGeom prst="rect">
            <a:avLst/>
          </a:prstGeom>
          <a:ln w="0">
            <a:noFill/>
          </a:ln>
        </p:spPr>
      </p:sp>
      <p:sp>
        <p:nvSpPr>
          <p:cNvPr id="415" name="PlaceHolder 2"/>
          <p:cNvSpPr>
            <a:spLocks noGrp="1"/>
          </p:cNvSpPr>
          <p:nvPr>
            <p:ph type="body"/>
          </p:nvPr>
        </p:nvSpPr>
        <p:spPr>
          <a:xfrm>
            <a:off x="685800" y="4400640"/>
            <a:ext cx="5483880" cy="3597840"/>
          </a:xfrm>
          <a:prstGeom prst="rect">
            <a:avLst/>
          </a:prstGeom>
          <a:noFill/>
          <a:ln w="0">
            <a:noFill/>
          </a:ln>
        </p:spPr>
        <p:txBody>
          <a:bodyPr lIns="91440" tIns="45720" rIns="91440" bIns="45720" anchor="t">
            <a:noAutofit/>
          </a:bodyPr>
          <a:p>
            <a:pPr indent="0" algn="l">
              <a:buNone/>
            </a:pPr>
            <a:endParaRPr lang="de-DE" sz="1800" b="0" u="none" strike="noStrike">
              <a:solidFill>
                <a:srgbClr val="000000"/>
              </a:solidFill>
              <a:effectLst/>
              <a:uFillTx/>
              <a:latin typeface="Arial"/>
            </a:endParaRPr>
          </a:p>
        </p:txBody>
      </p:sp>
      <p:sp>
        <p:nvSpPr>
          <p:cNvPr id="416" name="PlaceHolder 3"/>
          <p:cNvSpPr>
            <a:spLocks noGrp="1"/>
          </p:cNvSpPr>
          <p:nvPr>
            <p:ph type="sldNum" idx="26"/>
          </p:nvPr>
        </p:nvSpPr>
        <p:spPr>
          <a:xfrm>
            <a:off x="3884760" y="8685360"/>
            <a:ext cx="2969280" cy="4561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A742E7C-F74D-43B8-A8D2-70160FBBA598}" type="slidenum">
              <a:rPr lang="en-US" sz="1200" b="0" u="none" strike="noStrike">
                <a:solidFill>
                  <a:schemeClr val="dk1"/>
                </a:solidFill>
                <a:effectLst/>
                <a:uFillTx/>
                <a:latin typeface="+mn-lt"/>
                <a:ea typeface="+mn-ea"/>
              </a:rPr>
              <a:t>&lt;Foliennummer&gt;</a:t>
            </a:fld>
            <a:endParaRPr lang="de-DE"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_LIGHT">
    <p:spTree>
      <p:nvGrpSpPr>
        <p:cNvPr id="1" name=""/>
        <p:cNvGrpSpPr/>
        <p:nvPr/>
      </p:nvGrpSpPr>
      <p:grpSpPr>
        <a:xfrm>
          <a:off x="0" y="0"/>
          <a:ext cx="0" cy="0"/>
          <a:chOff x="0" y="0"/>
          <a:chExt cx="0" cy="0"/>
        </a:xfrm>
      </p:grpSpPr>
      <p:sp>
        <p:nvSpPr>
          <p:cNvPr id="2" name="Shape 0"/>
          <p:cNvSpPr/>
          <p:nvPr/>
        </p:nvSpPr>
        <p:spPr>
          <a:xfrm>
            <a:off x="0" y="0"/>
            <a:ext cx="12186360" cy="6855480"/>
          </a:xfrm>
          <a:prstGeom prst="rect">
            <a:avLst/>
          </a:prstGeom>
          <a:solidFill>
            <a:schemeClr val="bg1"/>
          </a:solidFill>
          <a:ln w="0">
            <a:noFill/>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 name="PlaceHolder 1"/>
          <p:cNvSpPr>
            <a:spLocks noGrp="1"/>
          </p:cNvSpPr>
          <p:nvPr>
            <p:ph type="sldNum" idx="1"/>
          </p:nvPr>
        </p:nvSpPr>
        <p:spPr>
          <a:xfrm>
            <a:off x="11155680" y="6400800"/>
            <a:ext cx="546120" cy="2718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100" b="0" u="none" strike="noStrike">
                <a:solidFill>
                  <a:schemeClr val="accent5"/>
                </a:solidFill>
                <a:effectLst/>
                <a:uFillTx/>
                <a:latin typeface="Calibri"/>
              </a:defRPr>
            </a:lvl1pPr>
          </a:lstStyle>
          <a:p>
            <a:pPr indent="0" algn="r" defTabSz="914400">
              <a:lnSpc>
                <a:spcPct val="100000"/>
              </a:lnSpc>
              <a:buNone/>
              <a:tabLst>
                <a:tab pos="0" algn="l"/>
              </a:tabLst>
            </a:pPr>
            <a:fld id="{EDC9B718-5CFF-4731-A0C4-4F53EED9BFE3}" type="slidenum">
              <a:rPr lang="en-US" sz="1100" b="0" u="none" strike="noStrike">
                <a:solidFill>
                  <a:schemeClr val="accent5"/>
                </a:solidFill>
                <a:effectLst/>
                <a:uFillTx/>
                <a:latin typeface="Calibri"/>
              </a:rPr>
              <a:t>&lt;Foliennummer&gt;</a:t>
            </a:fld>
            <a:endParaRPr lang="de-DE" sz="1100" b="0" u="none" strike="noStrike">
              <a:solidFill>
                <a:srgbClr val="000000"/>
              </a:solidFill>
              <a:effectLst/>
              <a:uFillTx/>
              <a:latin typeface="Times New Roman"/>
            </a:endParaRPr>
          </a:p>
        </p:txBody>
      </p:sp>
      <p:sp>
        <p:nvSpPr>
          <p:cNvPr id="4" name="PlaceHolder 2"/>
          <p:cNvSpPr>
            <a:spLocks noGrp="1"/>
          </p:cNvSpPr>
          <p:nvPr>
            <p:ph type="title"/>
          </p:nvPr>
        </p:nvSpPr>
        <p:spPr>
          <a:xfrm>
            <a:off x="609480" y="273600"/>
            <a:ext cx="10970280" cy="1142640"/>
          </a:xfrm>
          <a:prstGeom prst="rect">
            <a:avLst/>
          </a:prstGeom>
          <a:noFill/>
          <a:ln w="0">
            <a:noFill/>
          </a:ln>
        </p:spPr>
        <p:txBody>
          <a:bodyPr lIns="0" tIns="0" rIns="0" bIns="0" anchor="ctr">
            <a:noAutofit/>
          </a:bodyPr>
          <a:lstStyle>
            <a:lvl1pPr indent="0" algn="l">
              <a:lnSpc>
                <a:spcPct val="100000"/>
              </a:lnSpc>
              <a:buNone/>
              <a:tabLst>
                <a:tab pos="0" algn="l"/>
              </a:tabLst>
              <a:defRPr lang="de-DE" sz="1800" b="0" u="none" strike="noStrike">
                <a:solidFill>
                  <a:schemeClr val="dk1"/>
                </a:solidFill>
                <a:effectLst/>
                <a:uFillTx/>
                <a:latin typeface="Calibri"/>
              </a:defRPr>
            </a:lvl1pPr>
          </a:lstStyle>
          <a:p>
            <a:pPr indent="0" algn="l">
              <a:lnSpc>
                <a:spcPct val="100000"/>
              </a:lnSpc>
              <a:buNone/>
              <a:tabLst>
                <a:tab pos="0" algn="l"/>
              </a:tabLst>
            </a:pPr>
            <a:r>
              <a:rPr lang="de-DE" sz="1800" b="0" u="none" strike="noStrike">
                <a:solidFill>
                  <a:schemeClr val="dk1"/>
                </a:solidFill>
                <a:effectLst/>
                <a:uFillTx/>
                <a:latin typeface="Calibri"/>
              </a:rPr>
              <a:t>Format des Titeltextes durch Klicken bearbeiten</a:t>
            </a:r>
            <a:endParaRPr lang="de-DE" sz="1800" b="0" u="none" strike="noStrike">
              <a:solidFill>
                <a:schemeClr val="dk1"/>
              </a:solidFill>
              <a:effectLst/>
              <a:uFillTx/>
              <a:latin typeface="Calibri"/>
            </a:endParaRPr>
          </a:p>
        </p:txBody>
      </p:sp>
      <p:sp>
        <p:nvSpPr>
          <p:cNvPr id="5" name="PlaceHolder 3"/>
          <p:cNvSpPr>
            <a:spLocks noGrp="1"/>
          </p:cNvSpPr>
          <p:nvPr>
            <p:ph type="body"/>
          </p:nvPr>
        </p:nvSpPr>
        <p:spPr>
          <a:xfrm>
            <a:off x="609480" y="1604520"/>
            <a:ext cx="10970280" cy="39751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de-DE"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de-DE"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de-DE"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de-DE"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de-DE" sz="3200" b="0" u="none" strike="noStrike">
                <a:solidFill>
                  <a:schemeClr val="dk1"/>
                </a:solidFill>
                <a:effectLst/>
                <a:uFillTx/>
                <a:latin typeface="Calibri"/>
              </a:rPr>
              <a:t>Format des Gliederungstextes durch Klicken bearbeiten</a:t>
            </a:r>
            <a:endParaRPr lang="de-DE"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de-DE" sz="2400" b="0" u="none" strike="noStrike">
                <a:solidFill>
                  <a:schemeClr val="dk1"/>
                </a:solidFill>
                <a:effectLst/>
                <a:uFillTx/>
                <a:latin typeface="Calibri"/>
              </a:rPr>
              <a:t>Zweite Gliederungsebene</a:t>
            </a:r>
            <a:endParaRPr lang="de-DE"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de-DE" sz="2000" b="0" u="none" strike="noStrike">
                <a:solidFill>
                  <a:schemeClr val="dk1"/>
                </a:solidFill>
                <a:effectLst/>
                <a:uFillTx/>
                <a:latin typeface="Calibri"/>
              </a:rPr>
              <a:t>Dritte Gliederungsebene</a:t>
            </a:r>
            <a:endParaRPr lang="de-DE"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de-DE" sz="2000" b="0" u="none" strike="noStrike">
                <a:solidFill>
                  <a:schemeClr val="dk1"/>
                </a:solidFill>
                <a:effectLst/>
                <a:uFillTx/>
                <a:latin typeface="Calibri"/>
              </a:rPr>
              <a:t>Vierte Gliederungsebene</a:t>
            </a:r>
            <a:endParaRPr lang="de-DE"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Fünfte Gliederungsebene</a:t>
            </a:r>
            <a:endParaRPr lang="de-DE"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Sechste Gliederungsebene</a:t>
            </a:r>
            <a:endParaRPr lang="de-DE"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Siebte Gliederungsebene</a:t>
            </a:r>
            <a:endParaRPr lang="de-DE"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_LIGHT">
    <p:spTree>
      <p:nvGrpSpPr>
        <p:cNvPr id="1" name=""/>
        <p:cNvGrpSpPr/>
        <p:nvPr/>
      </p:nvGrpSpPr>
      <p:grpSpPr>
        <a:xfrm>
          <a:off x="0" y="0"/>
          <a:ext cx="0" cy="0"/>
          <a:chOff x="0" y="0"/>
          <a:chExt cx="0" cy="0"/>
        </a:xfrm>
      </p:grpSpPr>
      <p:sp>
        <p:nvSpPr>
          <p:cNvPr id="6" name="Shape 0"/>
          <p:cNvSpPr/>
          <p:nvPr/>
        </p:nvSpPr>
        <p:spPr>
          <a:xfrm>
            <a:off x="0" y="0"/>
            <a:ext cx="12186360" cy="6855480"/>
          </a:xfrm>
          <a:prstGeom prst="rect">
            <a:avLst/>
          </a:prstGeom>
          <a:solidFill>
            <a:schemeClr val="bg1"/>
          </a:solidFill>
          <a:ln w="0">
            <a:noFill/>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7" name="PlaceHolder 1"/>
          <p:cNvSpPr>
            <a:spLocks noGrp="1"/>
          </p:cNvSpPr>
          <p:nvPr>
            <p:ph type="sldNum" idx="2"/>
          </p:nvPr>
        </p:nvSpPr>
        <p:spPr>
          <a:xfrm>
            <a:off x="11155680" y="6400800"/>
            <a:ext cx="546120" cy="2718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100" b="0" u="none" strike="noStrike">
                <a:solidFill>
                  <a:schemeClr val="accent5"/>
                </a:solidFill>
                <a:effectLst/>
                <a:uFillTx/>
                <a:latin typeface="Calibri"/>
              </a:defRPr>
            </a:lvl1pPr>
          </a:lstStyle>
          <a:p>
            <a:pPr indent="0" algn="r" defTabSz="914400">
              <a:lnSpc>
                <a:spcPct val="100000"/>
              </a:lnSpc>
              <a:buNone/>
              <a:tabLst>
                <a:tab pos="0" algn="l"/>
              </a:tabLst>
            </a:pPr>
            <a:fld id="{B84328E0-AC0B-4A2B-AA89-CC5B852F5100}" type="slidenum">
              <a:rPr lang="en-US" sz="1100" b="0" u="none" strike="noStrike">
                <a:solidFill>
                  <a:schemeClr val="accent5"/>
                </a:solidFill>
                <a:effectLst/>
                <a:uFillTx/>
                <a:latin typeface="Calibri"/>
              </a:rPr>
              <a:t>&lt;Foliennummer&gt;</a:t>
            </a:fld>
            <a:endParaRPr lang="de-DE" sz="11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ARK">
    <p:spTree>
      <p:nvGrpSpPr>
        <p:cNvPr id="1" name=""/>
        <p:cNvGrpSpPr/>
        <p:nvPr/>
      </p:nvGrpSpPr>
      <p:grpSpPr>
        <a:xfrm>
          <a:off x="0" y="0"/>
          <a:ext cx="0" cy="0"/>
          <a:chOff x="0" y="0"/>
          <a:chExt cx="0" cy="0"/>
        </a:xfrm>
      </p:grpSpPr>
      <p:sp>
        <p:nvSpPr>
          <p:cNvPr id="8" name="Shape 0"/>
          <p:cNvSpPr/>
          <p:nvPr/>
        </p:nvSpPr>
        <p:spPr>
          <a:xfrm>
            <a:off x="0" y="0"/>
            <a:ext cx="12186360" cy="6855480"/>
          </a:xfrm>
          <a:prstGeom prst="rect">
            <a:avLst/>
          </a:prstGeom>
          <a:solidFill>
            <a:schemeClr val="tx1"/>
          </a:solidFill>
          <a:ln w="0">
            <a:noFill/>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9" name="PlaceHolder 1"/>
          <p:cNvSpPr>
            <a:spLocks noGrp="1"/>
          </p:cNvSpPr>
          <p:nvPr>
            <p:ph type="title"/>
          </p:nvPr>
        </p:nvSpPr>
        <p:spPr>
          <a:xfrm>
            <a:off x="609480" y="273600"/>
            <a:ext cx="10970280" cy="1142640"/>
          </a:xfrm>
          <a:prstGeom prst="rect">
            <a:avLst/>
          </a:prstGeom>
          <a:noFill/>
          <a:ln w="0">
            <a:noFill/>
          </a:ln>
        </p:spPr>
        <p:txBody>
          <a:bodyPr lIns="0" tIns="0" rIns="0" bIns="0" anchor="ctr">
            <a:noAutofit/>
          </a:bodyPr>
          <a:lstStyle>
            <a:lvl1pPr indent="0" algn="l">
              <a:lnSpc>
                <a:spcPct val="100000"/>
              </a:lnSpc>
              <a:buNone/>
              <a:tabLst>
                <a:tab pos="0" algn="l"/>
              </a:tabLst>
              <a:defRPr lang="de-DE" sz="1800" b="0" u="none" strike="noStrike">
                <a:solidFill>
                  <a:schemeClr val="dk1"/>
                </a:solidFill>
                <a:effectLst/>
                <a:uFillTx/>
                <a:latin typeface="Calibri"/>
              </a:defRPr>
            </a:lvl1pPr>
          </a:lstStyle>
          <a:p>
            <a:pPr indent="0" algn="l">
              <a:lnSpc>
                <a:spcPct val="100000"/>
              </a:lnSpc>
              <a:buNone/>
              <a:tabLst>
                <a:tab pos="0" algn="l"/>
              </a:tabLst>
            </a:pPr>
            <a:r>
              <a:rPr lang="de-DE" sz="1800" b="0" u="none" strike="noStrike">
                <a:solidFill>
                  <a:schemeClr val="dk1"/>
                </a:solidFill>
                <a:effectLst/>
                <a:uFillTx/>
                <a:latin typeface="Calibri"/>
              </a:rPr>
              <a:t>Format des Titeltextes durch Klicken bearbeiten</a:t>
            </a:r>
            <a:endParaRPr lang="de-DE" sz="1800" b="0" u="none" strike="noStrike">
              <a:solidFill>
                <a:schemeClr val="dk1"/>
              </a:solidFill>
              <a:effectLst/>
              <a:uFillTx/>
              <a:latin typeface="Calibri"/>
            </a:endParaRPr>
          </a:p>
        </p:txBody>
      </p:sp>
      <p:sp>
        <p:nvSpPr>
          <p:cNvPr id="10" name="PlaceHolder 2"/>
          <p:cNvSpPr>
            <a:spLocks noGrp="1"/>
          </p:cNvSpPr>
          <p:nvPr>
            <p:ph type="body"/>
          </p:nvPr>
        </p:nvSpPr>
        <p:spPr>
          <a:xfrm>
            <a:off x="609480" y="1604520"/>
            <a:ext cx="10970280" cy="39751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de-DE"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de-DE"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de-DE"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de-DE"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de-DE"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de-DE" sz="3200" b="0" u="none" strike="noStrike">
                <a:solidFill>
                  <a:schemeClr val="dk1"/>
                </a:solidFill>
                <a:effectLst/>
                <a:uFillTx/>
                <a:latin typeface="Calibri"/>
              </a:rPr>
              <a:t>Format des Gliederungstextes durch Klicken bearbeiten</a:t>
            </a:r>
            <a:endParaRPr lang="de-DE"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de-DE" sz="2400" b="0" u="none" strike="noStrike">
                <a:solidFill>
                  <a:schemeClr val="dk1"/>
                </a:solidFill>
                <a:effectLst/>
                <a:uFillTx/>
                <a:latin typeface="Calibri"/>
              </a:rPr>
              <a:t>Zweite Gliederungsebene</a:t>
            </a:r>
            <a:endParaRPr lang="de-DE"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de-DE" sz="2000" b="0" u="none" strike="noStrike">
                <a:solidFill>
                  <a:schemeClr val="dk1"/>
                </a:solidFill>
                <a:effectLst/>
                <a:uFillTx/>
                <a:latin typeface="Calibri"/>
              </a:rPr>
              <a:t>Dritte Gliederungsebene</a:t>
            </a:r>
            <a:endParaRPr lang="de-DE"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de-DE" sz="2000" b="0" u="none" strike="noStrike">
                <a:solidFill>
                  <a:schemeClr val="dk1"/>
                </a:solidFill>
                <a:effectLst/>
                <a:uFillTx/>
                <a:latin typeface="Calibri"/>
              </a:rPr>
              <a:t>Vierte Gliederungsebene</a:t>
            </a:r>
            <a:endParaRPr lang="de-DE"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Fünfte Gliederungsebene</a:t>
            </a:r>
            <a:endParaRPr lang="de-DE"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Sechste Gliederungsebene</a:t>
            </a:r>
            <a:endParaRPr lang="de-DE"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de-DE" sz="2000" b="0" u="none" strike="noStrike">
                <a:solidFill>
                  <a:schemeClr val="dk1"/>
                </a:solidFill>
                <a:effectLst/>
                <a:uFillTx/>
                <a:latin typeface="Calibri"/>
              </a:rPr>
              <a:t>Siebte Gliederungsebene</a:t>
            </a:r>
            <a:endParaRPr lang="de-DE" sz="2000" b="0" u="none" strike="noStrike">
              <a:solidFill>
                <a:schemeClr val="dk1"/>
              </a:solidFill>
              <a:effectLst/>
              <a:uFillTx/>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 name="Titel"/>
          <p:cNvSpPr/>
          <p:nvPr/>
        </p:nvSpPr>
        <p:spPr>
          <a:xfrm>
            <a:off x="731520" y="1920240"/>
            <a:ext cx="7312680" cy="1277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600" b="1" u="none" strike="noStrike">
                <a:solidFill>
                  <a:schemeClr val="lt1"/>
                </a:solidFill>
                <a:effectLst/>
                <a:uFillTx/>
                <a:latin typeface="Cambria"/>
                <a:ea typeface="Cambria"/>
              </a:rPr>
              <a:t>Clawmachine</a:t>
            </a:r>
            <a:endParaRPr lang="de-DE" sz="6600" b="0" u="none" strike="noStrike">
              <a:solidFill>
                <a:srgbClr val="000000"/>
              </a:solidFill>
              <a:effectLst/>
              <a:uFillTx/>
              <a:latin typeface="Arial"/>
            </a:endParaRPr>
          </a:p>
        </p:txBody>
      </p:sp>
      <p:sp>
        <p:nvSpPr>
          <p:cNvPr id="18" name="Untertitel"/>
          <p:cNvSpPr/>
          <p:nvPr/>
        </p:nvSpPr>
        <p:spPr>
          <a:xfrm>
            <a:off x="731520" y="3291840"/>
            <a:ext cx="6946920" cy="1003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0" u="none" strike="noStrike">
                <a:solidFill>
                  <a:schemeClr val="accent2"/>
                </a:solidFill>
                <a:effectLst/>
                <a:uFillTx/>
                <a:latin typeface="Calibri"/>
              </a:rPr>
              <a:t>Ein Greifautomat als verteilte Architektur aus ESP32-Firmware, MQTT und Python-Server</a:t>
            </a:r>
            <a:endParaRPr lang="de-DE" sz="2200" b="0" u="none" strike="noStrike">
              <a:solidFill>
                <a:srgbClr val="000000"/>
              </a:solidFill>
              <a:effectLst/>
              <a:uFillTx/>
              <a:latin typeface="Arial"/>
            </a:endParaRPr>
          </a:p>
        </p:txBody>
      </p:sp>
      <p:sp>
        <p:nvSpPr>
          <p:cNvPr id="19" name="Kontext"/>
          <p:cNvSpPr/>
          <p:nvPr/>
        </p:nvSpPr>
        <p:spPr>
          <a:xfrm>
            <a:off x="731520" y="5120640"/>
            <a:ext cx="5483880" cy="3632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accent5"/>
                </a:solidFill>
                <a:effectLst/>
                <a:uFillTx/>
                <a:latin typeface="Calibri"/>
              </a:rPr>
              <a:t>Softwarepraktikum · Pitch v2 · Stand 29.10.2026</a:t>
            </a:r>
            <a:endParaRPr lang="de-DE" sz="1600" b="0" u="none" strike="noStrike">
              <a:solidFill>
                <a:srgbClr val="000000"/>
              </a:solidFill>
              <a:effectLst/>
              <a:uFillTx/>
              <a:latin typeface="Arial"/>
            </a:endParaRPr>
          </a:p>
        </p:txBody>
      </p:sp>
      <p:sp>
        <p:nvSpPr>
          <p:cNvPr id="20" name="Motiv Kreis 1"/>
          <p:cNvSpPr/>
          <p:nvPr/>
        </p:nvSpPr>
        <p:spPr>
          <a:xfrm>
            <a:off x="8595360" y="1463040"/>
            <a:ext cx="2192040" cy="2192040"/>
          </a:xfrm>
          <a:prstGeom prst="ellipse">
            <a:avLst/>
          </a:prstGeom>
          <a:solidFill>
            <a:schemeClr val="accent1"/>
          </a:solidFill>
          <a:ln w="12700">
            <a:solidFill>
              <a:srgbClr val="FF5A5F"/>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21" name="Motiv Kreis 2"/>
          <p:cNvSpPr/>
          <p:nvPr/>
        </p:nvSpPr>
        <p:spPr>
          <a:xfrm>
            <a:off x="9966960" y="3108960"/>
            <a:ext cx="1734840" cy="1734840"/>
          </a:xfrm>
          <a:prstGeom prst="ellipse">
            <a:avLst/>
          </a:prstGeom>
          <a:solidFill>
            <a:schemeClr val="accent2"/>
          </a:solidFill>
          <a:ln w="12700">
            <a:solidFill>
              <a:srgbClr val="FFC857"/>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2" name="Motiv Kreis 3"/>
          <p:cNvSpPr/>
          <p:nvPr/>
        </p:nvSpPr>
        <p:spPr>
          <a:xfrm>
            <a:off x="8412480" y="3840480"/>
            <a:ext cx="1460520" cy="1460520"/>
          </a:xfrm>
          <a:prstGeom prst="ellipse">
            <a:avLst/>
          </a:prstGeom>
          <a:solidFill>
            <a:schemeClr val="accent3"/>
          </a:solidFill>
          <a:ln w="12700">
            <a:solidFill>
              <a:srgbClr val="1FA896"/>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23" name="Motiv Kreis 4"/>
          <p:cNvSpPr/>
          <p:nvPr/>
        </p:nvSpPr>
        <p:spPr>
          <a:xfrm>
            <a:off x="10241280" y="5029200"/>
            <a:ext cx="1003320" cy="1003320"/>
          </a:xfrm>
          <a:prstGeom prst="ellipse">
            <a:avLst/>
          </a:prstGeom>
          <a:solidFill>
            <a:schemeClr val="accent4"/>
          </a:solidFill>
          <a:ln w="12700">
            <a:solidFill>
              <a:srgbClr val="6C5CE7"/>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 name="Titel"/>
          <p:cNvSpPr/>
          <p:nvPr/>
        </p:nvSpPr>
        <p:spPr>
          <a:xfrm>
            <a:off x="548640" y="365760"/>
            <a:ext cx="11061720" cy="729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dk1"/>
                </a:solidFill>
                <a:effectLst/>
                <a:uFillTx/>
                <a:latin typeface="Cambria"/>
                <a:ea typeface="Cambria"/>
              </a:rPr>
              <a:t>Ein Greifautomat mit drei Eingabewegen</a:t>
            </a:r>
            <a:endParaRPr lang="de-DE" sz="3600" b="0" u="none" strike="noStrike">
              <a:solidFill>
                <a:srgbClr val="000000"/>
              </a:solidFill>
              <a:effectLst/>
              <a:uFillTx/>
              <a:latin typeface="Arial"/>
            </a:endParaRPr>
          </a:p>
        </p:txBody>
      </p:sp>
      <p:sp>
        <p:nvSpPr>
          <p:cNvPr id="25" name="Kernaussage"/>
          <p:cNvSpPr/>
          <p:nvPr/>
        </p:nvSpPr>
        <p:spPr>
          <a:xfrm>
            <a:off x="548640" y="1371600"/>
            <a:ext cx="10238760" cy="91188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2200" b="0" u="none" strike="noStrike">
                <a:solidFill>
                  <a:schemeClr val="dk2"/>
                </a:solidFill>
                <a:effectLst/>
                <a:uFillTx/>
                <a:latin typeface="Calibri"/>
              </a:rPr>
              <a:t>Joy-Con, Bedienpanel oder Browser: Jede Eingabe landet beim selben Server, der daraus Motorbefehle macht.</a:t>
            </a:r>
            <a:endParaRPr lang="de-DE" sz="2200" b="0" u="none" strike="noStrike">
              <a:solidFill>
                <a:srgbClr val="000000"/>
              </a:solidFill>
              <a:effectLst/>
              <a:uFillTx/>
              <a:latin typeface="Arial"/>
            </a:endParaRPr>
          </a:p>
        </p:txBody>
      </p:sp>
      <p:sp>
        <p:nvSpPr>
          <p:cNvPr id="26" name="Kachel 1"/>
          <p:cNvSpPr/>
          <p:nvPr/>
        </p:nvSpPr>
        <p:spPr>
          <a:xfrm>
            <a:off x="548640" y="2743200"/>
            <a:ext cx="2603520" cy="3106440"/>
          </a:xfrm>
          <a:prstGeom prst="roundRect">
            <a:avLst>
              <a:gd name="adj" fmla="val 4211"/>
            </a:avLst>
          </a:prstGeom>
          <a:solidFill>
            <a:schemeClr val="accent1"/>
          </a:solidFill>
          <a:ln w="12700">
            <a:solidFill>
              <a:srgbClr val="FF5A5F"/>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27" name="Kennzahl 1"/>
          <p:cNvSpPr/>
          <p:nvPr/>
        </p:nvSpPr>
        <p:spPr>
          <a:xfrm>
            <a:off x="731520" y="2926080"/>
            <a:ext cx="2237760" cy="1094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600" b="1" u="none" strike="noStrike">
                <a:solidFill>
                  <a:schemeClr val="lt1"/>
                </a:solidFill>
                <a:effectLst/>
                <a:uFillTx/>
                <a:latin typeface="Cambria"/>
                <a:ea typeface="Cambria"/>
              </a:rPr>
              <a:t>3</a:t>
            </a:r>
            <a:endParaRPr lang="de-DE" sz="6600" b="0" u="none" strike="noStrike">
              <a:solidFill>
                <a:srgbClr val="000000"/>
              </a:solidFill>
              <a:effectLst/>
              <a:uFillTx/>
              <a:latin typeface="Arial"/>
            </a:endParaRPr>
          </a:p>
        </p:txBody>
      </p:sp>
      <p:sp>
        <p:nvSpPr>
          <p:cNvPr id="28" name="Kennzahl Label 1"/>
          <p:cNvSpPr/>
          <p:nvPr/>
        </p:nvSpPr>
        <p:spPr>
          <a:xfrm>
            <a:off x="731520" y="4114800"/>
            <a:ext cx="2237760" cy="40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lt1"/>
                </a:solidFill>
                <a:effectLst/>
                <a:uFillTx/>
                <a:latin typeface="Calibri"/>
              </a:rPr>
              <a:t>Eingabewege</a:t>
            </a:r>
            <a:endParaRPr lang="de-DE" sz="1800" b="0" u="none" strike="noStrike">
              <a:solidFill>
                <a:srgbClr val="000000"/>
              </a:solidFill>
              <a:effectLst/>
              <a:uFillTx/>
              <a:latin typeface="Arial"/>
            </a:endParaRPr>
          </a:p>
        </p:txBody>
      </p:sp>
      <p:sp>
        <p:nvSpPr>
          <p:cNvPr id="29" name="Kennzahl Detail 1"/>
          <p:cNvSpPr/>
          <p:nvPr/>
        </p:nvSpPr>
        <p:spPr>
          <a:xfrm>
            <a:off x="731520" y="4572000"/>
            <a:ext cx="2237760" cy="1003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1"/>
                </a:solidFill>
                <a:effectLst/>
                <a:uFillTx/>
                <a:latin typeface="Calibri"/>
              </a:rPr>
              <a:t>Switch-2-Joy-Con, Panel, Webinterface</a:t>
            </a:r>
            <a:endParaRPr lang="de-DE" sz="1400" b="0" u="none" strike="noStrike">
              <a:solidFill>
                <a:srgbClr val="000000"/>
              </a:solidFill>
              <a:effectLst/>
              <a:uFillTx/>
              <a:latin typeface="Arial"/>
            </a:endParaRPr>
          </a:p>
        </p:txBody>
      </p:sp>
      <p:sp>
        <p:nvSpPr>
          <p:cNvPr id="30" name="Kachel 2"/>
          <p:cNvSpPr/>
          <p:nvPr/>
        </p:nvSpPr>
        <p:spPr>
          <a:xfrm>
            <a:off x="3360600" y="2743200"/>
            <a:ext cx="2603520" cy="3106440"/>
          </a:xfrm>
          <a:prstGeom prst="roundRect">
            <a:avLst>
              <a:gd name="adj" fmla="val 4211"/>
            </a:avLst>
          </a:prstGeom>
          <a:solidFill>
            <a:schemeClr val="accent3"/>
          </a:solidFill>
          <a:ln w="12700">
            <a:solidFill>
              <a:srgbClr val="1FA896"/>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31" name="Kennzahl 2"/>
          <p:cNvSpPr/>
          <p:nvPr/>
        </p:nvSpPr>
        <p:spPr>
          <a:xfrm>
            <a:off x="3543480" y="2926080"/>
            <a:ext cx="2237760" cy="1094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600" b="1" u="none" strike="noStrike">
                <a:solidFill>
                  <a:schemeClr val="lt1"/>
                </a:solidFill>
                <a:effectLst/>
                <a:uFillTx/>
                <a:latin typeface="Cambria"/>
                <a:ea typeface="Cambria"/>
              </a:rPr>
              <a:t>4</a:t>
            </a:r>
            <a:endParaRPr lang="de-DE" sz="6600" b="0" u="none" strike="noStrike">
              <a:solidFill>
                <a:srgbClr val="000000"/>
              </a:solidFill>
              <a:effectLst/>
              <a:uFillTx/>
              <a:latin typeface="Arial"/>
            </a:endParaRPr>
          </a:p>
        </p:txBody>
      </p:sp>
      <p:sp>
        <p:nvSpPr>
          <p:cNvPr id="32" name="Kennzahl Label 2"/>
          <p:cNvSpPr/>
          <p:nvPr/>
        </p:nvSpPr>
        <p:spPr>
          <a:xfrm>
            <a:off x="3543480" y="4114800"/>
            <a:ext cx="2237760" cy="40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lt1"/>
                </a:solidFill>
                <a:effectLst/>
                <a:uFillTx/>
                <a:latin typeface="Calibri"/>
              </a:rPr>
              <a:t>ESP32-Firmwares</a:t>
            </a:r>
            <a:endParaRPr lang="de-DE" sz="1800" b="0" u="none" strike="noStrike">
              <a:solidFill>
                <a:srgbClr val="000000"/>
              </a:solidFill>
              <a:effectLst/>
              <a:uFillTx/>
              <a:latin typeface="Arial"/>
            </a:endParaRPr>
          </a:p>
        </p:txBody>
      </p:sp>
      <p:sp>
        <p:nvSpPr>
          <p:cNvPr id="33" name="Kennzahl Detail 2"/>
          <p:cNvSpPr/>
          <p:nvPr/>
        </p:nvSpPr>
        <p:spPr>
          <a:xfrm>
            <a:off x="3543480" y="4572000"/>
            <a:ext cx="2237760" cy="1003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1"/>
                </a:solidFill>
                <a:effectLst/>
                <a:uFillTx/>
                <a:latin typeface="Calibri"/>
              </a:rPr>
              <a:t>Motor-Controller, Endstops, Panel, Joy-Con-Scanner</a:t>
            </a:r>
            <a:endParaRPr lang="de-DE" sz="1400" b="0" u="none" strike="noStrike">
              <a:solidFill>
                <a:srgbClr val="000000"/>
              </a:solidFill>
              <a:effectLst/>
              <a:uFillTx/>
              <a:latin typeface="Arial"/>
            </a:endParaRPr>
          </a:p>
        </p:txBody>
      </p:sp>
      <p:sp>
        <p:nvSpPr>
          <p:cNvPr id="34" name="Kachel 3"/>
          <p:cNvSpPr/>
          <p:nvPr/>
        </p:nvSpPr>
        <p:spPr>
          <a:xfrm>
            <a:off x="6172200" y="2743200"/>
            <a:ext cx="2603520" cy="3106440"/>
          </a:xfrm>
          <a:prstGeom prst="roundRect">
            <a:avLst>
              <a:gd name="adj" fmla="val 4211"/>
            </a:avLst>
          </a:prstGeom>
          <a:solidFill>
            <a:schemeClr val="accent4"/>
          </a:solidFill>
          <a:ln w="12700">
            <a:solidFill>
              <a:srgbClr val="6C5CE7"/>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35" name="Kennzahl 3"/>
          <p:cNvSpPr/>
          <p:nvPr/>
        </p:nvSpPr>
        <p:spPr>
          <a:xfrm>
            <a:off x="6355080" y="2926080"/>
            <a:ext cx="2237760" cy="1094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600" b="1" u="none" strike="noStrike">
                <a:solidFill>
                  <a:schemeClr val="lt1"/>
                </a:solidFill>
                <a:effectLst/>
                <a:uFillTx/>
                <a:latin typeface="Cambria"/>
                <a:ea typeface="Cambria"/>
              </a:rPr>
              <a:t>1</a:t>
            </a:r>
            <a:endParaRPr lang="de-DE" sz="6600" b="0" u="none" strike="noStrike">
              <a:solidFill>
                <a:srgbClr val="000000"/>
              </a:solidFill>
              <a:effectLst/>
              <a:uFillTx/>
              <a:latin typeface="Arial"/>
            </a:endParaRPr>
          </a:p>
        </p:txBody>
      </p:sp>
      <p:sp>
        <p:nvSpPr>
          <p:cNvPr id="36" name="Kennzahl Label 3"/>
          <p:cNvSpPr/>
          <p:nvPr/>
        </p:nvSpPr>
        <p:spPr>
          <a:xfrm>
            <a:off x="6355080" y="4114800"/>
            <a:ext cx="2237760" cy="40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lt1"/>
                </a:solidFill>
                <a:effectLst/>
                <a:uFillTx/>
                <a:latin typeface="Calibri"/>
              </a:rPr>
              <a:t>zentraler Server</a:t>
            </a:r>
            <a:endParaRPr lang="de-DE" sz="1800" b="0" u="none" strike="noStrike">
              <a:solidFill>
                <a:srgbClr val="000000"/>
              </a:solidFill>
              <a:effectLst/>
              <a:uFillTx/>
              <a:latin typeface="Arial"/>
            </a:endParaRPr>
          </a:p>
        </p:txBody>
      </p:sp>
      <p:sp>
        <p:nvSpPr>
          <p:cNvPr id="37" name="Kennzahl Detail 3"/>
          <p:cNvSpPr/>
          <p:nvPr/>
        </p:nvSpPr>
        <p:spPr>
          <a:xfrm>
            <a:off x="6355080" y="4572000"/>
            <a:ext cx="2237760" cy="1003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lt1"/>
                </a:solidFill>
                <a:effectLst/>
                <a:uFillTx/>
                <a:latin typeface="Calibri"/>
              </a:rPr>
              <a:t>Python mit FastAPI und paho-mqtt</a:t>
            </a:r>
            <a:endParaRPr lang="de-DE" sz="1400" b="0" u="none" strike="noStrike">
              <a:solidFill>
                <a:srgbClr val="000000"/>
              </a:solidFill>
              <a:effectLst/>
              <a:uFillTx/>
              <a:latin typeface="Arial"/>
            </a:endParaRPr>
          </a:p>
        </p:txBody>
      </p:sp>
      <p:sp>
        <p:nvSpPr>
          <p:cNvPr id="38" name="Kachel 4"/>
          <p:cNvSpPr/>
          <p:nvPr/>
        </p:nvSpPr>
        <p:spPr>
          <a:xfrm>
            <a:off x="8984160" y="2743200"/>
            <a:ext cx="2603520" cy="3106440"/>
          </a:xfrm>
          <a:prstGeom prst="roundRect">
            <a:avLst>
              <a:gd name="adj" fmla="val 4211"/>
            </a:avLst>
          </a:prstGeom>
          <a:solidFill>
            <a:schemeClr val="accent2"/>
          </a:solidFill>
          <a:ln w="12700">
            <a:solidFill>
              <a:srgbClr val="FFC857"/>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9" name="Kennzahl 4"/>
          <p:cNvSpPr/>
          <p:nvPr/>
        </p:nvSpPr>
        <p:spPr>
          <a:xfrm>
            <a:off x="9167040" y="2926080"/>
            <a:ext cx="2237760" cy="10947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4400" b="1" u="none" strike="noStrike">
                <a:solidFill>
                  <a:schemeClr val="dk1"/>
                </a:solidFill>
                <a:effectLst/>
                <a:uFillTx/>
                <a:latin typeface="Cambria"/>
                <a:ea typeface="Cambria"/>
              </a:rPr>
              <a:t>MQTT</a:t>
            </a:r>
            <a:endParaRPr lang="de-DE" sz="4400" b="0" u="none" strike="noStrike">
              <a:solidFill>
                <a:srgbClr val="000000"/>
              </a:solidFill>
              <a:effectLst/>
              <a:uFillTx/>
              <a:latin typeface="Arial"/>
            </a:endParaRPr>
          </a:p>
        </p:txBody>
      </p:sp>
      <p:sp>
        <p:nvSpPr>
          <p:cNvPr id="40" name="Kennzahl Label 4"/>
          <p:cNvSpPr/>
          <p:nvPr/>
        </p:nvSpPr>
        <p:spPr>
          <a:xfrm>
            <a:off x="9167040" y="4114800"/>
            <a:ext cx="2237760" cy="4089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chemeClr val="dk1"/>
                </a:solidFill>
                <a:effectLst/>
                <a:uFillTx/>
                <a:latin typeface="Calibri"/>
              </a:rPr>
              <a:t>ein Rückgrat</a:t>
            </a:r>
            <a:endParaRPr lang="de-DE" sz="1800" b="0" u="none" strike="noStrike">
              <a:solidFill>
                <a:srgbClr val="000000"/>
              </a:solidFill>
              <a:effectLst/>
              <a:uFillTx/>
              <a:latin typeface="Arial"/>
            </a:endParaRPr>
          </a:p>
        </p:txBody>
      </p:sp>
      <p:sp>
        <p:nvSpPr>
          <p:cNvPr id="41" name="Kennzahl Detail 4"/>
          <p:cNvSpPr/>
          <p:nvPr/>
        </p:nvSpPr>
        <p:spPr>
          <a:xfrm>
            <a:off x="9167040" y="4572000"/>
            <a:ext cx="2237760" cy="10033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1"/>
                </a:solidFill>
                <a:effectLst/>
                <a:uFillTx/>
                <a:latin typeface="Calibri"/>
              </a:rPr>
              <a:t>Mosquitto auf dem Raspberry Pi</a:t>
            </a:r>
            <a:endParaRPr lang="de-DE" sz="1400" b="0" u="none" strike="noStrike">
              <a:solidFill>
                <a:srgbClr val="000000"/>
              </a:solidFill>
              <a:effectLst/>
              <a:uFillTx/>
              <a:latin typeface="Arial"/>
            </a:endParaRPr>
          </a:p>
        </p:txBody>
      </p:sp>
      <p:sp>
        <p:nvSpPr>
          <p:cNvPr id="42" name="PlaceHolder 1"/>
          <p:cNvSpPr>
            <a:spLocks noGrp="1"/>
          </p:cNvSpPr>
          <p:nvPr>
            <p:ph type="sldNum" idx="6"/>
          </p:nvPr>
        </p:nvSpPr>
        <p:spPr>
          <a:xfrm>
            <a:off x="11155680" y="6400800"/>
            <a:ext cx="546120" cy="2718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100" b="0" u="none" strike="noStrike">
                <a:solidFill>
                  <a:schemeClr val="accent5"/>
                </a:solidFill>
                <a:effectLst/>
                <a:uFillTx/>
                <a:latin typeface="Calibri"/>
              </a:defRPr>
            </a:lvl1pPr>
          </a:lstStyle>
          <a:p>
            <a:pPr indent="0" algn="r" defTabSz="914400">
              <a:lnSpc>
                <a:spcPct val="100000"/>
              </a:lnSpc>
              <a:buNone/>
              <a:tabLst>
                <a:tab pos="0" algn="l"/>
              </a:tabLst>
            </a:pPr>
            <a:fld id="{3713BFD6-6D12-4A5B-A108-B7C403744D55}" type="slidenum">
              <a:rPr lang="en-US" sz="1100" b="0" u="none" strike="noStrike">
                <a:solidFill>
                  <a:schemeClr val="accent5"/>
                </a:solidFill>
                <a:effectLst/>
                <a:uFillTx/>
                <a:latin typeface="Calibri"/>
              </a:rPr>
              <a:t>&lt;Foliennummer&gt;</a:t>
            </a:fld>
            <a:endParaRPr lang="de-DE"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 name="Titel"/>
          <p:cNvSpPr/>
          <p:nvPr/>
        </p:nvSpPr>
        <p:spPr>
          <a:xfrm>
            <a:off x="548640" y="365760"/>
            <a:ext cx="11062080" cy="729360"/>
          </a:xfrm>
          <a:prstGeom prst="rect">
            <a:avLst/>
          </a:prstGeom>
          <a:noFill/>
          <a:ln w="0">
            <a:noFill/>
          </a:ln>
        </p:spPr>
        <p:style>
          <a:lnRef idx="0"/>
          <a:fillRef idx="0"/>
          <a:effectRef idx="0"/>
          <a:fontRef idx="minor"/>
        </p:style>
        <p:txBody>
          <a:bodyPr lIns="0" tIns="0" rIns="0" bIns="0" anchor="ctr">
            <a:noAutofit/>
          </a:bodyPr>
          <a:p>
            <a:pPr>
              <a:lnSpc>
                <a:spcPct val="100000"/>
              </a:lnSpc>
            </a:pPr>
            <a:r>
              <a:rPr lang="de-DE" sz="3600" b="1" u="none" strike="noStrike">
                <a:solidFill>
                  <a:schemeClr val="dk1"/>
                </a:solidFill>
                <a:effectLst/>
                <a:uFillTx/>
                <a:latin typeface="Cambria"/>
                <a:ea typeface="Cambria"/>
              </a:rPr>
              <a:t>Warum eine Microservice-Architektur?</a:t>
            </a:r>
            <a:endParaRPr lang="de-DE" sz="3600" b="0" u="none" strike="noStrike">
              <a:solidFill>
                <a:srgbClr val="000000"/>
              </a:solidFill>
              <a:effectLst/>
              <a:uFillTx/>
              <a:latin typeface="Arial"/>
            </a:endParaRPr>
          </a:p>
        </p:txBody>
      </p:sp>
      <p:sp>
        <p:nvSpPr>
          <p:cNvPr id="44" name="Karte 1"/>
          <p:cNvSpPr/>
          <p:nvPr/>
        </p:nvSpPr>
        <p:spPr>
          <a:xfrm>
            <a:off x="548640" y="1417320"/>
            <a:ext cx="11062080" cy="1003680"/>
          </a:xfrm>
          <a:prstGeom prst="roundRect">
            <a:avLst>
              <a:gd name="adj" fmla="val 10909"/>
            </a:avLst>
          </a:prstGeom>
          <a:solidFill>
            <a:schemeClr val="lt2"/>
          </a:solidFill>
          <a:ln w="0">
            <a:noFill/>
          </a:ln>
        </p:spPr>
        <p:style>
          <a:lnRef idx="0"/>
          <a:fillRef idx="0"/>
          <a:effectRef idx="0"/>
          <a:fontRef idx="minor"/>
        </p:style>
        <p:txBody>
          <a:bodyPr lIns="0" tIns="0" rIns="0" bIns="0" anchor="t">
            <a:noAutofit/>
          </a:bodyPr>
          <a:p>
            <a:endParaRPr lang="de-DE" sz="1800" b="0" u="none" strike="noStrike">
              <a:solidFill>
                <a:srgbClr val="000000"/>
              </a:solidFill>
              <a:effectLst/>
              <a:uFillTx/>
              <a:latin typeface="Arial"/>
            </a:endParaRPr>
          </a:p>
        </p:txBody>
      </p:sp>
      <p:sp>
        <p:nvSpPr>
          <p:cNvPr id="45" name="Nummer 1"/>
          <p:cNvSpPr/>
          <p:nvPr/>
        </p:nvSpPr>
        <p:spPr>
          <a:xfrm>
            <a:off x="822960" y="1600200"/>
            <a:ext cx="637920" cy="637920"/>
          </a:xfrm>
          <a:prstGeom prst="ellipse">
            <a:avLst/>
          </a:prstGeom>
          <a:solidFill>
            <a:schemeClr val="accent1"/>
          </a:solidFill>
          <a:ln w="0">
            <a:noFill/>
          </a:ln>
        </p:spPr>
        <p:style>
          <a:lnRef idx="0"/>
          <a:fillRef idx="0"/>
          <a:effectRef idx="0"/>
          <a:fontRef idx="minor"/>
        </p:style>
        <p:txBody>
          <a:bodyPr lIns="0" tIns="0" rIns="0" bIns="0" anchor="ctr">
            <a:noAutofit/>
          </a:bodyPr>
          <a:p>
            <a:pPr algn="ctr">
              <a:lnSpc>
                <a:spcPct val="100000"/>
              </a:lnSpc>
            </a:pPr>
            <a:r>
              <a:rPr lang="de-DE" sz="1800" b="1" u="none" strike="noStrike">
                <a:solidFill>
                  <a:schemeClr val="lt1"/>
                </a:solidFill>
                <a:effectLst/>
                <a:uFillTx/>
                <a:latin typeface="Calibri"/>
                <a:ea typeface="Calibri"/>
              </a:rPr>
              <a:t>1</a:t>
            </a:r>
            <a:endParaRPr lang="de-DE" sz="1800" b="0" u="none" strike="noStrike">
              <a:solidFill>
                <a:srgbClr val="FFFFFF"/>
              </a:solidFill>
              <a:effectLst/>
              <a:uFillTx/>
              <a:latin typeface="Arial"/>
            </a:endParaRPr>
          </a:p>
        </p:txBody>
      </p:sp>
      <p:sp>
        <p:nvSpPr>
          <p:cNvPr id="46" name="Karte Titel 1"/>
          <p:cNvSpPr/>
          <p:nvPr/>
        </p:nvSpPr>
        <p:spPr>
          <a:xfrm>
            <a:off x="1783080" y="1527120"/>
            <a:ext cx="9507600" cy="409320"/>
          </a:xfrm>
          <a:prstGeom prst="rect">
            <a:avLst/>
          </a:prstGeom>
          <a:noFill/>
          <a:ln w="0">
            <a:noFill/>
          </a:ln>
        </p:spPr>
        <p:style>
          <a:lnRef idx="0"/>
          <a:fillRef idx="0"/>
          <a:effectRef idx="0"/>
          <a:fontRef idx="minor"/>
        </p:style>
        <p:txBody>
          <a:bodyPr lIns="0" tIns="0" rIns="0" bIns="0" anchor="ctr">
            <a:noAutofit/>
          </a:bodyPr>
          <a:p>
            <a:pPr>
              <a:lnSpc>
                <a:spcPct val="100000"/>
              </a:lnSpc>
            </a:pPr>
            <a:r>
              <a:rPr lang="de-DE" sz="2000" b="1" u="none" strike="noStrike">
                <a:solidFill>
                  <a:schemeClr val="dk1"/>
                </a:solidFill>
                <a:effectLst/>
                <a:uFillTx/>
                <a:latin typeface="Calibri"/>
                <a:ea typeface="Calibri"/>
              </a:rPr>
              <a:t>Erste Erfahrung mit MQTT</a:t>
            </a:r>
            <a:endParaRPr lang="de-DE" sz="2000" b="0" u="none" strike="noStrike">
              <a:solidFill>
                <a:srgbClr val="000000"/>
              </a:solidFill>
              <a:effectLst/>
              <a:uFillTx/>
              <a:latin typeface="Arial"/>
            </a:endParaRPr>
          </a:p>
        </p:txBody>
      </p:sp>
      <p:sp>
        <p:nvSpPr>
          <p:cNvPr id="47" name="Karte Text 1"/>
          <p:cNvSpPr/>
          <p:nvPr/>
        </p:nvSpPr>
        <p:spPr>
          <a:xfrm>
            <a:off x="1783080" y="1947600"/>
            <a:ext cx="950760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de-DE" sz="1600" b="0" u="none" strike="noStrike">
                <a:solidFill>
                  <a:schemeClr val="dk2"/>
                </a:solidFill>
                <a:effectLst/>
                <a:uFillTx/>
                <a:latin typeface="Calibri"/>
                <a:ea typeface="Calibri"/>
              </a:rPr>
              <a:t>Im Contextawareness-Praktikum haben wir MQTT kennengelernt und wollten darauf aufbauen.</a:t>
            </a:r>
            <a:endParaRPr lang="de-DE" sz="1600" b="0" u="none" strike="noStrike">
              <a:solidFill>
                <a:srgbClr val="000000"/>
              </a:solidFill>
              <a:effectLst/>
              <a:uFillTx/>
              <a:latin typeface="Arial"/>
            </a:endParaRPr>
          </a:p>
        </p:txBody>
      </p:sp>
      <p:sp>
        <p:nvSpPr>
          <p:cNvPr id="48" name="Karte 2"/>
          <p:cNvSpPr/>
          <p:nvPr/>
        </p:nvSpPr>
        <p:spPr>
          <a:xfrm>
            <a:off x="548640" y="2606040"/>
            <a:ext cx="11062080" cy="1003680"/>
          </a:xfrm>
          <a:prstGeom prst="roundRect">
            <a:avLst>
              <a:gd name="adj" fmla="val 10909"/>
            </a:avLst>
          </a:prstGeom>
          <a:solidFill>
            <a:schemeClr val="lt2"/>
          </a:solidFill>
          <a:ln w="0">
            <a:noFill/>
          </a:ln>
        </p:spPr>
        <p:style>
          <a:lnRef idx="0"/>
          <a:fillRef idx="0"/>
          <a:effectRef idx="0"/>
          <a:fontRef idx="minor"/>
        </p:style>
        <p:txBody>
          <a:bodyPr lIns="0" tIns="0" rIns="0" bIns="0" anchor="t">
            <a:noAutofit/>
          </a:bodyPr>
          <a:p>
            <a:endParaRPr lang="de-DE" sz="1800" b="0" u="none" strike="noStrike">
              <a:solidFill>
                <a:srgbClr val="000000"/>
              </a:solidFill>
              <a:effectLst/>
              <a:uFillTx/>
              <a:latin typeface="Arial"/>
            </a:endParaRPr>
          </a:p>
        </p:txBody>
      </p:sp>
      <p:sp>
        <p:nvSpPr>
          <p:cNvPr id="49" name="Nummer 2"/>
          <p:cNvSpPr/>
          <p:nvPr/>
        </p:nvSpPr>
        <p:spPr>
          <a:xfrm>
            <a:off x="822960" y="2788920"/>
            <a:ext cx="637920" cy="637920"/>
          </a:xfrm>
          <a:prstGeom prst="ellipse">
            <a:avLst/>
          </a:prstGeom>
          <a:solidFill>
            <a:schemeClr val="accent4"/>
          </a:solidFill>
          <a:ln w="0">
            <a:noFill/>
          </a:ln>
        </p:spPr>
        <p:style>
          <a:lnRef idx="0"/>
          <a:fillRef idx="0"/>
          <a:effectRef idx="0"/>
          <a:fontRef idx="minor"/>
        </p:style>
        <p:txBody>
          <a:bodyPr lIns="0" tIns="0" rIns="0" bIns="0" anchor="ctr">
            <a:noAutofit/>
          </a:bodyPr>
          <a:p>
            <a:pPr algn="ctr">
              <a:lnSpc>
                <a:spcPct val="100000"/>
              </a:lnSpc>
            </a:pPr>
            <a:r>
              <a:rPr lang="de-DE" sz="1800" b="1" u="none" strike="noStrike">
                <a:solidFill>
                  <a:schemeClr val="lt1"/>
                </a:solidFill>
                <a:effectLst/>
                <a:uFillTx/>
                <a:latin typeface="Calibri"/>
                <a:ea typeface="Calibri"/>
              </a:rPr>
              <a:t>2</a:t>
            </a:r>
            <a:endParaRPr lang="de-DE" sz="1800" b="0" u="none" strike="noStrike">
              <a:solidFill>
                <a:srgbClr val="FFFFFF"/>
              </a:solidFill>
              <a:effectLst/>
              <a:uFillTx/>
              <a:latin typeface="Arial"/>
            </a:endParaRPr>
          </a:p>
        </p:txBody>
      </p:sp>
      <p:sp>
        <p:nvSpPr>
          <p:cNvPr id="50" name="Karte Titel 2"/>
          <p:cNvSpPr/>
          <p:nvPr/>
        </p:nvSpPr>
        <p:spPr>
          <a:xfrm>
            <a:off x="1783080" y="2715840"/>
            <a:ext cx="9507600" cy="409320"/>
          </a:xfrm>
          <a:prstGeom prst="rect">
            <a:avLst/>
          </a:prstGeom>
          <a:noFill/>
          <a:ln w="0">
            <a:noFill/>
          </a:ln>
        </p:spPr>
        <p:style>
          <a:lnRef idx="0"/>
          <a:fillRef idx="0"/>
          <a:effectRef idx="0"/>
          <a:fontRef idx="minor"/>
        </p:style>
        <p:txBody>
          <a:bodyPr lIns="0" tIns="0" rIns="0" bIns="0" anchor="ctr">
            <a:noAutofit/>
          </a:bodyPr>
          <a:p>
            <a:pPr>
              <a:lnSpc>
                <a:spcPct val="100000"/>
              </a:lnSpc>
            </a:pPr>
            <a:r>
              <a:rPr lang="de-DE" sz="2000" b="1" u="none" strike="noStrike">
                <a:solidFill>
                  <a:schemeClr val="dk1"/>
                </a:solidFill>
                <a:effectLst/>
                <a:uFillTx/>
                <a:latin typeface="Calibri"/>
                <a:ea typeface="Calibri"/>
              </a:rPr>
              <a:t>Microservices selbst umsetzen</a:t>
            </a:r>
            <a:endParaRPr lang="de-DE" sz="2000" b="0" u="none" strike="noStrike">
              <a:solidFill>
                <a:srgbClr val="000000"/>
              </a:solidFill>
              <a:effectLst/>
              <a:uFillTx/>
              <a:latin typeface="Arial"/>
            </a:endParaRPr>
          </a:p>
        </p:txBody>
      </p:sp>
      <p:sp>
        <p:nvSpPr>
          <p:cNvPr id="51" name="Karte Text 2"/>
          <p:cNvSpPr/>
          <p:nvPr/>
        </p:nvSpPr>
        <p:spPr>
          <a:xfrm>
            <a:off x="1783080" y="3136320"/>
            <a:ext cx="950760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de-DE" sz="1600" b="0" u="none" strike="noStrike">
                <a:solidFill>
                  <a:schemeClr val="dk2"/>
                </a:solidFill>
                <a:effectLst/>
                <a:uFillTx/>
                <a:latin typeface="Calibri"/>
                <a:ea typeface="Calibri"/>
              </a:rPr>
              <a:t>Ich wollte schon immer eine Microservice-Architektur aufbauen, und hier ließ sie sich umsetzen.</a:t>
            </a:r>
            <a:endParaRPr lang="de-DE" sz="1600" b="0" u="none" strike="noStrike">
              <a:solidFill>
                <a:srgbClr val="000000"/>
              </a:solidFill>
              <a:effectLst/>
              <a:uFillTx/>
              <a:latin typeface="Arial"/>
            </a:endParaRPr>
          </a:p>
        </p:txBody>
      </p:sp>
      <p:sp>
        <p:nvSpPr>
          <p:cNvPr id="52" name="Karte 3"/>
          <p:cNvSpPr/>
          <p:nvPr/>
        </p:nvSpPr>
        <p:spPr>
          <a:xfrm>
            <a:off x="548640" y="3794760"/>
            <a:ext cx="11062080" cy="1003680"/>
          </a:xfrm>
          <a:prstGeom prst="roundRect">
            <a:avLst>
              <a:gd name="adj" fmla="val 10909"/>
            </a:avLst>
          </a:prstGeom>
          <a:solidFill>
            <a:schemeClr val="lt2"/>
          </a:solidFill>
          <a:ln w="0">
            <a:noFill/>
          </a:ln>
        </p:spPr>
        <p:style>
          <a:lnRef idx="0"/>
          <a:fillRef idx="0"/>
          <a:effectRef idx="0"/>
          <a:fontRef idx="minor"/>
        </p:style>
        <p:txBody>
          <a:bodyPr lIns="0" tIns="0" rIns="0" bIns="0" anchor="t">
            <a:noAutofit/>
          </a:bodyPr>
          <a:p>
            <a:endParaRPr lang="de-DE" sz="1800" b="0" u="none" strike="noStrike">
              <a:solidFill>
                <a:srgbClr val="000000"/>
              </a:solidFill>
              <a:effectLst/>
              <a:uFillTx/>
              <a:latin typeface="Arial"/>
            </a:endParaRPr>
          </a:p>
        </p:txBody>
      </p:sp>
      <p:sp>
        <p:nvSpPr>
          <p:cNvPr id="53" name="Nummer 3"/>
          <p:cNvSpPr/>
          <p:nvPr/>
        </p:nvSpPr>
        <p:spPr>
          <a:xfrm>
            <a:off x="822960" y="3977640"/>
            <a:ext cx="637920" cy="637920"/>
          </a:xfrm>
          <a:prstGeom prst="ellipse">
            <a:avLst/>
          </a:prstGeom>
          <a:solidFill>
            <a:schemeClr val="accent3"/>
          </a:solidFill>
          <a:ln w="0">
            <a:noFill/>
          </a:ln>
        </p:spPr>
        <p:style>
          <a:lnRef idx="0"/>
          <a:fillRef idx="0"/>
          <a:effectRef idx="0"/>
          <a:fontRef idx="minor"/>
        </p:style>
        <p:txBody>
          <a:bodyPr lIns="0" tIns="0" rIns="0" bIns="0" anchor="ctr">
            <a:noAutofit/>
          </a:bodyPr>
          <a:p>
            <a:pPr algn="ctr">
              <a:lnSpc>
                <a:spcPct val="100000"/>
              </a:lnSpc>
            </a:pPr>
            <a:r>
              <a:rPr lang="de-DE" sz="1800" b="1" u="none" strike="noStrike">
                <a:solidFill>
                  <a:schemeClr val="lt1"/>
                </a:solidFill>
                <a:effectLst/>
                <a:uFillTx/>
                <a:latin typeface="Calibri"/>
                <a:ea typeface="Calibri"/>
              </a:rPr>
              <a:t>3</a:t>
            </a:r>
            <a:endParaRPr lang="de-DE" sz="1800" b="0" u="none" strike="noStrike">
              <a:solidFill>
                <a:srgbClr val="FFFFFF"/>
              </a:solidFill>
              <a:effectLst/>
              <a:uFillTx/>
              <a:latin typeface="Arial"/>
            </a:endParaRPr>
          </a:p>
        </p:txBody>
      </p:sp>
      <p:sp>
        <p:nvSpPr>
          <p:cNvPr id="54" name="Karte Titel 3"/>
          <p:cNvSpPr/>
          <p:nvPr/>
        </p:nvSpPr>
        <p:spPr>
          <a:xfrm>
            <a:off x="1783080" y="3794760"/>
            <a:ext cx="9507600" cy="409320"/>
          </a:xfrm>
          <a:prstGeom prst="rect">
            <a:avLst/>
          </a:prstGeom>
          <a:noFill/>
          <a:ln w="0">
            <a:noFill/>
          </a:ln>
        </p:spPr>
        <p:style>
          <a:lnRef idx="0"/>
          <a:fillRef idx="0"/>
          <a:effectRef idx="0"/>
          <a:fontRef idx="minor"/>
        </p:style>
        <p:txBody>
          <a:bodyPr lIns="0" tIns="0" rIns="0" bIns="0" anchor="ctr">
            <a:noAutofit/>
          </a:bodyPr>
          <a:p>
            <a:pPr>
              <a:lnSpc>
                <a:spcPct val="100000"/>
              </a:lnSpc>
            </a:pPr>
            <a:r>
              <a:rPr lang="de-DE" sz="2000" b="1" u="none" strike="noStrike">
                <a:solidFill>
                  <a:schemeClr val="dk1"/>
                </a:solidFill>
                <a:effectLst/>
                <a:uFillTx/>
                <a:latin typeface="Calibri"/>
                <a:ea typeface="Calibri"/>
              </a:rPr>
              <a:t>Mikrocontroller mit Funk</a:t>
            </a:r>
            <a:endParaRPr lang="de-DE" sz="2000" b="0" u="none" strike="noStrike">
              <a:solidFill>
                <a:srgbClr val="000000"/>
              </a:solidFill>
              <a:effectLst/>
              <a:uFillTx/>
              <a:latin typeface="Arial"/>
            </a:endParaRPr>
          </a:p>
        </p:txBody>
      </p:sp>
      <p:sp>
        <p:nvSpPr>
          <p:cNvPr id="55" name="Karte Text 3"/>
          <p:cNvSpPr/>
          <p:nvPr/>
        </p:nvSpPr>
        <p:spPr>
          <a:xfrm>
            <a:off x="1783080" y="4205880"/>
            <a:ext cx="950760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de-DE" sz="1600" b="0" u="none" strike="noStrike">
                <a:solidFill>
                  <a:schemeClr val="dk2"/>
                </a:solidFill>
                <a:effectLst/>
                <a:uFillTx/>
                <a:latin typeface="Calibri"/>
                <a:ea typeface="Calibri"/>
              </a:rPr>
              <a:t>Mikrocontroller kannte ich gut, und WLAN und Bluetooth lassen sich dort einfach nutzen – Gut für Joycons.</a:t>
            </a:r>
            <a:endParaRPr lang="de-DE" sz="1600" b="0" u="none" strike="noStrike">
              <a:solidFill>
                <a:srgbClr val="000000"/>
              </a:solidFill>
              <a:effectLst/>
              <a:uFillTx/>
              <a:latin typeface="Arial"/>
            </a:endParaRPr>
          </a:p>
        </p:txBody>
      </p:sp>
      <p:sp>
        <p:nvSpPr>
          <p:cNvPr id="56" name="Karte 4"/>
          <p:cNvSpPr/>
          <p:nvPr/>
        </p:nvSpPr>
        <p:spPr>
          <a:xfrm>
            <a:off x="548640" y="4983480"/>
            <a:ext cx="11062080" cy="1003680"/>
          </a:xfrm>
          <a:prstGeom prst="roundRect">
            <a:avLst>
              <a:gd name="adj" fmla="val 10909"/>
            </a:avLst>
          </a:prstGeom>
          <a:solidFill>
            <a:schemeClr val="lt2"/>
          </a:solidFill>
          <a:ln w="0">
            <a:noFill/>
          </a:ln>
        </p:spPr>
        <p:style>
          <a:lnRef idx="0"/>
          <a:fillRef idx="0"/>
          <a:effectRef idx="0"/>
          <a:fontRef idx="minor"/>
        </p:style>
        <p:txBody>
          <a:bodyPr lIns="0" tIns="0" rIns="0" bIns="0" anchor="t">
            <a:noAutofit/>
          </a:bodyPr>
          <a:p>
            <a:endParaRPr lang="de-DE" sz="1800" b="0" u="none" strike="noStrike">
              <a:solidFill>
                <a:srgbClr val="000000"/>
              </a:solidFill>
              <a:effectLst/>
              <a:uFillTx/>
              <a:latin typeface="Arial"/>
            </a:endParaRPr>
          </a:p>
        </p:txBody>
      </p:sp>
      <p:sp>
        <p:nvSpPr>
          <p:cNvPr id="57" name="Nummer 4"/>
          <p:cNvSpPr/>
          <p:nvPr/>
        </p:nvSpPr>
        <p:spPr>
          <a:xfrm>
            <a:off x="822960" y="5166360"/>
            <a:ext cx="637920" cy="637920"/>
          </a:xfrm>
          <a:prstGeom prst="ellipse">
            <a:avLst/>
          </a:prstGeom>
          <a:solidFill>
            <a:schemeClr val="accent2"/>
          </a:solidFill>
          <a:ln w="0">
            <a:noFill/>
          </a:ln>
        </p:spPr>
        <p:style>
          <a:lnRef idx="0"/>
          <a:fillRef idx="0"/>
          <a:effectRef idx="0"/>
          <a:fontRef idx="minor"/>
        </p:style>
        <p:txBody>
          <a:bodyPr lIns="0" tIns="0" rIns="0" bIns="0" anchor="ctr">
            <a:noAutofit/>
          </a:bodyPr>
          <a:p>
            <a:pPr algn="ctr">
              <a:lnSpc>
                <a:spcPct val="100000"/>
              </a:lnSpc>
            </a:pPr>
            <a:r>
              <a:rPr lang="de-DE" sz="1800" b="1" u="none" strike="noStrike">
                <a:solidFill>
                  <a:schemeClr val="dk1"/>
                </a:solidFill>
                <a:effectLst/>
                <a:uFillTx/>
                <a:latin typeface="Calibri"/>
                <a:ea typeface="Calibri"/>
              </a:rPr>
              <a:t>4</a:t>
            </a:r>
            <a:endParaRPr lang="de-DE" sz="1800" b="0" u="none" strike="noStrike">
              <a:solidFill>
                <a:srgbClr val="000000"/>
              </a:solidFill>
              <a:effectLst/>
              <a:uFillTx/>
              <a:latin typeface="Arial"/>
            </a:endParaRPr>
          </a:p>
        </p:txBody>
      </p:sp>
      <p:sp>
        <p:nvSpPr>
          <p:cNvPr id="58" name="Karte Titel 4"/>
          <p:cNvSpPr/>
          <p:nvPr/>
        </p:nvSpPr>
        <p:spPr>
          <a:xfrm>
            <a:off x="1783080" y="5093280"/>
            <a:ext cx="9507600" cy="409320"/>
          </a:xfrm>
          <a:prstGeom prst="rect">
            <a:avLst/>
          </a:prstGeom>
          <a:noFill/>
          <a:ln w="0">
            <a:noFill/>
          </a:ln>
        </p:spPr>
        <p:style>
          <a:lnRef idx="0"/>
          <a:fillRef idx="0"/>
          <a:effectRef idx="0"/>
          <a:fontRef idx="minor"/>
        </p:style>
        <p:txBody>
          <a:bodyPr lIns="0" tIns="0" rIns="0" bIns="0" anchor="ctr">
            <a:noAutofit/>
          </a:bodyPr>
          <a:p>
            <a:pPr>
              <a:lnSpc>
                <a:spcPct val="100000"/>
              </a:lnSpc>
            </a:pPr>
            <a:r>
              <a:rPr lang="de-DE" sz="2000" b="1" u="none" strike="noStrike">
                <a:solidFill>
                  <a:schemeClr val="dk1"/>
                </a:solidFill>
                <a:effectLst/>
                <a:uFillTx/>
                <a:latin typeface="Calibri"/>
                <a:ea typeface="Calibri"/>
              </a:rPr>
              <a:t>Viele Controller zusammenbringen</a:t>
            </a:r>
            <a:endParaRPr lang="de-DE" sz="2000" b="0" u="none" strike="noStrike">
              <a:solidFill>
                <a:srgbClr val="000000"/>
              </a:solidFill>
              <a:effectLst/>
              <a:uFillTx/>
              <a:latin typeface="Arial"/>
            </a:endParaRPr>
          </a:p>
        </p:txBody>
      </p:sp>
      <p:sp>
        <p:nvSpPr>
          <p:cNvPr id="59" name="Karte Text 4"/>
          <p:cNvSpPr/>
          <p:nvPr/>
        </p:nvSpPr>
        <p:spPr>
          <a:xfrm>
            <a:off x="1783080" y="5513760"/>
            <a:ext cx="9507600" cy="409320"/>
          </a:xfrm>
          <a:prstGeom prst="rect">
            <a:avLst/>
          </a:prstGeom>
          <a:noFill/>
          <a:ln w="0">
            <a:noFill/>
          </a:ln>
        </p:spPr>
        <p:style>
          <a:lnRef idx="0"/>
          <a:fillRef idx="0"/>
          <a:effectRef idx="0"/>
          <a:fontRef idx="minor"/>
        </p:style>
        <p:txBody>
          <a:bodyPr lIns="0" tIns="0" rIns="0" bIns="0" anchor="t">
            <a:noAutofit/>
          </a:bodyPr>
          <a:p>
            <a:pPr>
              <a:lnSpc>
                <a:spcPct val="100000"/>
              </a:lnSpc>
            </a:pPr>
            <a:r>
              <a:rPr lang="de-DE" sz="1600" b="0" u="none" strike="noStrike">
                <a:solidFill>
                  <a:schemeClr val="dk2"/>
                </a:solidFill>
                <a:effectLst/>
                <a:uFillTx/>
                <a:latin typeface="Calibri"/>
                <a:ea typeface="Calibri"/>
              </a:rPr>
              <a:t>Spannend fand ich, viele Controller zu synchronisieren und zu kapseln.</a:t>
            </a:r>
            <a:endParaRPr lang="de-DE"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Titel"/>
          <p:cNvSpPr/>
          <p:nvPr/>
        </p:nvSpPr>
        <p:spPr>
          <a:xfrm>
            <a:off x="548640" y="365760"/>
            <a:ext cx="11061720" cy="729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dk1"/>
                </a:solidFill>
                <a:effectLst/>
                <a:uFillTx/>
                <a:latin typeface="Cambria"/>
                <a:ea typeface="Cambria"/>
              </a:rPr>
              <a:t>Architektur</a:t>
            </a:r>
            <a:endParaRPr lang="de-DE" sz="3600" b="0" u="none" strike="noStrike">
              <a:solidFill>
                <a:srgbClr val="000000"/>
              </a:solidFill>
              <a:effectLst/>
              <a:uFillTx/>
              <a:latin typeface="Arial"/>
            </a:endParaRPr>
          </a:p>
        </p:txBody>
      </p:sp>
      <p:sp>
        <p:nvSpPr>
          <p:cNvPr id="61" name="Eingabe 1"/>
          <p:cNvSpPr/>
          <p:nvPr/>
        </p:nvSpPr>
        <p:spPr>
          <a:xfrm>
            <a:off x="548640" y="1463040"/>
            <a:ext cx="3197880" cy="1094760"/>
          </a:xfrm>
          <a:prstGeom prst="roundRect">
            <a:avLst>
              <a:gd name="adj" fmla="val 10000"/>
            </a:avLst>
          </a:prstGeom>
          <a:solidFill>
            <a:srgbClr val="1FA896"/>
          </a:solidFill>
          <a:ln w="0">
            <a:noFill/>
          </a:ln>
        </p:spPr>
        <p:style>
          <a:lnRef idx="0"/>
          <a:fillRef idx="0"/>
          <a:effectRef idx="0"/>
          <a:fontRef idx="minor"/>
        </p:style>
        <p:txBody>
          <a:bodyPr lIns="152280" tIns="152280" rIns="152280" bIns="152280" anchor="ctr">
            <a:noAutofit/>
          </a:bodyPr>
          <a:p>
            <a:pPr defTabSz="914400">
              <a:lnSpc>
                <a:spcPct val="100000"/>
              </a:lnSpc>
              <a:tabLst>
                <a:tab pos="0" algn="l"/>
              </a:tabLst>
            </a:pPr>
            <a:r>
              <a:rPr lang="en-US" sz="1800" b="1" u="none" strike="noStrike">
                <a:solidFill>
                  <a:srgbClr val="FFFFFF"/>
                </a:solidFill>
                <a:effectLst/>
                <a:uFillTx/>
                <a:latin typeface="Calibri"/>
              </a:rPr>
              <a:t>Joy-Con + ESP32</a:t>
            </a:r>
            <a:endParaRPr lang="de-DE" sz="1800" b="0" u="none" strike="noStrike">
              <a:solidFill>
                <a:srgbClr val="FFFFFF"/>
              </a:solidFill>
              <a:effectLst/>
              <a:uFillTx/>
              <a:latin typeface="Arial"/>
            </a:endParaRPr>
          </a:p>
          <a:p>
            <a:pPr defTabSz="914400">
              <a:lnSpc>
                <a:spcPct val="100000"/>
              </a:lnSpc>
              <a:tabLst>
                <a:tab pos="0" algn="l"/>
              </a:tabLst>
            </a:pPr>
            <a:r>
              <a:rPr lang="en-US" sz="1400" b="0" u="none" strike="noStrike">
                <a:solidFill>
                  <a:srgbClr val="FFFFFF"/>
                </a:solidFill>
                <a:effectLst/>
                <a:uFillTx/>
                <a:latin typeface="Calibri"/>
              </a:rPr>
              <a:t>Switch 2 per Bluetooth LE, Scanner publisht Steuerzustand</a:t>
            </a:r>
            <a:endParaRPr lang="de-DE" sz="1400" b="0" u="none" strike="noStrike">
              <a:solidFill>
                <a:srgbClr val="FFFFFF"/>
              </a:solidFill>
              <a:effectLst/>
              <a:uFillTx/>
              <a:latin typeface="Arial"/>
            </a:endParaRPr>
          </a:p>
        </p:txBody>
      </p:sp>
      <p:sp>
        <p:nvSpPr>
          <p:cNvPr id="62" name="Pfeil Eingabe 1"/>
          <p:cNvSpPr/>
          <p:nvPr/>
        </p:nvSpPr>
        <p:spPr>
          <a:xfrm>
            <a:off x="2148840" y="2560320"/>
            <a:ext cx="360" cy="731520"/>
          </a:xfrm>
          <a:prstGeom prst="line">
            <a:avLst/>
          </a:prstGeom>
          <a:ln w="28575">
            <a:solidFill>
              <a:srgbClr val="7C7A99"/>
            </a:solidFill>
            <a:round/>
            <a:headEnd len="med" type="triangle" w="med"/>
            <a:tailEnd len="med" type="triangle" w="med"/>
          </a:ln>
        </p:spPr>
        <p:style>
          <a:lnRef idx="0"/>
          <a:fillRef idx="0"/>
          <a:effectRef idx="0"/>
          <a:fontRef idx="minor"/>
        </p:style>
        <p:txBody>
          <a:bodyPr lIns="0" tIns="45000" rIns="0" bIns="45000" anchor="t" anchorCtr="1">
            <a:noAutofit/>
          </a:bodyPr>
          <a:p>
            <a:endParaRPr lang="de-DE" sz="1800" b="0" u="none" strike="noStrike">
              <a:solidFill>
                <a:srgbClr val="000000"/>
              </a:solidFill>
              <a:effectLst/>
              <a:uFillTx/>
              <a:latin typeface="Arial"/>
            </a:endParaRPr>
          </a:p>
        </p:txBody>
      </p:sp>
      <p:sp>
        <p:nvSpPr>
          <p:cNvPr id="63" name="Eingabe 2"/>
          <p:cNvSpPr/>
          <p:nvPr/>
        </p:nvSpPr>
        <p:spPr>
          <a:xfrm>
            <a:off x="4480560" y="1463040"/>
            <a:ext cx="3197880" cy="1094760"/>
          </a:xfrm>
          <a:prstGeom prst="roundRect">
            <a:avLst>
              <a:gd name="adj" fmla="val 10000"/>
            </a:avLst>
          </a:prstGeom>
          <a:solidFill>
            <a:srgbClr val="1FA896"/>
          </a:solidFill>
          <a:ln w="0">
            <a:noFill/>
          </a:ln>
        </p:spPr>
        <p:style>
          <a:lnRef idx="0"/>
          <a:fillRef idx="0"/>
          <a:effectRef idx="0"/>
          <a:fontRef idx="minor"/>
        </p:style>
        <p:txBody>
          <a:bodyPr lIns="152280" tIns="152280" rIns="152280" bIns="152280" anchor="ctr">
            <a:noAutofit/>
          </a:bodyPr>
          <a:p>
            <a:pPr defTabSz="914400">
              <a:lnSpc>
                <a:spcPct val="100000"/>
              </a:lnSpc>
              <a:tabLst>
                <a:tab pos="0" algn="l"/>
              </a:tabLst>
            </a:pPr>
            <a:r>
              <a:rPr lang="en-US" sz="1800" b="1" u="none" strike="noStrike">
                <a:solidFill>
                  <a:srgbClr val="FFFFFF"/>
                </a:solidFill>
                <a:effectLst/>
                <a:uFillTx/>
                <a:latin typeface="Calibri"/>
              </a:rPr>
              <a:t>Bedienpanel (ESP32)</a:t>
            </a:r>
            <a:endParaRPr lang="de-DE" sz="1800" b="0" u="none" strike="noStrike">
              <a:solidFill>
                <a:srgbClr val="FFFFFF"/>
              </a:solidFill>
              <a:effectLst/>
              <a:uFillTx/>
              <a:latin typeface="Arial"/>
            </a:endParaRPr>
          </a:p>
          <a:p>
            <a:pPr defTabSz="914400">
              <a:lnSpc>
                <a:spcPct val="100000"/>
              </a:lnSpc>
              <a:tabLst>
                <a:tab pos="0" algn="l"/>
              </a:tabLst>
            </a:pPr>
            <a:r>
              <a:rPr lang="en-US" sz="1400" b="0" u="none" strike="noStrike">
                <a:solidFill>
                  <a:srgbClr val="FFFFFF"/>
                </a:solidFill>
                <a:effectLst/>
                <a:uFillTx/>
                <a:latin typeface="Calibri"/>
              </a:rPr>
              <a:t>Taster und Potentiometer für Achsen und Klaue</a:t>
            </a:r>
            <a:endParaRPr lang="de-DE" sz="1400" b="0" u="none" strike="noStrike">
              <a:solidFill>
                <a:srgbClr val="FFFFFF"/>
              </a:solidFill>
              <a:effectLst/>
              <a:uFillTx/>
              <a:latin typeface="Arial"/>
            </a:endParaRPr>
          </a:p>
        </p:txBody>
      </p:sp>
      <p:sp>
        <p:nvSpPr>
          <p:cNvPr id="64" name="Pfeil Eingabe 2"/>
          <p:cNvSpPr/>
          <p:nvPr/>
        </p:nvSpPr>
        <p:spPr>
          <a:xfrm>
            <a:off x="6080760" y="2560320"/>
            <a:ext cx="360" cy="731520"/>
          </a:xfrm>
          <a:prstGeom prst="line">
            <a:avLst/>
          </a:prstGeom>
          <a:ln w="28575">
            <a:solidFill>
              <a:srgbClr val="7C7A99"/>
            </a:solidFill>
            <a:round/>
            <a:headEnd len="med" type="triangle" w="med"/>
            <a:tailEnd len="med" type="triangle" w="med"/>
          </a:ln>
        </p:spPr>
        <p:style>
          <a:lnRef idx="0"/>
          <a:fillRef idx="0"/>
          <a:effectRef idx="0"/>
          <a:fontRef idx="minor"/>
        </p:style>
        <p:txBody>
          <a:bodyPr lIns="0" tIns="45000" rIns="0" bIns="45000" anchor="t" anchorCtr="1">
            <a:noAutofit/>
          </a:bodyPr>
          <a:p>
            <a:endParaRPr lang="de-DE" sz="1800" b="0" u="none" strike="noStrike">
              <a:solidFill>
                <a:srgbClr val="000000"/>
              </a:solidFill>
              <a:effectLst/>
              <a:uFillTx/>
              <a:latin typeface="Arial"/>
            </a:endParaRPr>
          </a:p>
        </p:txBody>
      </p:sp>
      <p:sp>
        <p:nvSpPr>
          <p:cNvPr id="65" name="Eingabe 3"/>
          <p:cNvSpPr/>
          <p:nvPr/>
        </p:nvSpPr>
        <p:spPr>
          <a:xfrm>
            <a:off x="8412480" y="1463040"/>
            <a:ext cx="3197880" cy="1094760"/>
          </a:xfrm>
          <a:prstGeom prst="roundRect">
            <a:avLst>
              <a:gd name="adj" fmla="val 10000"/>
            </a:avLst>
          </a:prstGeom>
          <a:solidFill>
            <a:schemeClr val="bg2"/>
          </a:solidFill>
          <a:ln w="0">
            <a:noFill/>
          </a:ln>
        </p:spPr>
        <p:style>
          <a:lnRef idx="0"/>
          <a:fillRef idx="0"/>
          <a:effectRef idx="0"/>
          <a:fontRef idx="minor"/>
        </p:style>
        <p:txBody>
          <a:bodyPr lIns="152280" tIns="152280" rIns="152280" bIns="152280" anchor="ctr">
            <a:noAutofit/>
          </a:bodyPr>
          <a:p>
            <a:pPr defTabSz="914400">
              <a:lnSpc>
                <a:spcPct val="100000"/>
              </a:lnSpc>
              <a:tabLst>
                <a:tab pos="0" algn="l"/>
              </a:tabLst>
            </a:pPr>
            <a:r>
              <a:rPr lang="en-US" sz="1800" b="1" u="none" strike="noStrike">
                <a:solidFill>
                  <a:schemeClr val="dk1"/>
                </a:solidFill>
                <a:effectLst/>
                <a:uFillTx/>
                <a:latin typeface="Calibri"/>
              </a:rPr>
              <a:t>Webinterface</a:t>
            </a:r>
            <a:endParaRPr lang="de-DE" sz="1800" b="0" u="none" strike="noStrike">
              <a:solidFill>
                <a:srgbClr val="000000"/>
              </a:solidFill>
              <a:effectLst/>
              <a:uFillTx/>
              <a:latin typeface="Arial"/>
            </a:endParaRPr>
          </a:p>
          <a:p>
            <a:pPr defTabSz="914400">
              <a:lnSpc>
                <a:spcPct val="100000"/>
              </a:lnSpc>
              <a:tabLst>
                <a:tab pos="0" algn="l"/>
              </a:tabLst>
            </a:pPr>
            <a:r>
              <a:rPr lang="en-US" sz="1400" b="0" u="none" strike="noStrike">
                <a:solidFill>
                  <a:schemeClr val="dk2"/>
                </a:solidFill>
                <a:effectLst/>
                <a:uFillTx/>
                <a:latin typeface="Calibri"/>
              </a:rPr>
              <a:t>Angular: Steuerung, Homing, Zielfahrten, Konsole</a:t>
            </a:r>
            <a:endParaRPr lang="de-DE" sz="1400" b="0" u="none" strike="noStrike">
              <a:solidFill>
                <a:srgbClr val="000000"/>
              </a:solidFill>
              <a:effectLst/>
              <a:uFillTx/>
              <a:latin typeface="Arial"/>
            </a:endParaRPr>
          </a:p>
        </p:txBody>
      </p:sp>
      <p:sp>
        <p:nvSpPr>
          <p:cNvPr id="66" name="Pfeil Eingabe 3"/>
          <p:cNvSpPr/>
          <p:nvPr/>
        </p:nvSpPr>
        <p:spPr>
          <a:xfrm>
            <a:off x="10012680" y="2560320"/>
            <a:ext cx="360" cy="731520"/>
          </a:xfrm>
          <a:prstGeom prst="line">
            <a:avLst/>
          </a:prstGeom>
          <a:ln w="28575">
            <a:solidFill>
              <a:srgbClr val="7C7A99"/>
            </a:solidFill>
            <a:round/>
            <a:headEnd len="med" type="triangle" w="med"/>
            <a:tailEnd len="med" type="triangle" w="med"/>
          </a:ln>
        </p:spPr>
        <p:style>
          <a:lnRef idx="0"/>
          <a:fillRef idx="0"/>
          <a:effectRef idx="0"/>
          <a:fontRef idx="minor"/>
        </p:style>
        <p:txBody>
          <a:bodyPr lIns="0" tIns="45000" rIns="0" bIns="45000" anchor="t" anchorCtr="1">
            <a:noAutofit/>
          </a:bodyPr>
          <a:p>
            <a:endParaRPr lang="de-DE" sz="1800" b="0" u="none" strike="noStrike">
              <a:solidFill>
                <a:srgbClr val="000000"/>
              </a:solidFill>
              <a:effectLst/>
              <a:uFillTx/>
              <a:latin typeface="Arial"/>
            </a:endParaRPr>
          </a:p>
        </p:txBody>
      </p:sp>
      <p:sp>
        <p:nvSpPr>
          <p:cNvPr id="67" name="MQTT-Broker"/>
          <p:cNvSpPr/>
          <p:nvPr/>
        </p:nvSpPr>
        <p:spPr>
          <a:xfrm>
            <a:off x="548640" y="3291840"/>
            <a:ext cx="11061720" cy="866160"/>
          </a:xfrm>
          <a:prstGeom prst="roundRect">
            <a:avLst>
              <a:gd name="adj" fmla="val 12632"/>
            </a:avLst>
          </a:prstGeom>
          <a:solidFill>
            <a:schemeClr val="accent1"/>
          </a:solidFill>
          <a:ln w="0">
            <a:noFill/>
          </a:ln>
        </p:spPr>
        <p:style>
          <a:lnRef idx="0"/>
          <a:fillRef idx="0"/>
          <a:effectRef idx="0"/>
          <a:fontRef idx="minor"/>
        </p:style>
        <p:txBody>
          <a:bodyPr lIns="1440" tIns="1440" rIns="1440" bIns="1440" anchor="ctr">
            <a:noAutofit/>
          </a:bodyPr>
          <a:p>
            <a:pPr algn="ctr" defTabSz="914400">
              <a:lnSpc>
                <a:spcPct val="100000"/>
              </a:lnSpc>
              <a:tabLst>
                <a:tab pos="0" algn="l"/>
              </a:tabLst>
            </a:pPr>
            <a:r>
              <a:rPr lang="en-US" sz="1800" b="1" u="none" strike="noStrike">
                <a:solidFill>
                  <a:schemeClr val="lt1"/>
                </a:solidFill>
                <a:effectLst/>
                <a:uFillTx/>
                <a:latin typeface="Calibri"/>
              </a:rPr>
              <a:t>MQTT-Broker (Eclipse Mosquitto)</a:t>
            </a:r>
            <a:endParaRPr lang="de-DE" sz="1800" b="0" u="none" strike="noStrike">
              <a:solidFill>
                <a:srgbClr val="FFFFFF"/>
              </a:solidFill>
              <a:effectLst/>
              <a:uFillTx/>
              <a:latin typeface="Arial"/>
            </a:endParaRPr>
          </a:p>
          <a:p>
            <a:pPr algn="ctr" defTabSz="914400">
              <a:lnSpc>
                <a:spcPct val="100000"/>
              </a:lnSpc>
              <a:tabLst>
                <a:tab pos="0" algn="l"/>
              </a:tabLst>
            </a:pPr>
            <a:r>
              <a:rPr lang="en-US" sz="1400" b="0" u="none" strike="noStrike">
                <a:solidFill>
                  <a:schemeClr val="lt1"/>
                </a:solidFill>
                <a:effectLst/>
                <a:uFillTx/>
                <a:latin typeface="Calibri"/>
              </a:rPr>
              <a:t>Alle Nachrichten unter clawmachine/&lt;gerät&gt;/…</a:t>
            </a:r>
            <a:endParaRPr lang="de-DE" sz="1400" b="0" u="none" strike="noStrike">
              <a:solidFill>
                <a:srgbClr val="FFFFFF"/>
              </a:solidFill>
              <a:effectLst/>
              <a:uFillTx/>
              <a:latin typeface="Arial"/>
            </a:endParaRPr>
          </a:p>
        </p:txBody>
      </p:sp>
      <p:sp>
        <p:nvSpPr>
          <p:cNvPr id="68" name="Komponente 1"/>
          <p:cNvSpPr/>
          <p:nvPr/>
        </p:nvSpPr>
        <p:spPr>
          <a:xfrm>
            <a:off x="548640" y="4892040"/>
            <a:ext cx="3197880" cy="1186200"/>
          </a:xfrm>
          <a:prstGeom prst="roundRect">
            <a:avLst>
              <a:gd name="adj" fmla="val 9231"/>
            </a:avLst>
          </a:prstGeom>
          <a:solidFill>
            <a:schemeClr val="accent4"/>
          </a:solidFill>
          <a:ln w="0">
            <a:noFill/>
          </a:ln>
        </p:spPr>
        <p:style>
          <a:lnRef idx="0"/>
          <a:fillRef idx="0"/>
          <a:effectRef idx="0"/>
          <a:fontRef idx="minor"/>
        </p:style>
        <p:txBody>
          <a:bodyPr lIns="152280" tIns="152280" rIns="152280" bIns="152280" anchor="ctr">
            <a:noAutofit/>
          </a:bodyPr>
          <a:p>
            <a:pPr defTabSz="914400">
              <a:lnSpc>
                <a:spcPct val="100000"/>
              </a:lnSpc>
              <a:tabLst>
                <a:tab pos="0" algn="l"/>
              </a:tabLst>
            </a:pPr>
            <a:r>
              <a:rPr lang="en-US" sz="1800" b="1" u="none" strike="noStrike">
                <a:solidFill>
                  <a:schemeClr val="lt1"/>
                </a:solidFill>
                <a:effectLst/>
                <a:uFillTx/>
                <a:latin typeface="Calibri"/>
              </a:rPr>
              <a:t>Python-Server</a:t>
            </a:r>
            <a:endParaRPr lang="de-DE" sz="1800" b="0" u="none" strike="noStrike">
              <a:solidFill>
                <a:srgbClr val="FFFFFF"/>
              </a:solidFill>
              <a:effectLst/>
              <a:uFillTx/>
              <a:latin typeface="Arial"/>
            </a:endParaRPr>
          </a:p>
          <a:p>
            <a:pPr defTabSz="914400">
              <a:lnSpc>
                <a:spcPct val="100000"/>
              </a:lnSpc>
              <a:tabLst>
                <a:tab pos="0" algn="l"/>
              </a:tabLst>
            </a:pPr>
            <a:r>
              <a:rPr lang="en-US" sz="1400" b="0" u="none" strike="noStrike">
                <a:solidFill>
                  <a:schemeClr val="lt1"/>
                </a:solidFill>
                <a:effectLst/>
                <a:uFillTx/>
                <a:latin typeface="Calibri"/>
              </a:rPr>
              <a:t>Einzige Stelle, die Motorbefehle sendet: Mapping, Homing, Positionierung</a:t>
            </a:r>
            <a:endParaRPr lang="de-DE" sz="1400" b="0" u="none" strike="noStrike">
              <a:solidFill>
                <a:srgbClr val="FFFFFF"/>
              </a:solidFill>
              <a:effectLst/>
              <a:uFillTx/>
              <a:latin typeface="Arial"/>
            </a:endParaRPr>
          </a:p>
        </p:txBody>
      </p:sp>
      <p:sp>
        <p:nvSpPr>
          <p:cNvPr id="69" name="Pfeil Komponente 1"/>
          <p:cNvSpPr/>
          <p:nvPr/>
        </p:nvSpPr>
        <p:spPr>
          <a:xfrm>
            <a:off x="2148840" y="4160520"/>
            <a:ext cx="360" cy="731520"/>
          </a:xfrm>
          <a:prstGeom prst="line">
            <a:avLst/>
          </a:prstGeom>
          <a:ln w="28575">
            <a:solidFill>
              <a:srgbClr val="7C7A99"/>
            </a:solidFill>
            <a:round/>
            <a:headEnd len="med" type="triangle" w="med"/>
            <a:tailEnd len="med" type="triangle" w="med"/>
          </a:ln>
        </p:spPr>
        <p:style>
          <a:lnRef idx="0"/>
          <a:fillRef idx="0"/>
          <a:effectRef idx="0"/>
          <a:fontRef idx="minor"/>
        </p:style>
        <p:txBody>
          <a:bodyPr lIns="0" tIns="45000" rIns="0" bIns="45000" anchor="t" anchorCtr="1">
            <a:noAutofit/>
          </a:bodyPr>
          <a:p>
            <a:endParaRPr lang="de-DE" sz="1800" b="0" u="none" strike="noStrike">
              <a:solidFill>
                <a:srgbClr val="000000"/>
              </a:solidFill>
              <a:effectLst/>
              <a:uFillTx/>
              <a:latin typeface="Arial"/>
            </a:endParaRPr>
          </a:p>
        </p:txBody>
      </p:sp>
      <p:sp>
        <p:nvSpPr>
          <p:cNvPr id="70" name="Komponente 2"/>
          <p:cNvSpPr/>
          <p:nvPr/>
        </p:nvSpPr>
        <p:spPr>
          <a:xfrm>
            <a:off x="4480560" y="4892040"/>
            <a:ext cx="3197880" cy="1186200"/>
          </a:xfrm>
          <a:prstGeom prst="roundRect">
            <a:avLst>
              <a:gd name="adj" fmla="val 9231"/>
            </a:avLst>
          </a:prstGeom>
          <a:solidFill>
            <a:schemeClr val="accent3"/>
          </a:solidFill>
          <a:ln w="0">
            <a:noFill/>
          </a:ln>
        </p:spPr>
        <p:style>
          <a:lnRef idx="0"/>
          <a:fillRef idx="0"/>
          <a:effectRef idx="0"/>
          <a:fontRef idx="minor"/>
        </p:style>
        <p:txBody>
          <a:bodyPr lIns="152280" tIns="152280" rIns="152280" bIns="152280" anchor="ctr">
            <a:noAutofit/>
          </a:bodyPr>
          <a:p>
            <a:pPr defTabSz="914400">
              <a:lnSpc>
                <a:spcPct val="100000"/>
              </a:lnSpc>
              <a:tabLst>
                <a:tab pos="0" algn="l"/>
              </a:tabLst>
            </a:pPr>
            <a:r>
              <a:rPr lang="en-US" sz="1800" b="1" u="none" strike="noStrike">
                <a:solidFill>
                  <a:schemeClr val="lt1"/>
                </a:solidFill>
                <a:effectLst/>
                <a:uFillTx/>
                <a:latin typeface="Calibri"/>
              </a:rPr>
              <a:t>Motor-Controller (ESP32)</a:t>
            </a:r>
            <a:endParaRPr lang="de-DE" sz="1800" b="0" u="none" strike="noStrike">
              <a:solidFill>
                <a:srgbClr val="FFFFFF"/>
              </a:solidFill>
              <a:effectLst/>
              <a:uFillTx/>
              <a:latin typeface="Arial"/>
            </a:endParaRPr>
          </a:p>
          <a:p>
            <a:pPr defTabSz="914400">
              <a:lnSpc>
                <a:spcPct val="100000"/>
              </a:lnSpc>
              <a:tabLst>
                <a:tab pos="0" algn="l"/>
              </a:tabLst>
            </a:pPr>
            <a:r>
              <a:rPr lang="en-US" sz="1400" b="0" u="none" strike="noStrike">
                <a:solidFill>
                  <a:schemeClr val="lt1"/>
                </a:solidFill>
                <a:effectLst/>
                <a:uFillTx/>
                <a:latin typeface="Calibri"/>
              </a:rPr>
              <a:t>X/Y/Z-Schrittmotoren und Klauen-Servo, Rampen, Schrittzähler</a:t>
            </a:r>
            <a:endParaRPr lang="de-DE" sz="1400" b="0" u="none" strike="noStrike">
              <a:solidFill>
                <a:srgbClr val="FFFFFF"/>
              </a:solidFill>
              <a:effectLst/>
              <a:uFillTx/>
              <a:latin typeface="Arial"/>
            </a:endParaRPr>
          </a:p>
        </p:txBody>
      </p:sp>
      <p:sp>
        <p:nvSpPr>
          <p:cNvPr id="71" name="Pfeil Komponente 2"/>
          <p:cNvSpPr/>
          <p:nvPr/>
        </p:nvSpPr>
        <p:spPr>
          <a:xfrm>
            <a:off x="6080760" y="4160520"/>
            <a:ext cx="360" cy="731520"/>
          </a:xfrm>
          <a:prstGeom prst="line">
            <a:avLst/>
          </a:prstGeom>
          <a:ln w="28575">
            <a:solidFill>
              <a:srgbClr val="7C7A99"/>
            </a:solidFill>
            <a:round/>
            <a:headEnd len="med" type="triangle" w="med"/>
            <a:tailEnd len="med" type="triangle" w="med"/>
          </a:ln>
        </p:spPr>
        <p:style>
          <a:lnRef idx="0"/>
          <a:fillRef idx="0"/>
          <a:effectRef idx="0"/>
          <a:fontRef idx="minor"/>
        </p:style>
        <p:txBody>
          <a:bodyPr lIns="0" tIns="45000" rIns="0" bIns="45000" anchor="t" anchorCtr="1">
            <a:noAutofit/>
          </a:bodyPr>
          <a:p>
            <a:endParaRPr lang="de-DE" sz="1800" b="0" u="none" strike="noStrike">
              <a:solidFill>
                <a:srgbClr val="000000"/>
              </a:solidFill>
              <a:effectLst/>
              <a:uFillTx/>
              <a:latin typeface="Arial"/>
            </a:endParaRPr>
          </a:p>
        </p:txBody>
      </p:sp>
      <p:sp>
        <p:nvSpPr>
          <p:cNvPr id="72" name="Komponente 3"/>
          <p:cNvSpPr/>
          <p:nvPr/>
        </p:nvSpPr>
        <p:spPr>
          <a:xfrm>
            <a:off x="8412480" y="4892040"/>
            <a:ext cx="3197880" cy="1186200"/>
          </a:xfrm>
          <a:prstGeom prst="roundRect">
            <a:avLst>
              <a:gd name="adj" fmla="val 9231"/>
            </a:avLst>
          </a:prstGeom>
          <a:solidFill>
            <a:schemeClr val="accent3"/>
          </a:solidFill>
          <a:ln w="0">
            <a:noFill/>
          </a:ln>
        </p:spPr>
        <p:style>
          <a:lnRef idx="0"/>
          <a:fillRef idx="0"/>
          <a:effectRef idx="0"/>
          <a:fontRef idx="minor"/>
        </p:style>
        <p:txBody>
          <a:bodyPr lIns="152280" tIns="152280" rIns="152280" bIns="152280" anchor="ctr">
            <a:noAutofit/>
          </a:bodyPr>
          <a:p>
            <a:pPr defTabSz="914400">
              <a:lnSpc>
                <a:spcPct val="100000"/>
              </a:lnSpc>
              <a:tabLst>
                <a:tab pos="0" algn="l"/>
              </a:tabLst>
            </a:pPr>
            <a:r>
              <a:rPr lang="en-US" sz="1800" b="1" u="none" strike="noStrike">
                <a:solidFill>
                  <a:schemeClr val="lt1"/>
                </a:solidFill>
                <a:effectLst/>
                <a:uFillTx/>
                <a:latin typeface="Calibri"/>
              </a:rPr>
              <a:t>Endstop-Board (ESP32)</a:t>
            </a:r>
            <a:endParaRPr lang="de-DE" sz="1800" b="0" u="none" strike="noStrike">
              <a:solidFill>
                <a:srgbClr val="FFFFFF"/>
              </a:solidFill>
              <a:effectLst/>
              <a:uFillTx/>
              <a:latin typeface="Arial"/>
            </a:endParaRPr>
          </a:p>
          <a:p>
            <a:pPr defTabSz="914400">
              <a:lnSpc>
                <a:spcPct val="100000"/>
              </a:lnSpc>
              <a:tabLst>
                <a:tab pos="0" algn="l"/>
              </a:tabLst>
            </a:pPr>
            <a:r>
              <a:rPr lang="en-US" sz="1400" b="0" u="none" strike="noStrike">
                <a:solidFill>
                  <a:schemeClr val="lt1"/>
                </a:solidFill>
                <a:effectLst/>
                <a:uFillTx/>
                <a:latin typeface="Calibri"/>
              </a:rPr>
              <a:t>Meldet Endschalter der drei Achsen</a:t>
            </a:r>
            <a:endParaRPr lang="de-DE" sz="1400" b="0" u="none" strike="noStrike">
              <a:solidFill>
                <a:srgbClr val="FFFFFF"/>
              </a:solidFill>
              <a:effectLst/>
              <a:uFillTx/>
              <a:latin typeface="Arial"/>
            </a:endParaRPr>
          </a:p>
        </p:txBody>
      </p:sp>
      <p:sp>
        <p:nvSpPr>
          <p:cNvPr id="73" name="Pfeil Komponente 3"/>
          <p:cNvSpPr/>
          <p:nvPr/>
        </p:nvSpPr>
        <p:spPr>
          <a:xfrm>
            <a:off x="10012680" y="4160520"/>
            <a:ext cx="360" cy="731520"/>
          </a:xfrm>
          <a:prstGeom prst="line">
            <a:avLst/>
          </a:prstGeom>
          <a:ln w="28575">
            <a:solidFill>
              <a:srgbClr val="7C7A99"/>
            </a:solidFill>
            <a:round/>
            <a:headEnd len="med" type="triangle" w="med"/>
            <a:tailEnd len="med" type="triangle" w="med"/>
          </a:ln>
        </p:spPr>
        <p:style>
          <a:lnRef idx="0"/>
          <a:fillRef idx="0"/>
          <a:effectRef idx="0"/>
          <a:fontRef idx="minor"/>
        </p:style>
        <p:txBody>
          <a:bodyPr lIns="0" tIns="45000" rIns="0" bIns="45000" anchor="t" anchorCtr="1">
            <a:noAutofit/>
          </a:bodyPr>
          <a:p>
            <a:endParaRPr lang="de-DE" sz="1800" b="0" u="none" strike="noStrike">
              <a:solidFill>
                <a:srgbClr val="000000"/>
              </a:solidFill>
              <a:effectLst/>
              <a:uFillTx/>
              <a:latin typeface="Arial"/>
            </a:endParaRPr>
          </a:p>
        </p:txBody>
      </p:sp>
      <p:sp>
        <p:nvSpPr>
          <p:cNvPr id="74" name="PlaceHolder 1"/>
          <p:cNvSpPr>
            <a:spLocks noGrp="1"/>
          </p:cNvSpPr>
          <p:nvPr>
            <p:ph type="sldNum" idx="7"/>
          </p:nvPr>
        </p:nvSpPr>
        <p:spPr>
          <a:xfrm>
            <a:off x="11155680" y="6400800"/>
            <a:ext cx="546120" cy="2718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100" b="0" u="none" strike="noStrike">
                <a:solidFill>
                  <a:schemeClr val="accent5"/>
                </a:solidFill>
                <a:effectLst/>
                <a:uFillTx/>
                <a:latin typeface="Calibri"/>
              </a:defRPr>
            </a:lvl1pPr>
          </a:lstStyle>
          <a:p>
            <a:pPr indent="0" algn="r" defTabSz="914400">
              <a:lnSpc>
                <a:spcPct val="100000"/>
              </a:lnSpc>
              <a:buNone/>
              <a:tabLst>
                <a:tab pos="0" algn="l"/>
              </a:tabLst>
            </a:pPr>
            <a:fld id="{83F7297C-0052-4D54-A430-9071CD4FF538}" type="slidenum">
              <a:rPr lang="en-US" sz="1100" b="0" u="none" strike="noStrike">
                <a:solidFill>
                  <a:schemeClr val="accent5"/>
                </a:solidFill>
                <a:effectLst/>
                <a:uFillTx/>
                <a:latin typeface="Calibri"/>
              </a:rPr>
              <a:t>&lt;Foliennummer&gt;</a:t>
            </a:fld>
            <a:endParaRPr lang="de-DE"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Titel"/>
          <p:cNvSpPr/>
          <p:nvPr/>
        </p:nvSpPr>
        <p:spPr>
          <a:xfrm>
            <a:off x="548640" y="365760"/>
            <a:ext cx="11062440" cy="729720"/>
          </a:xfrm>
          <a:prstGeom prst="rect">
            <a:avLst/>
          </a:prstGeom>
          <a:noFill/>
          <a:ln w="0">
            <a:noFill/>
          </a:ln>
        </p:spPr>
        <p:style>
          <a:lnRef idx="0"/>
          <a:fillRef idx="0"/>
          <a:effectRef idx="0"/>
          <a:fontRef idx="minor"/>
        </p:style>
        <p:txBody>
          <a:bodyPr lIns="0" tIns="0" rIns="0" bIns="0" anchor="ctr">
            <a:noAutofit/>
          </a:bodyPr>
          <a:p>
            <a:pPr>
              <a:lnSpc>
                <a:spcPct val="100000"/>
              </a:lnSpc>
            </a:pPr>
            <a:r>
              <a:rPr lang="de-DE" sz="3600" b="1" u="none" strike="noStrike">
                <a:solidFill>
                  <a:schemeClr val="dk1"/>
                </a:solidFill>
                <a:effectLst/>
                <a:uFillTx/>
                <a:latin typeface="Cambria"/>
                <a:ea typeface="Cambria"/>
              </a:rPr>
              <a:t>Warum wir es so aufgesetzt haben</a:t>
            </a:r>
            <a:endParaRPr lang="de-DE" sz="3600" b="0" u="none" strike="noStrike">
              <a:solidFill>
                <a:srgbClr val="000000"/>
              </a:solidFill>
              <a:effectLst/>
              <a:uFillTx/>
              <a:latin typeface="Arial"/>
            </a:endParaRPr>
          </a:p>
        </p:txBody>
      </p:sp>
      <p:sp>
        <p:nvSpPr>
          <p:cNvPr id="76" name="Karte 1"/>
          <p:cNvSpPr/>
          <p:nvPr/>
        </p:nvSpPr>
        <p:spPr>
          <a:xfrm>
            <a:off x="548640" y="1417320"/>
            <a:ext cx="3564360" cy="2238480"/>
          </a:xfrm>
          <a:prstGeom prst="roundRect">
            <a:avLst>
              <a:gd name="adj" fmla="val 4897"/>
            </a:avLst>
          </a:prstGeom>
          <a:solidFill>
            <a:schemeClr val="lt2"/>
          </a:solidFill>
          <a:ln w="0">
            <a:noFill/>
          </a:ln>
        </p:spPr>
        <p:style>
          <a:lnRef idx="0"/>
          <a:fillRef idx="0"/>
          <a:effectRef idx="0"/>
          <a:fontRef idx="minor"/>
        </p:style>
        <p:txBody>
          <a:bodyPr lIns="0" tIns="0" rIns="0" bIns="0" anchor="t">
            <a:noAutofit/>
          </a:bodyPr>
          <a:p>
            <a:endParaRPr lang="de-DE" sz="1800" b="0" u="none" strike="noStrike">
              <a:solidFill>
                <a:srgbClr val="000000"/>
              </a:solidFill>
              <a:effectLst/>
              <a:uFillTx/>
              <a:latin typeface="Arial"/>
            </a:endParaRPr>
          </a:p>
        </p:txBody>
      </p:sp>
      <p:sp>
        <p:nvSpPr>
          <p:cNvPr id="77" name="Nummer 1"/>
          <p:cNvSpPr/>
          <p:nvPr/>
        </p:nvSpPr>
        <p:spPr>
          <a:xfrm>
            <a:off x="822960" y="1691640"/>
            <a:ext cx="638280" cy="638280"/>
          </a:xfrm>
          <a:prstGeom prst="ellipse">
            <a:avLst/>
          </a:prstGeom>
          <a:solidFill>
            <a:schemeClr val="accent1"/>
          </a:solidFill>
          <a:ln w="0">
            <a:noFill/>
          </a:ln>
        </p:spPr>
        <p:style>
          <a:lnRef idx="0"/>
          <a:fillRef idx="0"/>
          <a:effectRef idx="0"/>
          <a:fontRef idx="minor"/>
        </p:style>
        <p:txBody>
          <a:bodyPr lIns="0" tIns="0" rIns="0" bIns="0" anchor="ctr">
            <a:noAutofit/>
          </a:bodyPr>
          <a:p>
            <a:pPr algn="ctr">
              <a:lnSpc>
                <a:spcPct val="100000"/>
              </a:lnSpc>
            </a:pPr>
            <a:r>
              <a:rPr lang="de-DE" sz="1800" b="1" u="none" strike="noStrike">
                <a:solidFill>
                  <a:schemeClr val="lt1"/>
                </a:solidFill>
                <a:effectLst/>
                <a:uFillTx/>
                <a:latin typeface="Calibri"/>
                <a:ea typeface="Calibri"/>
              </a:rPr>
              <a:t>1</a:t>
            </a:r>
            <a:endParaRPr lang="de-DE" sz="1800" b="0" u="none" strike="noStrike">
              <a:solidFill>
                <a:srgbClr val="FFFFFF"/>
              </a:solidFill>
              <a:effectLst/>
              <a:uFillTx/>
              <a:latin typeface="Arial"/>
            </a:endParaRPr>
          </a:p>
        </p:txBody>
      </p:sp>
      <p:sp>
        <p:nvSpPr>
          <p:cNvPr id="78" name="Karte Titel 1"/>
          <p:cNvSpPr/>
          <p:nvPr/>
        </p:nvSpPr>
        <p:spPr>
          <a:xfrm>
            <a:off x="1645920" y="1691640"/>
            <a:ext cx="2284200" cy="638280"/>
          </a:xfrm>
          <a:prstGeom prst="rect">
            <a:avLst/>
          </a:prstGeom>
          <a:noFill/>
          <a:ln w="0">
            <a:noFill/>
          </a:ln>
        </p:spPr>
        <p:style>
          <a:lnRef idx="0"/>
          <a:fillRef idx="0"/>
          <a:effectRef idx="0"/>
          <a:fontRef idx="minor"/>
        </p:style>
        <p:txBody>
          <a:bodyPr lIns="0" tIns="0" rIns="0" bIns="0" anchor="ctr">
            <a:noAutofit/>
          </a:bodyPr>
          <a:p>
            <a:pPr>
              <a:lnSpc>
                <a:spcPct val="100000"/>
              </a:lnSpc>
            </a:pPr>
            <a:r>
              <a:rPr lang="de-DE" sz="1800" b="1" u="none" strike="noStrike">
                <a:solidFill>
                  <a:schemeClr val="dk1"/>
                </a:solidFill>
                <a:effectLst/>
                <a:uFillTx/>
                <a:latin typeface="Calibri"/>
                <a:ea typeface="Calibri"/>
              </a:rPr>
              <a:t>Entkopplung</a:t>
            </a:r>
            <a:endParaRPr lang="de-DE" sz="1800" b="0" u="none" strike="noStrike">
              <a:solidFill>
                <a:srgbClr val="000000"/>
              </a:solidFill>
              <a:effectLst/>
              <a:uFillTx/>
              <a:latin typeface="Arial"/>
            </a:endParaRPr>
          </a:p>
        </p:txBody>
      </p:sp>
      <p:sp>
        <p:nvSpPr>
          <p:cNvPr id="79" name="Karte Text 1"/>
          <p:cNvSpPr/>
          <p:nvPr/>
        </p:nvSpPr>
        <p:spPr>
          <a:xfrm>
            <a:off x="822960" y="2468880"/>
            <a:ext cx="3015720" cy="1049760"/>
          </a:xfrm>
          <a:prstGeom prst="rect">
            <a:avLst/>
          </a:prstGeom>
          <a:noFill/>
          <a:ln w="0">
            <a:noFill/>
          </a:ln>
        </p:spPr>
        <p:style>
          <a:lnRef idx="0"/>
          <a:fillRef idx="0"/>
          <a:effectRef idx="0"/>
          <a:fontRef idx="minor"/>
        </p:style>
        <p:txBody>
          <a:bodyPr lIns="0" tIns="0" rIns="0" bIns="0" anchor="t">
            <a:noAutofit/>
          </a:bodyPr>
          <a:p>
            <a:pPr>
              <a:lnSpc>
                <a:spcPct val="100000"/>
              </a:lnSpc>
            </a:pPr>
            <a:r>
              <a:rPr lang="de-DE" sz="1400" b="0" u="none" strike="noStrike">
                <a:solidFill>
                  <a:schemeClr val="dk2"/>
                </a:solidFill>
                <a:effectLst/>
                <a:uFillTx/>
                <a:latin typeface="Calibri"/>
                <a:ea typeface="Calibri"/>
              </a:rPr>
              <a:t>Jedes Gerät hat eine Aufgabe und kennt nur MQTT-Topics. Eine Firmware lässt sich tauschen, ohne die anderen anzufassen.</a:t>
            </a:r>
            <a:endParaRPr lang="de-DE" sz="1400" b="0" u="none" strike="noStrike">
              <a:solidFill>
                <a:srgbClr val="000000"/>
              </a:solidFill>
              <a:effectLst/>
              <a:uFillTx/>
              <a:latin typeface="Arial"/>
            </a:endParaRPr>
          </a:p>
        </p:txBody>
      </p:sp>
      <p:sp>
        <p:nvSpPr>
          <p:cNvPr id="80" name="Karte 2"/>
          <p:cNvSpPr/>
          <p:nvPr/>
        </p:nvSpPr>
        <p:spPr>
          <a:xfrm>
            <a:off x="4297680" y="1417320"/>
            <a:ext cx="3564360" cy="2238480"/>
          </a:xfrm>
          <a:prstGeom prst="roundRect">
            <a:avLst>
              <a:gd name="adj" fmla="val 4897"/>
            </a:avLst>
          </a:prstGeom>
          <a:solidFill>
            <a:schemeClr val="lt2"/>
          </a:solidFill>
          <a:ln w="0">
            <a:noFill/>
          </a:ln>
        </p:spPr>
        <p:style>
          <a:lnRef idx="0"/>
          <a:fillRef idx="0"/>
          <a:effectRef idx="0"/>
          <a:fontRef idx="minor"/>
        </p:style>
        <p:txBody>
          <a:bodyPr lIns="0" tIns="0" rIns="0" bIns="0" anchor="t">
            <a:noAutofit/>
          </a:bodyPr>
          <a:p>
            <a:endParaRPr lang="de-DE" sz="1800" b="0" u="none" strike="noStrike">
              <a:solidFill>
                <a:srgbClr val="000000"/>
              </a:solidFill>
              <a:effectLst/>
              <a:uFillTx/>
              <a:latin typeface="Arial"/>
            </a:endParaRPr>
          </a:p>
        </p:txBody>
      </p:sp>
      <p:sp>
        <p:nvSpPr>
          <p:cNvPr id="81" name="Nummer 2"/>
          <p:cNvSpPr/>
          <p:nvPr/>
        </p:nvSpPr>
        <p:spPr>
          <a:xfrm>
            <a:off x="4572000" y="1691640"/>
            <a:ext cx="638280" cy="638280"/>
          </a:xfrm>
          <a:prstGeom prst="ellipse">
            <a:avLst/>
          </a:prstGeom>
          <a:solidFill>
            <a:schemeClr val="accent4"/>
          </a:solidFill>
          <a:ln w="0">
            <a:noFill/>
          </a:ln>
        </p:spPr>
        <p:style>
          <a:lnRef idx="0"/>
          <a:fillRef idx="0"/>
          <a:effectRef idx="0"/>
          <a:fontRef idx="minor"/>
        </p:style>
        <p:txBody>
          <a:bodyPr lIns="0" tIns="0" rIns="0" bIns="0" anchor="ctr">
            <a:noAutofit/>
          </a:bodyPr>
          <a:p>
            <a:pPr algn="ctr">
              <a:lnSpc>
                <a:spcPct val="100000"/>
              </a:lnSpc>
            </a:pPr>
            <a:r>
              <a:rPr lang="de-DE" sz="1800" b="1" u="none" strike="noStrike">
                <a:solidFill>
                  <a:schemeClr val="lt1"/>
                </a:solidFill>
                <a:effectLst/>
                <a:uFillTx/>
                <a:latin typeface="Calibri"/>
                <a:ea typeface="Calibri"/>
              </a:rPr>
              <a:t>2</a:t>
            </a:r>
            <a:endParaRPr lang="de-DE" sz="1800" b="0" u="none" strike="noStrike">
              <a:solidFill>
                <a:srgbClr val="FFFFFF"/>
              </a:solidFill>
              <a:effectLst/>
              <a:uFillTx/>
              <a:latin typeface="Arial"/>
            </a:endParaRPr>
          </a:p>
        </p:txBody>
      </p:sp>
      <p:sp>
        <p:nvSpPr>
          <p:cNvPr id="82" name="Karte Titel 2"/>
          <p:cNvSpPr/>
          <p:nvPr/>
        </p:nvSpPr>
        <p:spPr>
          <a:xfrm>
            <a:off x="5394960" y="1691640"/>
            <a:ext cx="2284200" cy="638280"/>
          </a:xfrm>
          <a:prstGeom prst="rect">
            <a:avLst/>
          </a:prstGeom>
          <a:noFill/>
          <a:ln w="0">
            <a:noFill/>
          </a:ln>
        </p:spPr>
        <p:style>
          <a:lnRef idx="0"/>
          <a:fillRef idx="0"/>
          <a:effectRef idx="0"/>
          <a:fontRef idx="minor"/>
        </p:style>
        <p:txBody>
          <a:bodyPr lIns="0" tIns="0" rIns="0" bIns="0" anchor="ctr">
            <a:noAutofit/>
          </a:bodyPr>
          <a:p>
            <a:pPr>
              <a:lnSpc>
                <a:spcPct val="100000"/>
              </a:lnSpc>
            </a:pPr>
            <a:r>
              <a:rPr lang="de-DE" sz="1800" b="1" u="none" strike="noStrike">
                <a:solidFill>
                  <a:schemeClr val="dk1"/>
                </a:solidFill>
                <a:effectLst/>
                <a:uFillTx/>
                <a:latin typeface="Calibri"/>
                <a:ea typeface="Calibri"/>
              </a:rPr>
              <a:t>Ein Schreiber</a:t>
            </a:r>
            <a:endParaRPr lang="de-DE" sz="1800" b="0" u="none" strike="noStrike">
              <a:solidFill>
                <a:srgbClr val="000000"/>
              </a:solidFill>
              <a:effectLst/>
              <a:uFillTx/>
              <a:latin typeface="Arial"/>
            </a:endParaRPr>
          </a:p>
        </p:txBody>
      </p:sp>
      <p:sp>
        <p:nvSpPr>
          <p:cNvPr id="83" name="Karte Text 2"/>
          <p:cNvSpPr/>
          <p:nvPr/>
        </p:nvSpPr>
        <p:spPr>
          <a:xfrm>
            <a:off x="4572000" y="2468880"/>
            <a:ext cx="3015720" cy="1049760"/>
          </a:xfrm>
          <a:prstGeom prst="rect">
            <a:avLst/>
          </a:prstGeom>
          <a:noFill/>
          <a:ln w="0">
            <a:noFill/>
          </a:ln>
        </p:spPr>
        <p:style>
          <a:lnRef idx="0"/>
          <a:fillRef idx="0"/>
          <a:effectRef idx="0"/>
          <a:fontRef idx="minor"/>
        </p:style>
        <p:txBody>
          <a:bodyPr lIns="0" tIns="0" rIns="0" bIns="0" anchor="t">
            <a:noAutofit/>
          </a:bodyPr>
          <a:p>
            <a:pPr>
              <a:lnSpc>
                <a:spcPct val="100000"/>
              </a:lnSpc>
            </a:pPr>
            <a:r>
              <a:rPr lang="de-DE" sz="1400" b="0" u="none" strike="noStrike">
                <a:solidFill>
                  <a:schemeClr val="dk2"/>
                </a:solidFill>
                <a:effectLst/>
                <a:uFillTx/>
                <a:latin typeface="Calibri"/>
                <a:ea typeface="Calibri"/>
              </a:rPr>
              <a:t>Nur der Server publiziert Motorbefehle. Eingabequellen lassen sich umschalten, ohne dass sich zwei Quellen in die Quere kommen.</a:t>
            </a:r>
            <a:endParaRPr lang="de-DE" sz="1400" b="0" u="none" strike="noStrike">
              <a:solidFill>
                <a:srgbClr val="000000"/>
              </a:solidFill>
              <a:effectLst/>
              <a:uFillTx/>
              <a:latin typeface="Arial"/>
            </a:endParaRPr>
          </a:p>
        </p:txBody>
      </p:sp>
      <p:sp>
        <p:nvSpPr>
          <p:cNvPr id="84" name="Karte 3"/>
          <p:cNvSpPr/>
          <p:nvPr/>
        </p:nvSpPr>
        <p:spPr>
          <a:xfrm>
            <a:off x="8046720" y="1417320"/>
            <a:ext cx="3564360" cy="2238480"/>
          </a:xfrm>
          <a:prstGeom prst="roundRect">
            <a:avLst>
              <a:gd name="adj" fmla="val 4897"/>
            </a:avLst>
          </a:prstGeom>
          <a:solidFill>
            <a:schemeClr val="lt2"/>
          </a:solidFill>
          <a:ln w="0">
            <a:noFill/>
          </a:ln>
        </p:spPr>
        <p:style>
          <a:lnRef idx="0"/>
          <a:fillRef idx="0"/>
          <a:effectRef idx="0"/>
          <a:fontRef idx="minor"/>
        </p:style>
        <p:txBody>
          <a:bodyPr lIns="0" tIns="0" rIns="0" bIns="0" anchor="t">
            <a:noAutofit/>
          </a:bodyPr>
          <a:p>
            <a:endParaRPr lang="de-DE" sz="1800" b="0" u="none" strike="noStrike">
              <a:solidFill>
                <a:srgbClr val="000000"/>
              </a:solidFill>
              <a:effectLst/>
              <a:uFillTx/>
              <a:latin typeface="Arial"/>
            </a:endParaRPr>
          </a:p>
        </p:txBody>
      </p:sp>
      <p:sp>
        <p:nvSpPr>
          <p:cNvPr id="85" name="Nummer 3"/>
          <p:cNvSpPr/>
          <p:nvPr/>
        </p:nvSpPr>
        <p:spPr>
          <a:xfrm>
            <a:off x="8321040" y="1691640"/>
            <a:ext cx="638280" cy="638280"/>
          </a:xfrm>
          <a:prstGeom prst="ellipse">
            <a:avLst/>
          </a:prstGeom>
          <a:solidFill>
            <a:schemeClr val="accent3"/>
          </a:solidFill>
          <a:ln w="0">
            <a:noFill/>
          </a:ln>
        </p:spPr>
        <p:style>
          <a:lnRef idx="0"/>
          <a:fillRef idx="0"/>
          <a:effectRef idx="0"/>
          <a:fontRef idx="minor"/>
        </p:style>
        <p:txBody>
          <a:bodyPr lIns="0" tIns="0" rIns="0" bIns="0" anchor="ctr">
            <a:noAutofit/>
          </a:bodyPr>
          <a:p>
            <a:pPr algn="ctr">
              <a:lnSpc>
                <a:spcPct val="100000"/>
              </a:lnSpc>
            </a:pPr>
            <a:r>
              <a:rPr lang="de-DE" sz="1800" b="1" u="none" strike="noStrike">
                <a:solidFill>
                  <a:schemeClr val="lt1"/>
                </a:solidFill>
                <a:effectLst/>
                <a:uFillTx/>
                <a:latin typeface="Calibri"/>
                <a:ea typeface="Calibri"/>
              </a:rPr>
              <a:t>3</a:t>
            </a:r>
            <a:endParaRPr lang="de-DE" sz="1800" b="0" u="none" strike="noStrike">
              <a:solidFill>
                <a:srgbClr val="FFFFFF"/>
              </a:solidFill>
              <a:effectLst/>
              <a:uFillTx/>
              <a:latin typeface="Arial"/>
            </a:endParaRPr>
          </a:p>
        </p:txBody>
      </p:sp>
      <p:sp>
        <p:nvSpPr>
          <p:cNvPr id="86" name="Karte Titel 3"/>
          <p:cNvSpPr/>
          <p:nvPr/>
        </p:nvSpPr>
        <p:spPr>
          <a:xfrm>
            <a:off x="9144000" y="1691640"/>
            <a:ext cx="2284200" cy="638280"/>
          </a:xfrm>
          <a:prstGeom prst="rect">
            <a:avLst/>
          </a:prstGeom>
          <a:noFill/>
          <a:ln w="0">
            <a:noFill/>
          </a:ln>
        </p:spPr>
        <p:style>
          <a:lnRef idx="0"/>
          <a:fillRef idx="0"/>
          <a:effectRef idx="0"/>
          <a:fontRef idx="minor"/>
        </p:style>
        <p:txBody>
          <a:bodyPr lIns="0" tIns="0" rIns="0" bIns="0" anchor="ctr">
            <a:noAutofit/>
          </a:bodyPr>
          <a:p>
            <a:pPr>
              <a:lnSpc>
                <a:spcPct val="100000"/>
              </a:lnSpc>
            </a:pPr>
            <a:r>
              <a:rPr lang="de-DE" sz="1800" b="1" u="none" strike="noStrike">
                <a:solidFill>
                  <a:schemeClr val="dk1"/>
                </a:solidFill>
                <a:effectLst/>
                <a:uFillTx/>
                <a:latin typeface="Calibri"/>
                <a:ea typeface="Calibri"/>
              </a:rPr>
              <a:t>Automatische Anmeldung</a:t>
            </a:r>
            <a:endParaRPr lang="de-DE" sz="1800" b="0" u="none" strike="noStrike">
              <a:solidFill>
                <a:srgbClr val="000000"/>
              </a:solidFill>
              <a:effectLst/>
              <a:uFillTx/>
              <a:latin typeface="Arial"/>
            </a:endParaRPr>
          </a:p>
        </p:txBody>
      </p:sp>
      <p:sp>
        <p:nvSpPr>
          <p:cNvPr id="87" name="Karte Text 3"/>
          <p:cNvSpPr/>
          <p:nvPr/>
        </p:nvSpPr>
        <p:spPr>
          <a:xfrm>
            <a:off x="8321040" y="2468880"/>
            <a:ext cx="3015720" cy="1049760"/>
          </a:xfrm>
          <a:prstGeom prst="rect">
            <a:avLst/>
          </a:prstGeom>
          <a:noFill/>
          <a:ln w="0">
            <a:noFill/>
          </a:ln>
        </p:spPr>
        <p:style>
          <a:lnRef idx="0"/>
          <a:fillRef idx="0"/>
          <a:effectRef idx="0"/>
          <a:fontRef idx="minor"/>
        </p:style>
        <p:txBody>
          <a:bodyPr lIns="0" tIns="0" rIns="0" bIns="0" anchor="t">
            <a:noAutofit/>
          </a:bodyPr>
          <a:p>
            <a:pPr>
              <a:lnSpc>
                <a:spcPct val="100000"/>
              </a:lnSpc>
            </a:pPr>
            <a:r>
              <a:rPr lang="de-DE" sz="1400" b="0" u="none" strike="noStrike">
                <a:solidFill>
                  <a:schemeClr val="dk2"/>
                </a:solidFill>
                <a:effectLst/>
                <a:uFillTx/>
                <a:latin typeface="Calibri"/>
                <a:ea typeface="Calibri"/>
              </a:rPr>
              <a:t>Ein neues Gerät meldet sich mit seiner ersten Nachricht an. Der Server legt es selbst an und bestätigt es.</a:t>
            </a:r>
            <a:endParaRPr lang="de-DE" sz="1400" b="0" u="none" strike="noStrike">
              <a:solidFill>
                <a:srgbClr val="000000"/>
              </a:solidFill>
              <a:effectLst/>
              <a:uFillTx/>
              <a:latin typeface="Arial"/>
            </a:endParaRPr>
          </a:p>
        </p:txBody>
      </p:sp>
      <p:sp>
        <p:nvSpPr>
          <p:cNvPr id="88" name="Karte 4"/>
          <p:cNvSpPr/>
          <p:nvPr/>
        </p:nvSpPr>
        <p:spPr>
          <a:xfrm>
            <a:off x="548640" y="3840480"/>
            <a:ext cx="5438880" cy="2238480"/>
          </a:xfrm>
          <a:prstGeom prst="roundRect">
            <a:avLst>
              <a:gd name="adj" fmla="val 4897"/>
            </a:avLst>
          </a:prstGeom>
          <a:solidFill>
            <a:schemeClr val="lt2"/>
          </a:solidFill>
          <a:ln w="0">
            <a:noFill/>
          </a:ln>
        </p:spPr>
        <p:style>
          <a:lnRef idx="0"/>
          <a:fillRef idx="0"/>
          <a:effectRef idx="0"/>
          <a:fontRef idx="minor"/>
        </p:style>
        <p:txBody>
          <a:bodyPr lIns="0" tIns="0" rIns="0" bIns="0" anchor="t">
            <a:noAutofit/>
          </a:bodyPr>
          <a:p>
            <a:endParaRPr lang="de-DE" sz="1800" b="0" u="none" strike="noStrike">
              <a:solidFill>
                <a:srgbClr val="000000"/>
              </a:solidFill>
              <a:effectLst/>
              <a:uFillTx/>
              <a:latin typeface="Arial"/>
            </a:endParaRPr>
          </a:p>
        </p:txBody>
      </p:sp>
      <p:sp>
        <p:nvSpPr>
          <p:cNvPr id="89" name="Nummer 4"/>
          <p:cNvSpPr/>
          <p:nvPr/>
        </p:nvSpPr>
        <p:spPr>
          <a:xfrm>
            <a:off x="822960" y="4114800"/>
            <a:ext cx="638280" cy="638280"/>
          </a:xfrm>
          <a:prstGeom prst="ellipse">
            <a:avLst/>
          </a:prstGeom>
          <a:solidFill>
            <a:schemeClr val="accent2"/>
          </a:solidFill>
          <a:ln w="0">
            <a:noFill/>
          </a:ln>
        </p:spPr>
        <p:style>
          <a:lnRef idx="0"/>
          <a:fillRef idx="0"/>
          <a:effectRef idx="0"/>
          <a:fontRef idx="minor"/>
        </p:style>
        <p:txBody>
          <a:bodyPr lIns="0" tIns="0" rIns="0" bIns="0" anchor="ctr">
            <a:noAutofit/>
          </a:bodyPr>
          <a:p>
            <a:pPr algn="ctr">
              <a:lnSpc>
                <a:spcPct val="100000"/>
              </a:lnSpc>
            </a:pPr>
            <a:r>
              <a:rPr lang="de-DE" sz="1800" b="1" u="none" strike="noStrike">
                <a:solidFill>
                  <a:schemeClr val="dk1"/>
                </a:solidFill>
                <a:effectLst/>
                <a:uFillTx/>
                <a:latin typeface="Calibri"/>
                <a:ea typeface="Calibri"/>
              </a:rPr>
              <a:t>4</a:t>
            </a:r>
            <a:endParaRPr lang="de-DE" sz="1800" b="0" u="none" strike="noStrike">
              <a:solidFill>
                <a:srgbClr val="000000"/>
              </a:solidFill>
              <a:effectLst/>
              <a:uFillTx/>
              <a:latin typeface="Arial"/>
            </a:endParaRPr>
          </a:p>
        </p:txBody>
      </p:sp>
      <p:sp>
        <p:nvSpPr>
          <p:cNvPr id="90" name="Karte Titel 4"/>
          <p:cNvSpPr/>
          <p:nvPr/>
        </p:nvSpPr>
        <p:spPr>
          <a:xfrm>
            <a:off x="1645920" y="4114800"/>
            <a:ext cx="4158720" cy="638280"/>
          </a:xfrm>
          <a:prstGeom prst="rect">
            <a:avLst/>
          </a:prstGeom>
          <a:noFill/>
          <a:ln w="0">
            <a:noFill/>
          </a:ln>
        </p:spPr>
        <p:style>
          <a:lnRef idx="0"/>
          <a:fillRef idx="0"/>
          <a:effectRef idx="0"/>
          <a:fontRef idx="minor"/>
        </p:style>
        <p:txBody>
          <a:bodyPr lIns="0" tIns="0" rIns="0" bIns="0" anchor="ctr">
            <a:noAutofit/>
          </a:bodyPr>
          <a:p>
            <a:pPr>
              <a:lnSpc>
                <a:spcPct val="100000"/>
              </a:lnSpc>
            </a:pPr>
            <a:r>
              <a:rPr lang="de-DE" sz="2200" b="1" u="none" strike="noStrike">
                <a:solidFill>
                  <a:schemeClr val="dk1"/>
                </a:solidFill>
                <a:effectLst/>
                <a:uFillTx/>
                <a:latin typeface="Calibri"/>
                <a:ea typeface="Calibri"/>
              </a:rPr>
              <a:t>Gemeinsamer Code</a:t>
            </a:r>
            <a:endParaRPr lang="de-DE" sz="2200" b="0" u="none" strike="noStrike">
              <a:solidFill>
                <a:srgbClr val="000000"/>
              </a:solidFill>
              <a:effectLst/>
              <a:uFillTx/>
              <a:latin typeface="Arial"/>
            </a:endParaRPr>
          </a:p>
        </p:txBody>
      </p:sp>
      <p:sp>
        <p:nvSpPr>
          <p:cNvPr id="91" name="Karte Text 4"/>
          <p:cNvSpPr/>
          <p:nvPr/>
        </p:nvSpPr>
        <p:spPr>
          <a:xfrm>
            <a:off x="822960" y="4892040"/>
            <a:ext cx="4890240" cy="1049760"/>
          </a:xfrm>
          <a:prstGeom prst="rect">
            <a:avLst/>
          </a:prstGeom>
          <a:noFill/>
          <a:ln w="0">
            <a:noFill/>
          </a:ln>
        </p:spPr>
        <p:style>
          <a:lnRef idx="0"/>
          <a:fillRef idx="0"/>
          <a:effectRef idx="0"/>
          <a:fontRef idx="minor"/>
        </p:style>
        <p:txBody>
          <a:bodyPr lIns="0" tIns="0" rIns="0" bIns="0" anchor="t">
            <a:noAutofit/>
          </a:bodyPr>
          <a:p>
            <a:pPr>
              <a:lnSpc>
                <a:spcPct val="100000"/>
              </a:lnSpc>
            </a:pPr>
            <a:r>
              <a:rPr lang="de-DE" sz="1400" b="0" u="none" strike="noStrike">
                <a:solidFill>
                  <a:schemeClr val="dk2"/>
                </a:solidFill>
                <a:effectLst/>
                <a:uFillTx/>
                <a:latin typeface="Calibri"/>
                <a:ea typeface="Calibri"/>
              </a:rPr>
              <a:t>WiFi- und MQTT-Verbindung stecken in einer Bibliothek für alle ESP32-Firmwares.</a:t>
            </a:r>
            <a:endParaRPr lang="de-DE" sz="1400" b="0" u="none" strike="noStrike">
              <a:solidFill>
                <a:srgbClr val="000000"/>
              </a:solidFill>
              <a:effectLst/>
              <a:uFillTx/>
              <a:latin typeface="Arial"/>
            </a:endParaRPr>
          </a:p>
        </p:txBody>
      </p:sp>
      <p:sp>
        <p:nvSpPr>
          <p:cNvPr id="92" name="Karte 5"/>
          <p:cNvSpPr/>
          <p:nvPr/>
        </p:nvSpPr>
        <p:spPr>
          <a:xfrm>
            <a:off x="6172200" y="3840480"/>
            <a:ext cx="5438880" cy="2238480"/>
          </a:xfrm>
          <a:prstGeom prst="roundRect">
            <a:avLst>
              <a:gd name="adj" fmla="val 4897"/>
            </a:avLst>
          </a:prstGeom>
          <a:solidFill>
            <a:schemeClr val="lt2"/>
          </a:solidFill>
          <a:ln w="0">
            <a:noFill/>
          </a:ln>
        </p:spPr>
        <p:style>
          <a:lnRef idx="0"/>
          <a:fillRef idx="0"/>
          <a:effectRef idx="0"/>
          <a:fontRef idx="minor"/>
        </p:style>
        <p:txBody>
          <a:bodyPr lIns="0" tIns="0" rIns="0" bIns="0" anchor="t">
            <a:noAutofit/>
          </a:bodyPr>
          <a:p>
            <a:endParaRPr lang="de-DE" sz="1800" b="0" u="none" strike="noStrike">
              <a:solidFill>
                <a:srgbClr val="000000"/>
              </a:solidFill>
              <a:effectLst/>
              <a:uFillTx/>
              <a:latin typeface="Arial"/>
            </a:endParaRPr>
          </a:p>
        </p:txBody>
      </p:sp>
      <p:sp>
        <p:nvSpPr>
          <p:cNvPr id="93" name="Nummer 5"/>
          <p:cNvSpPr/>
          <p:nvPr/>
        </p:nvSpPr>
        <p:spPr>
          <a:xfrm>
            <a:off x="6446520" y="4114800"/>
            <a:ext cx="638280" cy="638280"/>
          </a:xfrm>
          <a:prstGeom prst="ellipse">
            <a:avLst/>
          </a:prstGeom>
          <a:solidFill>
            <a:schemeClr val="accent6"/>
          </a:solidFill>
          <a:ln w="0">
            <a:noFill/>
          </a:ln>
        </p:spPr>
        <p:style>
          <a:lnRef idx="0"/>
          <a:fillRef idx="0"/>
          <a:effectRef idx="0"/>
          <a:fontRef idx="minor"/>
        </p:style>
        <p:txBody>
          <a:bodyPr lIns="0" tIns="0" rIns="0" bIns="0" anchor="ctr">
            <a:noAutofit/>
          </a:bodyPr>
          <a:p>
            <a:pPr algn="ctr">
              <a:lnSpc>
                <a:spcPct val="100000"/>
              </a:lnSpc>
            </a:pPr>
            <a:r>
              <a:rPr lang="de-DE" sz="1800" b="1" u="none" strike="noStrike">
                <a:solidFill>
                  <a:schemeClr val="lt1"/>
                </a:solidFill>
                <a:effectLst/>
                <a:uFillTx/>
                <a:latin typeface="Calibri"/>
                <a:ea typeface="Calibri"/>
              </a:rPr>
              <a:t>5</a:t>
            </a:r>
            <a:endParaRPr lang="de-DE" sz="1800" b="0" u="none" strike="noStrike">
              <a:solidFill>
                <a:srgbClr val="FFFFFF"/>
              </a:solidFill>
              <a:effectLst/>
              <a:uFillTx/>
              <a:latin typeface="Arial"/>
            </a:endParaRPr>
          </a:p>
        </p:txBody>
      </p:sp>
      <p:sp>
        <p:nvSpPr>
          <p:cNvPr id="94" name="Karte Titel 5"/>
          <p:cNvSpPr/>
          <p:nvPr/>
        </p:nvSpPr>
        <p:spPr>
          <a:xfrm>
            <a:off x="7269480" y="4114800"/>
            <a:ext cx="4158720" cy="638280"/>
          </a:xfrm>
          <a:prstGeom prst="rect">
            <a:avLst/>
          </a:prstGeom>
          <a:noFill/>
          <a:ln w="0">
            <a:noFill/>
          </a:ln>
        </p:spPr>
        <p:style>
          <a:lnRef idx="0"/>
          <a:fillRef idx="0"/>
          <a:effectRef idx="0"/>
          <a:fontRef idx="minor"/>
        </p:style>
        <p:txBody>
          <a:bodyPr lIns="0" tIns="0" rIns="0" bIns="0" anchor="ctr">
            <a:noAutofit/>
          </a:bodyPr>
          <a:p>
            <a:pPr>
              <a:lnSpc>
                <a:spcPct val="100000"/>
              </a:lnSpc>
            </a:pPr>
            <a:r>
              <a:rPr lang="de-DE" sz="2200" b="1" u="none" strike="noStrike">
                <a:solidFill>
                  <a:schemeClr val="dk1"/>
                </a:solidFill>
                <a:effectLst/>
                <a:uFillTx/>
                <a:latin typeface="Calibri"/>
                <a:ea typeface="Calibri"/>
              </a:rPr>
              <a:t>Passwortschutz</a:t>
            </a:r>
            <a:endParaRPr lang="de-DE" sz="2200" b="0" u="none" strike="noStrike">
              <a:solidFill>
                <a:srgbClr val="000000"/>
              </a:solidFill>
              <a:effectLst/>
              <a:uFillTx/>
              <a:latin typeface="Arial"/>
            </a:endParaRPr>
          </a:p>
        </p:txBody>
      </p:sp>
      <p:sp>
        <p:nvSpPr>
          <p:cNvPr id="95" name="Karte Text 5"/>
          <p:cNvSpPr/>
          <p:nvPr/>
        </p:nvSpPr>
        <p:spPr>
          <a:xfrm>
            <a:off x="6446520" y="4892040"/>
            <a:ext cx="4890240" cy="1049760"/>
          </a:xfrm>
          <a:prstGeom prst="rect">
            <a:avLst/>
          </a:prstGeom>
          <a:noFill/>
          <a:ln w="0">
            <a:noFill/>
          </a:ln>
        </p:spPr>
        <p:style>
          <a:lnRef idx="0"/>
          <a:fillRef idx="0"/>
          <a:effectRef idx="0"/>
          <a:fontRef idx="minor"/>
        </p:style>
        <p:txBody>
          <a:bodyPr lIns="0" tIns="0" rIns="0" bIns="0" anchor="t">
            <a:noAutofit/>
          </a:bodyPr>
          <a:p>
            <a:pPr>
              <a:lnSpc>
                <a:spcPct val="100000"/>
              </a:lnSpc>
            </a:pPr>
            <a:r>
              <a:rPr lang="de-DE" sz="1400" b="0" u="none" strike="noStrike">
                <a:solidFill>
                  <a:schemeClr val="dk2"/>
                </a:solidFill>
                <a:effectLst/>
                <a:uFillTx/>
                <a:latin typeface="Calibri"/>
                <a:ea typeface="Calibri"/>
              </a:rPr>
              <a:t>Der Broker erlaubt keine anonymen Verbindungen. Server, ESP32-Geräte und Webinterface melden sich mit Benutzername und Passwort an.</a:t>
            </a:r>
            <a:endParaRPr lang="de-DE" sz="1400" b="0" u="none" strike="noStrike">
              <a:solidFill>
                <a:srgbClr val="000000"/>
              </a:solidFill>
              <a:effectLst/>
              <a:uFillTx/>
              <a:latin typeface="Arial"/>
            </a:endParaRPr>
          </a:p>
        </p:txBody>
      </p:sp>
      <p:sp>
        <p:nvSpPr>
          <p:cNvPr id="96" name="PlaceHolder 1"/>
          <p:cNvSpPr>
            <a:spLocks noGrp="1"/>
          </p:cNvSpPr>
          <p:nvPr>
            <p:ph type="sldNum" idx="8"/>
          </p:nvPr>
        </p:nvSpPr>
        <p:spPr>
          <a:xfrm>
            <a:off x="11155680" y="6400800"/>
            <a:ext cx="546120" cy="2718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100" b="0" u="none" strike="noStrike">
                <a:solidFill>
                  <a:schemeClr val="accent5"/>
                </a:solidFill>
                <a:effectLst/>
                <a:uFillTx/>
                <a:latin typeface="Calibri"/>
              </a:defRPr>
            </a:lvl1pPr>
          </a:lstStyle>
          <a:p>
            <a:pPr indent="0" algn="r" defTabSz="914400">
              <a:lnSpc>
                <a:spcPct val="100000"/>
              </a:lnSpc>
              <a:buNone/>
              <a:tabLst>
                <a:tab pos="0" algn="l"/>
              </a:tabLst>
            </a:pPr>
            <a:fld id="{6B7D783B-D27B-43AA-8BB6-6ED491A9E70C}" type="slidenum">
              <a:rPr lang="en-US" sz="1100" b="0" u="none" strike="noStrike">
                <a:solidFill>
                  <a:schemeClr val="accent5"/>
                </a:solidFill>
                <a:effectLst/>
                <a:uFillTx/>
                <a:latin typeface="Calibri"/>
              </a:rPr>
              <a:t>&lt;Foliennummer&gt;</a:t>
            </a:fld>
            <a:endParaRPr lang="de-DE"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Titel"/>
          <p:cNvSpPr/>
          <p:nvPr/>
        </p:nvSpPr>
        <p:spPr>
          <a:xfrm>
            <a:off x="548640" y="456480"/>
            <a:ext cx="11063520" cy="54936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3600" b="1" u="none" strike="noStrike">
                <a:solidFill>
                  <a:srgbClr val="1B1B2F"/>
                </a:solidFill>
                <a:effectLst/>
                <a:uFillTx/>
                <a:latin typeface="Cambria"/>
              </a:rPr>
              <a:t>Wie die Device Registry funktioniert</a:t>
            </a:r>
            <a:endParaRPr lang="de-DE" sz="3600" b="0" u="none" strike="noStrike">
              <a:solidFill>
                <a:srgbClr val="000000"/>
              </a:solidFill>
              <a:effectLst/>
              <a:uFillTx/>
              <a:latin typeface="Arial"/>
            </a:endParaRPr>
          </a:p>
        </p:txBody>
      </p:sp>
      <p:sp>
        <p:nvSpPr>
          <p:cNvPr id="98" name="Schritt 1"/>
          <p:cNvSpPr/>
          <p:nvPr/>
        </p:nvSpPr>
        <p:spPr>
          <a:xfrm>
            <a:off x="548640" y="1280160"/>
            <a:ext cx="2605320" cy="2513880"/>
          </a:xfrm>
          <a:prstGeom prst="roundRect">
            <a:avLst>
              <a:gd name="adj" fmla="val 5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99" name="Nummer 1"/>
          <p:cNvSpPr/>
          <p:nvPr/>
        </p:nvSpPr>
        <p:spPr>
          <a:xfrm>
            <a:off x="777240" y="1508760"/>
            <a:ext cx="547920" cy="547920"/>
          </a:xfrm>
          <a:prstGeom prst="ellipse">
            <a:avLst/>
          </a:prstGeom>
          <a:solidFill>
            <a:srgbClr val="1FA896"/>
          </a:solidFill>
          <a:ln>
            <a:noFill/>
          </a:ln>
        </p:spPr>
        <p:style>
          <a:lnRef idx="1">
            <a:schemeClr val="accent1"/>
          </a:lnRef>
          <a:fillRef idx="3">
            <a:schemeClr val="accent1"/>
          </a:fillRef>
          <a:effectRef idx="2">
            <a:schemeClr val="accent1"/>
          </a:effectRef>
          <a:fontRef idx="minor"/>
        </p:style>
        <p:txBody>
          <a:bodyPr lIns="0" tIns="0" rIns="0" bIns="0" anchor="ctr">
            <a:noAutofit/>
          </a:bodyPr>
          <a:p>
            <a:pPr algn="ctr">
              <a:lnSpc>
                <a:spcPct val="100000"/>
              </a:lnSpc>
            </a:pPr>
            <a:r>
              <a:rPr lang="de-DE" sz="1600" b="1" u="none" strike="noStrike">
                <a:solidFill>
                  <a:srgbClr val="FFFFFF"/>
                </a:solidFill>
                <a:effectLst/>
                <a:uFillTx/>
                <a:latin typeface="Calibri"/>
              </a:rPr>
              <a:t>1</a:t>
            </a:r>
            <a:endParaRPr lang="de-DE" sz="1600" b="0" u="none" strike="noStrike">
              <a:solidFill>
                <a:srgbClr val="FFFFFF"/>
              </a:solidFill>
              <a:effectLst/>
              <a:uFillTx/>
              <a:latin typeface="Arial"/>
            </a:endParaRPr>
          </a:p>
        </p:txBody>
      </p:sp>
      <p:sp>
        <p:nvSpPr>
          <p:cNvPr id="100" name="Schritt Titel 1"/>
          <p:cNvSpPr/>
          <p:nvPr/>
        </p:nvSpPr>
        <p:spPr>
          <a:xfrm>
            <a:off x="1463040" y="1553760"/>
            <a:ext cx="1553760" cy="45792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500" b="1" u="none" strike="noStrike">
                <a:solidFill>
                  <a:srgbClr val="1B1B2F"/>
                </a:solidFill>
                <a:effectLst/>
                <a:uFillTx/>
                <a:latin typeface="Calibri"/>
              </a:rPr>
              <a:t>Gerät meldet sich</a:t>
            </a:r>
            <a:endParaRPr lang="de-DE" sz="1500" b="0" u="none" strike="noStrike">
              <a:solidFill>
                <a:srgbClr val="000000"/>
              </a:solidFill>
              <a:effectLst/>
              <a:uFillTx/>
              <a:latin typeface="Arial"/>
            </a:endParaRPr>
          </a:p>
        </p:txBody>
      </p:sp>
      <p:sp>
        <p:nvSpPr>
          <p:cNvPr id="101" name="Schritt Text 1"/>
          <p:cNvSpPr/>
          <p:nvPr/>
        </p:nvSpPr>
        <p:spPr>
          <a:xfrm>
            <a:off x="777240" y="2194560"/>
            <a:ext cx="2148120" cy="73188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200" b="0" u="none" strike="noStrike">
                <a:solidFill>
                  <a:srgbClr val="2D2A4A"/>
                </a:solidFill>
                <a:effectLst/>
                <a:uFillTx/>
                <a:latin typeface="Calibri"/>
              </a:rPr>
              <a:t>Die erste Nachricht des ESP verrät seinen Namen: Status (Last Will) oder Uptime-Heartbeat.</a:t>
            </a:r>
            <a:endParaRPr lang="de-DE" sz="1200" b="0" u="none" strike="noStrike">
              <a:solidFill>
                <a:srgbClr val="000000"/>
              </a:solidFill>
              <a:effectLst/>
              <a:uFillTx/>
              <a:latin typeface="Arial"/>
            </a:endParaRPr>
          </a:p>
        </p:txBody>
      </p:sp>
      <p:sp>
        <p:nvSpPr>
          <p:cNvPr id="102" name="Topic &lt;name&gt;/status"/>
          <p:cNvSpPr/>
          <p:nvPr/>
        </p:nvSpPr>
        <p:spPr>
          <a:xfrm>
            <a:off x="777240" y="3108960"/>
            <a:ext cx="2148120" cy="255240"/>
          </a:xfrm>
          <a:prstGeom prst="roundRect">
            <a:avLst>
              <a:gd name="adj" fmla="val 30000"/>
            </a:avLst>
          </a:prstGeom>
          <a:solidFill>
            <a:srgbClr val="FFFFFF"/>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000" b="1" u="none" strike="noStrike">
                <a:solidFill>
                  <a:srgbClr val="147A6C"/>
                </a:solidFill>
                <a:effectLst/>
                <a:uFillTx/>
                <a:latin typeface="Courier New"/>
              </a:rPr>
              <a:t>&lt;name&gt;/status</a:t>
            </a:r>
            <a:endParaRPr lang="de-DE" sz="1000" b="0" u="none" strike="noStrike">
              <a:solidFill>
                <a:srgbClr val="000000"/>
              </a:solidFill>
              <a:effectLst/>
              <a:uFillTx/>
              <a:latin typeface="Arial"/>
            </a:endParaRPr>
          </a:p>
        </p:txBody>
      </p:sp>
      <p:sp>
        <p:nvSpPr>
          <p:cNvPr id="103" name="Topic &lt;name&gt;/metadata/uptime"/>
          <p:cNvSpPr/>
          <p:nvPr/>
        </p:nvSpPr>
        <p:spPr>
          <a:xfrm>
            <a:off x="777240" y="3410640"/>
            <a:ext cx="2148120" cy="255240"/>
          </a:xfrm>
          <a:prstGeom prst="roundRect">
            <a:avLst>
              <a:gd name="adj" fmla="val 30000"/>
            </a:avLst>
          </a:prstGeom>
          <a:solidFill>
            <a:srgbClr val="FFFFFF"/>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000" b="1" u="none" strike="noStrike">
                <a:solidFill>
                  <a:srgbClr val="147A6C"/>
                </a:solidFill>
                <a:effectLst/>
                <a:uFillTx/>
                <a:latin typeface="Courier New"/>
              </a:rPr>
              <a:t>&lt;name&gt;/metadata/uptime</a:t>
            </a:r>
            <a:endParaRPr lang="de-DE" sz="1000" b="0" u="none" strike="noStrike">
              <a:solidFill>
                <a:srgbClr val="000000"/>
              </a:solidFill>
              <a:effectLst/>
              <a:uFillTx/>
              <a:latin typeface="Arial"/>
            </a:endParaRPr>
          </a:p>
        </p:txBody>
      </p:sp>
      <p:sp>
        <p:nvSpPr>
          <p:cNvPr id="104" name="Pfeil 1"/>
          <p:cNvSpPr/>
          <p:nvPr/>
        </p:nvSpPr>
        <p:spPr>
          <a:xfrm>
            <a:off x="3168360" y="2377440"/>
            <a:ext cx="182160" cy="365040"/>
          </a:xfrm>
          <a:prstGeom prst="chevron">
            <a:avLst>
              <a:gd name="adj" fmla="val 50000"/>
            </a:avLst>
          </a:prstGeom>
          <a:solidFill>
            <a:srgbClr val="7C7A9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05" name="Schritt 2"/>
          <p:cNvSpPr/>
          <p:nvPr/>
        </p:nvSpPr>
        <p:spPr>
          <a:xfrm>
            <a:off x="3364920" y="1280160"/>
            <a:ext cx="2605320" cy="2513880"/>
          </a:xfrm>
          <a:prstGeom prst="roundRect">
            <a:avLst>
              <a:gd name="adj" fmla="val 5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06" name="Nummer 2"/>
          <p:cNvSpPr/>
          <p:nvPr/>
        </p:nvSpPr>
        <p:spPr>
          <a:xfrm>
            <a:off x="3593520" y="1508760"/>
            <a:ext cx="547920" cy="547920"/>
          </a:xfrm>
          <a:prstGeom prst="ellipse">
            <a:avLst/>
          </a:prstGeom>
          <a:solidFill>
            <a:srgbClr val="6C5CE7"/>
          </a:solidFill>
          <a:ln>
            <a:noFill/>
          </a:ln>
        </p:spPr>
        <p:style>
          <a:lnRef idx="1">
            <a:schemeClr val="accent1"/>
          </a:lnRef>
          <a:fillRef idx="3">
            <a:schemeClr val="accent1"/>
          </a:fillRef>
          <a:effectRef idx="2">
            <a:schemeClr val="accent1"/>
          </a:effectRef>
          <a:fontRef idx="minor"/>
        </p:style>
        <p:txBody>
          <a:bodyPr lIns="0" tIns="0" rIns="0" bIns="0" anchor="ctr">
            <a:noAutofit/>
          </a:bodyPr>
          <a:p>
            <a:pPr algn="ctr">
              <a:lnSpc>
                <a:spcPct val="100000"/>
              </a:lnSpc>
            </a:pPr>
            <a:r>
              <a:rPr lang="de-DE" sz="1600" b="1" u="none" strike="noStrike">
                <a:solidFill>
                  <a:srgbClr val="FFFFFF"/>
                </a:solidFill>
                <a:effectLst/>
                <a:uFillTx/>
                <a:latin typeface="Calibri"/>
              </a:rPr>
              <a:t>2</a:t>
            </a:r>
            <a:endParaRPr lang="de-DE" sz="1600" b="0" u="none" strike="noStrike">
              <a:solidFill>
                <a:srgbClr val="FFFFFF"/>
              </a:solidFill>
              <a:effectLst/>
              <a:uFillTx/>
              <a:latin typeface="Arial"/>
            </a:endParaRPr>
          </a:p>
        </p:txBody>
      </p:sp>
      <p:sp>
        <p:nvSpPr>
          <p:cNvPr id="107" name="Schritt Titel 2"/>
          <p:cNvSpPr/>
          <p:nvPr/>
        </p:nvSpPr>
        <p:spPr>
          <a:xfrm>
            <a:off x="4279320" y="1667880"/>
            <a:ext cx="1553760" cy="22932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500" b="1" u="none" strike="noStrike">
                <a:solidFill>
                  <a:srgbClr val="1B1B2F"/>
                </a:solidFill>
                <a:effectLst/>
                <a:uFillTx/>
                <a:latin typeface="Calibri"/>
              </a:rPr>
              <a:t>Server erkennt</a:t>
            </a:r>
            <a:endParaRPr lang="de-DE" sz="1500" b="0" u="none" strike="noStrike">
              <a:solidFill>
                <a:srgbClr val="000000"/>
              </a:solidFill>
              <a:effectLst/>
              <a:uFillTx/>
              <a:latin typeface="Arial"/>
            </a:endParaRPr>
          </a:p>
        </p:txBody>
      </p:sp>
      <p:sp>
        <p:nvSpPr>
          <p:cNvPr id="108" name="Schritt Text 2"/>
          <p:cNvSpPr/>
          <p:nvPr/>
        </p:nvSpPr>
        <p:spPr>
          <a:xfrm>
            <a:off x="3593520" y="2194560"/>
            <a:ext cx="2148120" cy="73188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200" b="0" u="none" strike="noStrike">
                <a:solidFill>
                  <a:srgbClr val="2D2A4A"/>
                </a:solidFill>
                <a:effectLst/>
                <a:uFillTx/>
                <a:latin typeface="Calibri"/>
              </a:rPr>
              <a:t>Der Server liest den Namen aus dem Topic und fragt die Registry, ob er ihn schon kennt.</a:t>
            </a:r>
            <a:endParaRPr lang="de-DE" sz="1200" b="0" u="none" strike="noStrike">
              <a:solidFill>
                <a:srgbClr val="000000"/>
              </a:solidFill>
              <a:effectLst/>
              <a:uFillTx/>
              <a:latin typeface="Arial"/>
            </a:endParaRPr>
          </a:p>
        </p:txBody>
      </p:sp>
      <p:sp>
        <p:nvSpPr>
          <p:cNvPr id="109" name="Pfeil 2"/>
          <p:cNvSpPr/>
          <p:nvPr/>
        </p:nvSpPr>
        <p:spPr>
          <a:xfrm>
            <a:off x="5984640" y="2377440"/>
            <a:ext cx="182160" cy="365040"/>
          </a:xfrm>
          <a:prstGeom prst="chevron">
            <a:avLst>
              <a:gd name="adj" fmla="val 50000"/>
            </a:avLst>
          </a:prstGeom>
          <a:solidFill>
            <a:srgbClr val="7C7A9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10" name="Schritt 3"/>
          <p:cNvSpPr/>
          <p:nvPr/>
        </p:nvSpPr>
        <p:spPr>
          <a:xfrm>
            <a:off x="6181200" y="1280160"/>
            <a:ext cx="2605320" cy="2513880"/>
          </a:xfrm>
          <a:prstGeom prst="roundRect">
            <a:avLst>
              <a:gd name="adj" fmla="val 5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11" name="Nummer 3"/>
          <p:cNvSpPr/>
          <p:nvPr/>
        </p:nvSpPr>
        <p:spPr>
          <a:xfrm>
            <a:off x="6409800" y="1508760"/>
            <a:ext cx="547920" cy="547920"/>
          </a:xfrm>
          <a:prstGeom prst="ellipse">
            <a:avLst/>
          </a:prstGeom>
          <a:solidFill>
            <a:srgbClr val="FF5A5F"/>
          </a:solidFill>
          <a:ln>
            <a:noFill/>
          </a:ln>
        </p:spPr>
        <p:style>
          <a:lnRef idx="1">
            <a:schemeClr val="accent1"/>
          </a:lnRef>
          <a:fillRef idx="3">
            <a:schemeClr val="accent1"/>
          </a:fillRef>
          <a:effectRef idx="2">
            <a:schemeClr val="accent1"/>
          </a:effectRef>
          <a:fontRef idx="minor"/>
        </p:style>
        <p:txBody>
          <a:bodyPr lIns="0" tIns="0" rIns="0" bIns="0" anchor="ctr">
            <a:noAutofit/>
          </a:bodyPr>
          <a:p>
            <a:pPr algn="ctr">
              <a:lnSpc>
                <a:spcPct val="100000"/>
              </a:lnSpc>
            </a:pPr>
            <a:r>
              <a:rPr lang="de-DE" sz="1600" b="1" u="none" strike="noStrike">
                <a:solidFill>
                  <a:srgbClr val="FFFFFF"/>
                </a:solidFill>
                <a:effectLst/>
                <a:uFillTx/>
                <a:latin typeface="Calibri"/>
              </a:rPr>
              <a:t>3</a:t>
            </a:r>
            <a:endParaRPr lang="de-DE" sz="1600" b="0" u="none" strike="noStrike">
              <a:solidFill>
                <a:srgbClr val="FFFFFF"/>
              </a:solidFill>
              <a:effectLst/>
              <a:uFillTx/>
              <a:latin typeface="Arial"/>
            </a:endParaRPr>
          </a:p>
        </p:txBody>
      </p:sp>
      <p:sp>
        <p:nvSpPr>
          <p:cNvPr id="112" name="Schritt Titel 3"/>
          <p:cNvSpPr/>
          <p:nvPr/>
        </p:nvSpPr>
        <p:spPr>
          <a:xfrm>
            <a:off x="7095600" y="1667880"/>
            <a:ext cx="1553760" cy="22932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500" b="1" u="none" strike="noStrike">
                <a:solidFill>
                  <a:srgbClr val="1B1B2F"/>
                </a:solidFill>
                <a:effectLst/>
                <a:uFillTx/>
                <a:latin typeface="Calibri"/>
              </a:rPr>
              <a:t>Registry legt an</a:t>
            </a:r>
            <a:endParaRPr lang="de-DE" sz="1500" b="0" u="none" strike="noStrike">
              <a:solidFill>
                <a:srgbClr val="000000"/>
              </a:solidFill>
              <a:effectLst/>
              <a:uFillTx/>
              <a:latin typeface="Arial"/>
            </a:endParaRPr>
          </a:p>
        </p:txBody>
      </p:sp>
      <p:sp>
        <p:nvSpPr>
          <p:cNvPr id="113" name="Schritt Text 3"/>
          <p:cNvSpPr/>
          <p:nvPr/>
        </p:nvSpPr>
        <p:spPr>
          <a:xfrm>
            <a:off x="6409800" y="2194560"/>
            <a:ext cx="2148120" cy="73188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200" b="0" u="none" strike="noStrike">
                <a:solidFill>
                  <a:srgbClr val="2D2A4A"/>
                </a:solidFill>
                <a:effectLst/>
                <a:uFillTx/>
                <a:latin typeface="Calibri"/>
              </a:rPr>
              <a:t>Ein Eintrag mit Name, Anmeldezeit, Uptime und Online-Status. Die Registry liegt im Speicher des Servers.</a:t>
            </a:r>
            <a:endParaRPr lang="de-DE" sz="1200" b="0" u="none" strike="noStrike">
              <a:solidFill>
                <a:srgbClr val="000000"/>
              </a:solidFill>
              <a:effectLst/>
              <a:uFillTx/>
              <a:latin typeface="Arial"/>
            </a:endParaRPr>
          </a:p>
        </p:txBody>
      </p:sp>
      <p:sp>
        <p:nvSpPr>
          <p:cNvPr id="114" name="Pfeil 3"/>
          <p:cNvSpPr/>
          <p:nvPr/>
        </p:nvSpPr>
        <p:spPr>
          <a:xfrm>
            <a:off x="8801280" y="2377440"/>
            <a:ext cx="182160" cy="365040"/>
          </a:xfrm>
          <a:prstGeom prst="chevron">
            <a:avLst>
              <a:gd name="adj" fmla="val 50000"/>
            </a:avLst>
          </a:prstGeom>
          <a:solidFill>
            <a:srgbClr val="7C7A9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15" name="Schritt 4"/>
          <p:cNvSpPr/>
          <p:nvPr/>
        </p:nvSpPr>
        <p:spPr>
          <a:xfrm>
            <a:off x="8997840" y="1280160"/>
            <a:ext cx="2605320" cy="2513880"/>
          </a:xfrm>
          <a:prstGeom prst="roundRect">
            <a:avLst>
              <a:gd name="adj" fmla="val 5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16" name="Nummer 4"/>
          <p:cNvSpPr/>
          <p:nvPr/>
        </p:nvSpPr>
        <p:spPr>
          <a:xfrm>
            <a:off x="9226440" y="1508760"/>
            <a:ext cx="547920" cy="547920"/>
          </a:xfrm>
          <a:prstGeom prst="ellipse">
            <a:avLst/>
          </a:prstGeom>
          <a:solidFill>
            <a:srgbClr val="1FA896"/>
          </a:solidFill>
          <a:ln>
            <a:noFill/>
          </a:ln>
        </p:spPr>
        <p:style>
          <a:lnRef idx="1">
            <a:schemeClr val="accent1"/>
          </a:lnRef>
          <a:fillRef idx="3">
            <a:schemeClr val="accent1"/>
          </a:fillRef>
          <a:effectRef idx="2">
            <a:schemeClr val="accent1"/>
          </a:effectRef>
          <a:fontRef idx="minor"/>
        </p:style>
        <p:txBody>
          <a:bodyPr lIns="0" tIns="0" rIns="0" bIns="0" anchor="ctr">
            <a:noAutofit/>
          </a:bodyPr>
          <a:p>
            <a:pPr algn="ctr">
              <a:lnSpc>
                <a:spcPct val="100000"/>
              </a:lnSpc>
            </a:pPr>
            <a:r>
              <a:rPr lang="de-DE" sz="1600" b="1" u="none" strike="noStrike">
                <a:solidFill>
                  <a:srgbClr val="FFFFFF"/>
                </a:solidFill>
                <a:effectLst/>
                <a:uFillTx/>
                <a:latin typeface="Calibri"/>
              </a:rPr>
              <a:t>4</a:t>
            </a:r>
            <a:endParaRPr lang="de-DE" sz="1600" b="0" u="none" strike="noStrike">
              <a:solidFill>
                <a:srgbClr val="FFFFFF"/>
              </a:solidFill>
              <a:effectLst/>
              <a:uFillTx/>
              <a:latin typeface="Arial"/>
            </a:endParaRPr>
          </a:p>
        </p:txBody>
      </p:sp>
      <p:sp>
        <p:nvSpPr>
          <p:cNvPr id="117" name="Schritt Titel 4"/>
          <p:cNvSpPr/>
          <p:nvPr/>
        </p:nvSpPr>
        <p:spPr>
          <a:xfrm>
            <a:off x="9912240" y="1667880"/>
            <a:ext cx="1553760" cy="22932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500" b="1" u="none" strike="noStrike">
                <a:solidFill>
                  <a:srgbClr val="1B1B2F"/>
                </a:solidFill>
                <a:effectLst/>
                <a:uFillTx/>
                <a:latin typeface="Calibri"/>
              </a:rPr>
              <a:t>Server bestätigt</a:t>
            </a:r>
            <a:endParaRPr lang="de-DE" sz="1500" b="0" u="none" strike="noStrike">
              <a:solidFill>
                <a:srgbClr val="000000"/>
              </a:solidFill>
              <a:effectLst/>
              <a:uFillTx/>
              <a:latin typeface="Arial"/>
            </a:endParaRPr>
          </a:p>
        </p:txBody>
      </p:sp>
      <p:sp>
        <p:nvSpPr>
          <p:cNvPr id="118" name="Schritt Text 4"/>
          <p:cNvSpPr/>
          <p:nvPr/>
        </p:nvSpPr>
        <p:spPr>
          <a:xfrm>
            <a:off x="9226440" y="2194560"/>
            <a:ext cx="2148120" cy="5490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200" b="0" u="none" strike="noStrike">
                <a:solidFill>
                  <a:srgbClr val="2D2A4A"/>
                </a:solidFill>
                <a:effectLst/>
                <a:uFillTx/>
                <a:latin typeface="Calibri"/>
              </a:rPr>
              <a:t>Einmalig ein ok an das Gerät. Beim Motor-Controller gehen gleich die Settings mit.</a:t>
            </a:r>
            <a:endParaRPr lang="de-DE" sz="1200" b="0" u="none" strike="noStrike">
              <a:solidFill>
                <a:srgbClr val="000000"/>
              </a:solidFill>
              <a:effectLst/>
              <a:uFillTx/>
              <a:latin typeface="Arial"/>
            </a:endParaRPr>
          </a:p>
        </p:txBody>
      </p:sp>
      <p:sp>
        <p:nvSpPr>
          <p:cNvPr id="119" name="Topic &lt;name&gt;/registered"/>
          <p:cNvSpPr/>
          <p:nvPr/>
        </p:nvSpPr>
        <p:spPr>
          <a:xfrm>
            <a:off x="9226440" y="3108960"/>
            <a:ext cx="2148120" cy="255240"/>
          </a:xfrm>
          <a:prstGeom prst="roundRect">
            <a:avLst>
              <a:gd name="adj" fmla="val 30000"/>
            </a:avLst>
          </a:prstGeom>
          <a:solidFill>
            <a:srgbClr val="FFFFFF"/>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000" b="1" u="none" strike="noStrike">
                <a:solidFill>
                  <a:srgbClr val="147A6C"/>
                </a:solidFill>
                <a:effectLst/>
                <a:uFillTx/>
                <a:latin typeface="Courier New"/>
              </a:rPr>
              <a:t>&lt;name&gt;/registered</a:t>
            </a:r>
            <a:endParaRPr lang="de-DE" sz="1000" b="0" u="none" strike="noStrike">
              <a:solidFill>
                <a:srgbClr val="000000"/>
              </a:solidFill>
              <a:effectLst/>
              <a:uFillTx/>
              <a:latin typeface="Arial"/>
            </a:endParaRPr>
          </a:p>
        </p:txBody>
      </p:sp>
      <p:sp>
        <p:nvSpPr>
          <p:cNvPr id="120" name="Karte Danach im Betrieb"/>
          <p:cNvSpPr/>
          <p:nvPr/>
        </p:nvSpPr>
        <p:spPr>
          <a:xfrm>
            <a:off x="548640" y="4023360"/>
            <a:ext cx="5394240" cy="2239560"/>
          </a:xfrm>
          <a:prstGeom prst="roundRect">
            <a:avLst>
              <a:gd name="adj" fmla="val 4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21" name="Karte Titel Danach im Betrieb"/>
          <p:cNvSpPr/>
          <p:nvPr/>
        </p:nvSpPr>
        <p:spPr>
          <a:xfrm>
            <a:off x="822960" y="4160520"/>
            <a:ext cx="4845600" cy="24408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600" b="1" u="none" strike="noStrike">
                <a:solidFill>
                  <a:srgbClr val="1B1B2F"/>
                </a:solidFill>
                <a:effectLst/>
                <a:uFillTx/>
                <a:latin typeface="Calibri"/>
              </a:rPr>
              <a:t>Danach im Betrieb</a:t>
            </a:r>
            <a:endParaRPr lang="de-DE" sz="1600" b="0" u="none" strike="noStrike">
              <a:solidFill>
                <a:srgbClr val="000000"/>
              </a:solidFill>
              <a:effectLst/>
              <a:uFillTx/>
              <a:latin typeface="Arial"/>
            </a:endParaRPr>
          </a:p>
        </p:txBody>
      </p:sp>
      <p:sp>
        <p:nvSpPr>
          <p:cNvPr id="122" name="Karte Text Danach im Betrieb"/>
          <p:cNvSpPr/>
          <p:nvPr/>
        </p:nvSpPr>
        <p:spPr>
          <a:xfrm>
            <a:off x="822960" y="4572000"/>
            <a:ext cx="4845600" cy="895320"/>
          </a:xfrm>
          <a:prstGeom prst="rect">
            <a:avLst/>
          </a:prstGeom>
          <a:noFill/>
          <a:ln w="0">
            <a:noFill/>
          </a:ln>
        </p:spPr>
        <p:style>
          <a:lnRef idx="0"/>
          <a:fillRef idx="0"/>
          <a:effectRef idx="0"/>
          <a:fontRef idx="minor"/>
        </p:style>
        <p:txBody>
          <a:bodyPr lIns="0" tIns="0" rIns="0" bIns="0" anchor="t">
            <a:spAutoFit/>
          </a:bodyPr>
          <a:p>
            <a:pPr marL="228600" indent="-228600">
              <a:lnSpc>
                <a:spcPct val="100000"/>
              </a:lnSpc>
              <a:spcAft>
                <a:spcPts val="400"/>
              </a:spcAft>
              <a:buClr>
                <a:srgbClr val="1B1B2F"/>
              </a:buClr>
              <a:buFont typeface="Symbol" charset="2"/>
              <a:buChar char=""/>
            </a:pPr>
            <a:r>
              <a:rPr lang="de-DE" sz="1300" b="0" u="none" strike="noStrike">
                <a:solidFill>
                  <a:srgbClr val="1B1B2F"/>
                </a:solidFill>
                <a:effectLst/>
                <a:uFillTx/>
                <a:latin typeface="Calibri"/>
              </a:rPr>
              <a:t>status setzt isOnline, uptime setzt die Laufzeit</a:t>
            </a:r>
            <a:endParaRPr lang="de-DE" sz="1300" b="0" u="none" strike="noStrike">
              <a:solidFill>
                <a:srgbClr val="000000"/>
              </a:solidFill>
              <a:effectLst/>
              <a:uFillTx/>
              <a:latin typeface="Arial"/>
            </a:endParaRPr>
          </a:p>
          <a:p>
            <a:pPr marL="228600" indent="-228600">
              <a:lnSpc>
                <a:spcPct val="100000"/>
              </a:lnSpc>
              <a:spcAft>
                <a:spcPts val="400"/>
              </a:spcAft>
              <a:buClr>
                <a:srgbClr val="1B1B2F"/>
              </a:buClr>
              <a:buFont typeface="Symbol" charset="2"/>
              <a:buChar char=""/>
            </a:pPr>
            <a:r>
              <a:rPr lang="de-DE" sz="1300" b="0" u="none" strike="noStrike">
                <a:solidFill>
                  <a:srgbClr val="1B1B2F"/>
                </a:solidFill>
                <a:effectLst/>
                <a:uFillTx/>
                <a:latin typeface="Calibri"/>
              </a:rPr>
              <a:t>Bekannte Geräte werden nicht erneut bestätigt</a:t>
            </a:r>
            <a:endParaRPr lang="de-DE" sz="1300" b="0" u="none" strike="noStrike">
              <a:solidFill>
                <a:srgbClr val="000000"/>
              </a:solidFill>
              <a:effectLst/>
              <a:uFillTx/>
              <a:latin typeface="Arial"/>
            </a:endParaRPr>
          </a:p>
          <a:p>
            <a:pPr marL="228600" indent="-228600">
              <a:lnSpc>
                <a:spcPct val="100000"/>
              </a:lnSpc>
              <a:spcAft>
                <a:spcPts val="400"/>
              </a:spcAft>
              <a:buClr>
                <a:srgbClr val="1B1B2F"/>
              </a:buClr>
              <a:buFont typeface="Symbol" charset="2"/>
              <a:buChar char=""/>
            </a:pPr>
            <a:r>
              <a:rPr lang="de-DE" sz="1300" b="0" u="none" strike="noStrike">
                <a:solidFill>
                  <a:srgbClr val="1B1B2F"/>
                </a:solidFill>
                <a:effectLst/>
                <a:uFillTx/>
                <a:latin typeface="Calibri"/>
              </a:rPr>
              <a:t>Nach einem Serverneustart ist die Registry leer: jedes Gerät meldet sich mit dem nächsten Heartbeat neu</a:t>
            </a:r>
            <a:endParaRPr lang="de-DE" sz="1300" b="0" u="none" strike="noStrike">
              <a:solidFill>
                <a:srgbClr val="000000"/>
              </a:solidFill>
              <a:effectLst/>
              <a:uFillTx/>
              <a:latin typeface="Arial"/>
            </a:endParaRPr>
          </a:p>
        </p:txBody>
      </p:sp>
      <p:sp>
        <p:nvSpPr>
          <p:cNvPr id="123" name="Karte Wofür der Server sie braucht"/>
          <p:cNvSpPr/>
          <p:nvPr/>
        </p:nvSpPr>
        <p:spPr>
          <a:xfrm>
            <a:off x="6217920" y="4023360"/>
            <a:ext cx="5394240" cy="2239560"/>
          </a:xfrm>
          <a:prstGeom prst="roundRect">
            <a:avLst>
              <a:gd name="adj" fmla="val 4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24" name="Karte Titel Wofür der Server sie braucht"/>
          <p:cNvSpPr/>
          <p:nvPr/>
        </p:nvSpPr>
        <p:spPr>
          <a:xfrm>
            <a:off x="6492240" y="4160520"/>
            <a:ext cx="4845600" cy="24408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600" b="1" u="none" strike="noStrike">
                <a:solidFill>
                  <a:srgbClr val="1B1B2F"/>
                </a:solidFill>
                <a:effectLst/>
                <a:uFillTx/>
                <a:latin typeface="Calibri"/>
              </a:rPr>
              <a:t>Wofür der Server sie braucht</a:t>
            </a:r>
            <a:endParaRPr lang="de-DE" sz="1600" b="0" u="none" strike="noStrike">
              <a:solidFill>
                <a:srgbClr val="000000"/>
              </a:solidFill>
              <a:effectLst/>
              <a:uFillTx/>
              <a:latin typeface="Arial"/>
            </a:endParaRPr>
          </a:p>
        </p:txBody>
      </p:sp>
      <p:sp>
        <p:nvSpPr>
          <p:cNvPr id="125" name="Karte Text Wofür der Server sie braucht"/>
          <p:cNvSpPr/>
          <p:nvPr/>
        </p:nvSpPr>
        <p:spPr>
          <a:xfrm>
            <a:off x="6492240" y="4572000"/>
            <a:ext cx="4845600" cy="1093680"/>
          </a:xfrm>
          <a:prstGeom prst="rect">
            <a:avLst/>
          </a:prstGeom>
          <a:noFill/>
          <a:ln w="0">
            <a:noFill/>
          </a:ln>
        </p:spPr>
        <p:style>
          <a:lnRef idx="0"/>
          <a:fillRef idx="0"/>
          <a:effectRef idx="0"/>
          <a:fontRef idx="minor"/>
        </p:style>
        <p:txBody>
          <a:bodyPr lIns="0" tIns="0" rIns="0" bIns="0" anchor="t">
            <a:spAutoFit/>
          </a:bodyPr>
          <a:p>
            <a:pPr marL="228600" indent="-228600">
              <a:lnSpc>
                <a:spcPct val="100000"/>
              </a:lnSpc>
              <a:spcAft>
                <a:spcPts val="400"/>
              </a:spcAft>
              <a:buClr>
                <a:srgbClr val="1B1B2F"/>
              </a:buClr>
              <a:buFont typeface="Symbol" charset="2"/>
              <a:buChar char=""/>
            </a:pPr>
            <a:r>
              <a:rPr lang="de-DE" sz="1300" b="0" u="none" strike="noStrike">
                <a:solidFill>
                  <a:srgbClr val="1B1B2F"/>
                </a:solidFill>
                <a:effectLst/>
                <a:uFillTx/>
                <a:latin typeface="Calibri"/>
              </a:rPr>
              <a:t>Homing startet erst, wenn Motor-Controller und Endstop-Board online sind</a:t>
            </a:r>
            <a:endParaRPr lang="de-DE" sz="1300" b="0" u="none" strike="noStrike">
              <a:solidFill>
                <a:srgbClr val="000000"/>
              </a:solidFill>
              <a:effectLst/>
              <a:uFillTx/>
              <a:latin typeface="Arial"/>
            </a:endParaRPr>
          </a:p>
          <a:p>
            <a:pPr marL="228600" indent="-228600">
              <a:lnSpc>
                <a:spcPct val="100000"/>
              </a:lnSpc>
              <a:spcAft>
                <a:spcPts val="400"/>
              </a:spcAft>
              <a:buClr>
                <a:srgbClr val="1B1B2F"/>
              </a:buClr>
              <a:buFont typeface="Symbol" charset="2"/>
              <a:buChar char=""/>
            </a:pPr>
            <a:r>
              <a:rPr lang="de-DE" sz="1300" b="0" u="none" strike="noStrike">
                <a:solidFill>
                  <a:srgbClr val="1B1B2F"/>
                </a:solidFill>
                <a:effectLst/>
                <a:uFillTx/>
                <a:latin typeface="Calibri"/>
              </a:rPr>
              <a:t>Das Webinterface bekommt die Geräteliste mit Status und Uptime</a:t>
            </a:r>
            <a:endParaRPr lang="de-DE" sz="1300" b="0" u="none" strike="noStrike">
              <a:solidFill>
                <a:srgbClr val="000000"/>
              </a:solidFill>
              <a:effectLst/>
              <a:uFillTx/>
              <a:latin typeface="Arial"/>
            </a:endParaRPr>
          </a:p>
          <a:p>
            <a:pPr marL="228600" indent="-228600">
              <a:lnSpc>
                <a:spcPct val="100000"/>
              </a:lnSpc>
              <a:spcAft>
                <a:spcPts val="400"/>
              </a:spcAft>
              <a:buClr>
                <a:srgbClr val="1B1B2F"/>
              </a:buClr>
              <a:buFont typeface="Symbol" charset="2"/>
              <a:buChar char=""/>
            </a:pPr>
            <a:r>
              <a:rPr lang="de-DE" sz="1300" b="0" u="none" strike="noStrike">
                <a:solidFill>
                  <a:srgbClr val="1B1B2F"/>
                </a:solidFill>
                <a:effectLst/>
                <a:uFillTx/>
                <a:latin typeface="Calibri"/>
              </a:rPr>
              <a:t>Browser-Tabs des Webinterface zählen nicht als Gerät</a:t>
            </a:r>
            <a:endParaRPr lang="de-DE"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Titel"/>
          <p:cNvSpPr/>
          <p:nvPr/>
        </p:nvSpPr>
        <p:spPr>
          <a:xfrm>
            <a:off x="548640" y="365760"/>
            <a:ext cx="11063160" cy="73044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3600" b="1" u="none" strike="noStrike">
                <a:solidFill>
                  <a:srgbClr val="1B1B2F"/>
                </a:solidFill>
                <a:effectLst/>
                <a:uFillTx/>
                <a:latin typeface="Cambria"/>
              </a:rPr>
              <a:t>Topics der Eingabegeräte</a:t>
            </a:r>
            <a:endParaRPr lang="de-DE" sz="3600" b="0" u="none" strike="noStrike">
              <a:solidFill>
                <a:srgbClr val="000000"/>
              </a:solidFill>
              <a:effectLst/>
              <a:uFillTx/>
              <a:latin typeface="Arial"/>
            </a:endParaRPr>
          </a:p>
        </p:txBody>
      </p:sp>
      <p:sp>
        <p:nvSpPr>
          <p:cNvPr id="127" name="Karte Joy-Con-Scanner"/>
          <p:cNvSpPr/>
          <p:nvPr/>
        </p:nvSpPr>
        <p:spPr>
          <a:xfrm>
            <a:off x="548640" y="1234440"/>
            <a:ext cx="3501000" cy="4708080"/>
          </a:xfrm>
          <a:prstGeom prst="roundRect">
            <a:avLst>
              <a:gd name="adj" fmla="val 3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28" name="Kopf Joy-Con-Scanner"/>
          <p:cNvSpPr/>
          <p:nvPr/>
        </p:nvSpPr>
        <p:spPr>
          <a:xfrm>
            <a:off x="731520" y="1371600"/>
            <a:ext cx="3135240" cy="565920"/>
          </a:xfrm>
          <a:prstGeom prst="roundRect">
            <a:avLst>
              <a:gd name="adj" fmla="val 15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500" b="1" u="none" strike="noStrike">
                <a:solidFill>
                  <a:srgbClr val="FFFFFF"/>
                </a:solidFill>
                <a:effectLst/>
                <a:uFillTx/>
                <a:latin typeface="Calibri"/>
              </a:rPr>
              <a:t>Joy-Con-Scanner</a:t>
            </a:r>
            <a:endParaRPr lang="de-DE" sz="1500" b="0" u="none" strike="noStrike">
              <a:solidFill>
                <a:srgbClr val="FFFFFF"/>
              </a:solidFill>
              <a:effectLst/>
              <a:uFillTx/>
              <a:latin typeface="Arial"/>
            </a:endParaRPr>
          </a:p>
        </p:txBody>
      </p:sp>
      <p:sp>
        <p:nvSpPr>
          <p:cNvPr id="129" name="Client Joy-Con-Scanner"/>
          <p:cNvSpPr/>
          <p:nvPr/>
        </p:nvSpPr>
        <p:spPr>
          <a:xfrm>
            <a:off x="731520" y="1993320"/>
            <a:ext cx="3135240" cy="22752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050" b="0" u="none" strike="noStrike">
                <a:solidFill>
                  <a:srgbClr val="7C7A99"/>
                </a:solidFill>
                <a:effectLst/>
                <a:uFillTx/>
                <a:latin typeface="Courier New"/>
              </a:rPr>
              <a:t>Client-ID claw_switch2_scanner</a:t>
            </a:r>
            <a:endParaRPr lang="de-DE" sz="1050" b="0" u="none" strike="noStrike">
              <a:solidFill>
                <a:srgbClr val="000000"/>
              </a:solidFill>
              <a:effectLst/>
              <a:uFillTx/>
              <a:latin typeface="Arial"/>
            </a:endParaRPr>
          </a:p>
        </p:txBody>
      </p:sp>
      <p:sp>
        <p:nvSpPr>
          <p:cNvPr id="130" name="Rolle Joy-Con-Scanner"/>
          <p:cNvSpPr/>
          <p:nvPr/>
        </p:nvSpPr>
        <p:spPr>
          <a:xfrm>
            <a:off x="731520" y="2240280"/>
            <a:ext cx="3135240" cy="22752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200" b="0" u="none" strike="noStrike">
                <a:solidFill>
                  <a:srgbClr val="2D2A4A"/>
                </a:solidFill>
                <a:effectLst/>
                <a:uFillTx/>
                <a:latin typeface="Calibri"/>
              </a:rPr>
              <a:t>Switch-2-Joy-Cons über BLE</a:t>
            </a:r>
            <a:endParaRPr lang="de-DE" sz="1200" b="0" u="none" strike="noStrike">
              <a:solidFill>
                <a:srgbClr val="000000"/>
              </a:solidFill>
              <a:effectLst/>
              <a:uFillTx/>
              <a:latin typeface="Arial"/>
            </a:endParaRPr>
          </a:p>
        </p:txBody>
      </p:sp>
      <p:sp>
        <p:nvSpPr>
          <p:cNvPr id="131" name="Label Abo Joy-Con-Scanner"/>
          <p:cNvSpPr/>
          <p:nvPr/>
        </p:nvSpPr>
        <p:spPr>
          <a:xfrm>
            <a:off x="731520" y="2606040"/>
            <a:ext cx="313524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300" b="1" u="none" strike="noStrike">
                <a:solidFill>
                  <a:srgbClr val="6C5CE7"/>
                </a:solidFill>
                <a:effectLst/>
                <a:uFillTx/>
                <a:latin typeface="Calibri"/>
              </a:rPr>
              <a:t>Abonniert</a:t>
            </a:r>
            <a:endParaRPr lang="de-DE" sz="1300" b="0" u="none" strike="noStrike">
              <a:solidFill>
                <a:srgbClr val="000000"/>
              </a:solidFill>
              <a:effectLst/>
              <a:uFillTx/>
              <a:latin typeface="Arial"/>
            </a:endParaRPr>
          </a:p>
        </p:txBody>
      </p:sp>
      <p:sp>
        <p:nvSpPr>
          <p:cNvPr id="132" name="Topic Abo Joy-Con-Scanner"/>
          <p:cNvSpPr/>
          <p:nvPr/>
        </p:nvSpPr>
        <p:spPr>
          <a:xfrm>
            <a:off x="731520" y="2898720"/>
            <a:ext cx="3135240" cy="52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33" name="Topic Name Abo Joy-Con-Scanner"/>
          <p:cNvSpPr/>
          <p:nvPr/>
        </p:nvSpPr>
        <p:spPr>
          <a:xfrm>
            <a:off x="868680" y="2971800"/>
            <a:ext cx="286092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6C5CE7"/>
                </a:solidFill>
                <a:effectLst/>
                <a:uFillTx/>
                <a:latin typeface="Courier New"/>
              </a:rPr>
              <a:t>endstop/state</a:t>
            </a:r>
            <a:endParaRPr lang="de-DE" sz="1000" b="0" u="none" strike="noStrike">
              <a:solidFill>
                <a:srgbClr val="000000"/>
              </a:solidFill>
              <a:effectLst/>
              <a:uFillTx/>
              <a:latin typeface="Arial"/>
            </a:endParaRPr>
          </a:p>
        </p:txBody>
      </p:sp>
      <p:sp>
        <p:nvSpPr>
          <p:cNvPr id="134" name="Payload Abo Joy-Con-Scanner"/>
          <p:cNvSpPr/>
          <p:nvPr/>
        </p:nvSpPr>
        <p:spPr>
          <a:xfrm>
            <a:off x="868680" y="3173040"/>
            <a:ext cx="2860920" cy="1544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{"x1":0,"x2":0,"y1":0,…}</a:t>
            </a:r>
            <a:endParaRPr lang="de-DE" sz="1000" b="0" u="none" strike="noStrike">
              <a:solidFill>
                <a:srgbClr val="000000"/>
              </a:solidFill>
              <a:effectLst/>
              <a:uFillTx/>
              <a:latin typeface="Arial"/>
            </a:endParaRPr>
          </a:p>
        </p:txBody>
      </p:sp>
      <p:sp>
        <p:nvSpPr>
          <p:cNvPr id="135" name="Label Pub Joy-Con-Scanner"/>
          <p:cNvSpPr/>
          <p:nvPr/>
        </p:nvSpPr>
        <p:spPr>
          <a:xfrm>
            <a:off x="731520" y="3520440"/>
            <a:ext cx="313524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300" b="1" u="none" strike="noStrike">
                <a:solidFill>
                  <a:srgbClr val="1FA896"/>
                </a:solidFill>
                <a:effectLst/>
                <a:uFillTx/>
                <a:latin typeface="Calibri"/>
              </a:rPr>
              <a:t>Publiziert</a:t>
            </a:r>
            <a:endParaRPr lang="de-DE" sz="1300" b="0" u="none" strike="noStrike">
              <a:solidFill>
                <a:srgbClr val="000000"/>
              </a:solidFill>
              <a:effectLst/>
              <a:uFillTx/>
              <a:latin typeface="Arial"/>
            </a:endParaRPr>
          </a:p>
        </p:txBody>
      </p:sp>
      <p:sp>
        <p:nvSpPr>
          <p:cNvPr id="136" name="Topic joycon Joy-Con-Scanner"/>
          <p:cNvSpPr/>
          <p:nvPr/>
        </p:nvSpPr>
        <p:spPr>
          <a:xfrm>
            <a:off x="731520" y="3813120"/>
            <a:ext cx="3135240" cy="675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37" name="Topic Name joycon Joy-Con-Scanner"/>
          <p:cNvSpPr/>
          <p:nvPr/>
        </p:nvSpPr>
        <p:spPr>
          <a:xfrm>
            <a:off x="868680" y="3886200"/>
            <a:ext cx="286092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player_input/joycon</a:t>
            </a:r>
            <a:endParaRPr lang="de-DE" sz="1000" b="0" u="none" strike="noStrike">
              <a:solidFill>
                <a:srgbClr val="000000"/>
              </a:solidFill>
              <a:effectLst/>
              <a:uFillTx/>
              <a:latin typeface="Arial"/>
            </a:endParaRPr>
          </a:p>
        </p:txBody>
      </p:sp>
      <p:sp>
        <p:nvSpPr>
          <p:cNvPr id="138" name="Payload joycon Joy-Con-Scanner"/>
          <p:cNvSpPr/>
          <p:nvPr/>
        </p:nvSpPr>
        <p:spPr>
          <a:xfrm>
            <a:off x="868680" y="4087440"/>
            <a:ext cx="2860920" cy="30996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{"up":0,"left":0,"right":0,</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"front":0,"back":0,…,"clawClose":0}</a:t>
            </a:r>
            <a:endParaRPr lang="de-DE" sz="1000" b="0" u="none" strike="noStrike">
              <a:solidFill>
                <a:srgbClr val="000000"/>
              </a:solidFill>
              <a:effectLst/>
              <a:uFillTx/>
              <a:latin typeface="Arial"/>
            </a:endParaRPr>
          </a:p>
        </p:txBody>
      </p:sp>
      <p:sp>
        <p:nvSpPr>
          <p:cNvPr id="139" name="Topic status Joy-Con-Scanner"/>
          <p:cNvSpPr/>
          <p:nvPr/>
        </p:nvSpPr>
        <p:spPr>
          <a:xfrm>
            <a:off x="731520" y="4563000"/>
            <a:ext cx="3135240" cy="52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40" name="Topic Name status Joy-Con-Scanner"/>
          <p:cNvSpPr/>
          <p:nvPr/>
        </p:nvSpPr>
        <p:spPr>
          <a:xfrm>
            <a:off x="868680" y="4636080"/>
            <a:ext cx="286092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claw_switch2_scanner/status</a:t>
            </a:r>
            <a:endParaRPr lang="de-DE" sz="1000" b="0" u="none" strike="noStrike">
              <a:solidFill>
                <a:srgbClr val="000000"/>
              </a:solidFill>
              <a:effectLst/>
              <a:uFillTx/>
              <a:latin typeface="Arial"/>
            </a:endParaRPr>
          </a:p>
        </p:txBody>
      </p:sp>
      <p:sp>
        <p:nvSpPr>
          <p:cNvPr id="141" name="Payload status Joy-Con-Scanner"/>
          <p:cNvSpPr/>
          <p:nvPr/>
        </p:nvSpPr>
        <p:spPr>
          <a:xfrm>
            <a:off x="868680" y="4837320"/>
            <a:ext cx="2860920" cy="1544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online / offline</a:t>
            </a:r>
            <a:endParaRPr lang="de-DE" sz="1000" b="0" u="none" strike="noStrike">
              <a:solidFill>
                <a:srgbClr val="000000"/>
              </a:solidFill>
              <a:effectLst/>
              <a:uFillTx/>
              <a:latin typeface="Arial"/>
            </a:endParaRPr>
          </a:p>
        </p:txBody>
      </p:sp>
      <p:sp>
        <p:nvSpPr>
          <p:cNvPr id="142" name="Topic uptime Joy-Con-Scanner"/>
          <p:cNvSpPr/>
          <p:nvPr/>
        </p:nvSpPr>
        <p:spPr>
          <a:xfrm>
            <a:off x="731520" y="5157360"/>
            <a:ext cx="3135240" cy="52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43" name="Topic Name uptime Joy-Con-Scanner"/>
          <p:cNvSpPr/>
          <p:nvPr/>
        </p:nvSpPr>
        <p:spPr>
          <a:xfrm>
            <a:off x="868680" y="5230440"/>
            <a:ext cx="286092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claw_switch2_scanner/metadata/uptime</a:t>
            </a:r>
            <a:endParaRPr lang="de-DE" sz="1000" b="0" u="none" strike="noStrike">
              <a:solidFill>
                <a:srgbClr val="000000"/>
              </a:solidFill>
              <a:effectLst/>
              <a:uFillTx/>
              <a:latin typeface="Arial"/>
            </a:endParaRPr>
          </a:p>
        </p:txBody>
      </p:sp>
      <p:sp>
        <p:nvSpPr>
          <p:cNvPr id="144" name="Payload uptime Joy-Con-Scanner"/>
          <p:cNvSpPr/>
          <p:nvPr/>
        </p:nvSpPr>
        <p:spPr>
          <a:xfrm>
            <a:off x="868680" y="5431680"/>
            <a:ext cx="2860920" cy="1544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123456</a:t>
            </a:r>
            <a:endParaRPr lang="de-DE" sz="1000" b="0" u="none" strike="noStrike">
              <a:solidFill>
                <a:srgbClr val="000000"/>
              </a:solidFill>
              <a:effectLst/>
              <a:uFillTx/>
              <a:latin typeface="Arial"/>
            </a:endParaRPr>
          </a:p>
        </p:txBody>
      </p:sp>
      <p:sp>
        <p:nvSpPr>
          <p:cNvPr id="145" name="Karte Control-Panel"/>
          <p:cNvSpPr/>
          <p:nvPr/>
        </p:nvSpPr>
        <p:spPr>
          <a:xfrm>
            <a:off x="4325040" y="1234440"/>
            <a:ext cx="3501000" cy="4708080"/>
          </a:xfrm>
          <a:prstGeom prst="roundRect">
            <a:avLst>
              <a:gd name="adj" fmla="val 3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46" name="Kopf Control-Panel"/>
          <p:cNvSpPr/>
          <p:nvPr/>
        </p:nvSpPr>
        <p:spPr>
          <a:xfrm>
            <a:off x="4507920" y="1371600"/>
            <a:ext cx="3135240" cy="565920"/>
          </a:xfrm>
          <a:prstGeom prst="roundRect">
            <a:avLst>
              <a:gd name="adj" fmla="val 15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500" b="1" u="none" strike="noStrike">
                <a:solidFill>
                  <a:srgbClr val="FFFFFF"/>
                </a:solidFill>
                <a:effectLst/>
                <a:uFillTx/>
                <a:latin typeface="Calibri"/>
              </a:rPr>
              <a:t>Control-Panel</a:t>
            </a:r>
            <a:endParaRPr lang="de-DE" sz="1500" b="0" u="none" strike="noStrike">
              <a:solidFill>
                <a:srgbClr val="FFFFFF"/>
              </a:solidFill>
              <a:effectLst/>
              <a:uFillTx/>
              <a:latin typeface="Arial"/>
            </a:endParaRPr>
          </a:p>
        </p:txBody>
      </p:sp>
      <p:sp>
        <p:nvSpPr>
          <p:cNvPr id="147" name="Client Control-Panel"/>
          <p:cNvSpPr/>
          <p:nvPr/>
        </p:nvSpPr>
        <p:spPr>
          <a:xfrm>
            <a:off x="4507920" y="1993320"/>
            <a:ext cx="3135240" cy="22752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050" b="0" u="none" strike="noStrike">
                <a:solidFill>
                  <a:srgbClr val="7C7A99"/>
                </a:solidFill>
                <a:effectLst/>
                <a:uFillTx/>
                <a:latin typeface="Courier New"/>
              </a:rPr>
              <a:t>Client-ID claw_player_input</a:t>
            </a:r>
            <a:endParaRPr lang="de-DE" sz="1050" b="0" u="none" strike="noStrike">
              <a:solidFill>
                <a:srgbClr val="000000"/>
              </a:solidFill>
              <a:effectLst/>
              <a:uFillTx/>
              <a:latin typeface="Arial"/>
            </a:endParaRPr>
          </a:p>
        </p:txBody>
      </p:sp>
      <p:sp>
        <p:nvSpPr>
          <p:cNvPr id="148" name="Rolle Control-Panel"/>
          <p:cNvSpPr/>
          <p:nvPr/>
        </p:nvSpPr>
        <p:spPr>
          <a:xfrm>
            <a:off x="4507920" y="2240280"/>
            <a:ext cx="3135240" cy="22752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200" b="0" u="none" strike="noStrike">
                <a:solidFill>
                  <a:srgbClr val="2D2A4A"/>
                </a:solidFill>
                <a:effectLst/>
                <a:uFillTx/>
                <a:latin typeface="Calibri"/>
              </a:rPr>
              <a:t>Taster und Klauen-Poti</a:t>
            </a:r>
            <a:endParaRPr lang="de-DE" sz="1200" b="0" u="none" strike="noStrike">
              <a:solidFill>
                <a:srgbClr val="000000"/>
              </a:solidFill>
              <a:effectLst/>
              <a:uFillTx/>
              <a:latin typeface="Arial"/>
            </a:endParaRPr>
          </a:p>
        </p:txBody>
      </p:sp>
      <p:sp>
        <p:nvSpPr>
          <p:cNvPr id="149" name="Label Abo Control-Panel"/>
          <p:cNvSpPr/>
          <p:nvPr/>
        </p:nvSpPr>
        <p:spPr>
          <a:xfrm>
            <a:off x="4507920" y="2606040"/>
            <a:ext cx="313524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300" b="1" u="none" strike="noStrike">
                <a:solidFill>
                  <a:srgbClr val="6C5CE7"/>
                </a:solidFill>
                <a:effectLst/>
                <a:uFillTx/>
                <a:latin typeface="Calibri"/>
              </a:rPr>
              <a:t>Abonniert</a:t>
            </a:r>
            <a:endParaRPr lang="de-DE" sz="1300" b="0" u="none" strike="noStrike">
              <a:solidFill>
                <a:srgbClr val="000000"/>
              </a:solidFill>
              <a:effectLst/>
              <a:uFillTx/>
              <a:latin typeface="Arial"/>
            </a:endParaRPr>
          </a:p>
        </p:txBody>
      </p:sp>
      <p:sp>
        <p:nvSpPr>
          <p:cNvPr id="150" name="Leer Control-Panel"/>
          <p:cNvSpPr/>
          <p:nvPr/>
        </p:nvSpPr>
        <p:spPr>
          <a:xfrm>
            <a:off x="4507920" y="2898720"/>
            <a:ext cx="3135240" cy="456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200" b="0" u="none" strike="noStrike">
                <a:solidFill>
                  <a:srgbClr val="7C7A99"/>
                </a:solidFill>
                <a:effectLst/>
                <a:uFillTx/>
                <a:latin typeface="Calibri"/>
              </a:rPr>
              <a:t>nichts</a:t>
            </a:r>
            <a:endParaRPr lang="de-DE" sz="1200" b="0" u="none" strike="noStrike">
              <a:solidFill>
                <a:srgbClr val="000000"/>
              </a:solidFill>
              <a:effectLst/>
              <a:uFillTx/>
              <a:latin typeface="Arial"/>
            </a:endParaRPr>
          </a:p>
        </p:txBody>
      </p:sp>
      <p:sp>
        <p:nvSpPr>
          <p:cNvPr id="151" name="Label Pub Control-Panel"/>
          <p:cNvSpPr/>
          <p:nvPr/>
        </p:nvSpPr>
        <p:spPr>
          <a:xfrm>
            <a:off x="4507920" y="3520440"/>
            <a:ext cx="313524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300" b="1" u="none" strike="noStrike">
                <a:solidFill>
                  <a:srgbClr val="1FA896"/>
                </a:solidFill>
                <a:effectLst/>
                <a:uFillTx/>
                <a:latin typeface="Calibri"/>
              </a:rPr>
              <a:t>Publiziert</a:t>
            </a:r>
            <a:endParaRPr lang="de-DE" sz="1300" b="0" u="none" strike="noStrike">
              <a:solidFill>
                <a:srgbClr val="000000"/>
              </a:solidFill>
              <a:effectLst/>
              <a:uFillTx/>
              <a:latin typeface="Arial"/>
            </a:endParaRPr>
          </a:p>
        </p:txBody>
      </p:sp>
      <p:sp>
        <p:nvSpPr>
          <p:cNvPr id="152" name="Topic panel Control-Panel"/>
          <p:cNvSpPr/>
          <p:nvPr/>
        </p:nvSpPr>
        <p:spPr>
          <a:xfrm>
            <a:off x="4507920" y="3813120"/>
            <a:ext cx="3135240" cy="6757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53" name="Topic Name panel Control-Panel"/>
          <p:cNvSpPr/>
          <p:nvPr/>
        </p:nvSpPr>
        <p:spPr>
          <a:xfrm>
            <a:off x="4645080" y="3886200"/>
            <a:ext cx="286092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player_input/panel</a:t>
            </a:r>
            <a:endParaRPr lang="de-DE" sz="1000" b="0" u="none" strike="noStrike">
              <a:solidFill>
                <a:srgbClr val="000000"/>
              </a:solidFill>
              <a:effectLst/>
              <a:uFillTx/>
              <a:latin typeface="Arial"/>
            </a:endParaRPr>
          </a:p>
        </p:txBody>
      </p:sp>
      <p:sp>
        <p:nvSpPr>
          <p:cNvPr id="154" name="Payload panel Control-Panel"/>
          <p:cNvSpPr/>
          <p:nvPr/>
        </p:nvSpPr>
        <p:spPr>
          <a:xfrm>
            <a:off x="4645080" y="4087440"/>
            <a:ext cx="2860920" cy="30996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{"up":0,"down":0,"left":0,</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"right":0,…,"claw":0}</a:t>
            </a:r>
            <a:endParaRPr lang="de-DE" sz="1000" b="0" u="none" strike="noStrike">
              <a:solidFill>
                <a:srgbClr val="000000"/>
              </a:solidFill>
              <a:effectLst/>
              <a:uFillTx/>
              <a:latin typeface="Arial"/>
            </a:endParaRPr>
          </a:p>
        </p:txBody>
      </p:sp>
      <p:sp>
        <p:nvSpPr>
          <p:cNvPr id="155" name="Topic status Control-Panel"/>
          <p:cNvSpPr/>
          <p:nvPr/>
        </p:nvSpPr>
        <p:spPr>
          <a:xfrm>
            <a:off x="4507920" y="4563000"/>
            <a:ext cx="3135240" cy="52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56" name="Topic Name status Control-Panel"/>
          <p:cNvSpPr/>
          <p:nvPr/>
        </p:nvSpPr>
        <p:spPr>
          <a:xfrm>
            <a:off x="4645080" y="4636080"/>
            <a:ext cx="286092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claw_player_input/status</a:t>
            </a:r>
            <a:endParaRPr lang="de-DE" sz="1000" b="0" u="none" strike="noStrike">
              <a:solidFill>
                <a:srgbClr val="000000"/>
              </a:solidFill>
              <a:effectLst/>
              <a:uFillTx/>
              <a:latin typeface="Arial"/>
            </a:endParaRPr>
          </a:p>
        </p:txBody>
      </p:sp>
      <p:sp>
        <p:nvSpPr>
          <p:cNvPr id="157" name="Payload status Control-Panel"/>
          <p:cNvSpPr/>
          <p:nvPr/>
        </p:nvSpPr>
        <p:spPr>
          <a:xfrm>
            <a:off x="4645080" y="4837320"/>
            <a:ext cx="2860920" cy="1544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online / offline</a:t>
            </a:r>
            <a:endParaRPr lang="de-DE" sz="1000" b="0" u="none" strike="noStrike">
              <a:solidFill>
                <a:srgbClr val="000000"/>
              </a:solidFill>
              <a:effectLst/>
              <a:uFillTx/>
              <a:latin typeface="Arial"/>
            </a:endParaRPr>
          </a:p>
        </p:txBody>
      </p:sp>
      <p:sp>
        <p:nvSpPr>
          <p:cNvPr id="158" name="Topic uptime Control-Panel"/>
          <p:cNvSpPr/>
          <p:nvPr/>
        </p:nvSpPr>
        <p:spPr>
          <a:xfrm>
            <a:off x="4507920" y="5157360"/>
            <a:ext cx="3135240" cy="52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59" name="Topic Name uptime Control-Panel"/>
          <p:cNvSpPr/>
          <p:nvPr/>
        </p:nvSpPr>
        <p:spPr>
          <a:xfrm>
            <a:off x="4645080" y="5230440"/>
            <a:ext cx="286092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claw_player_input/metadata/uptime</a:t>
            </a:r>
            <a:endParaRPr lang="de-DE" sz="1000" b="0" u="none" strike="noStrike">
              <a:solidFill>
                <a:srgbClr val="000000"/>
              </a:solidFill>
              <a:effectLst/>
              <a:uFillTx/>
              <a:latin typeface="Arial"/>
            </a:endParaRPr>
          </a:p>
        </p:txBody>
      </p:sp>
      <p:sp>
        <p:nvSpPr>
          <p:cNvPr id="160" name="Payload uptime Control-Panel"/>
          <p:cNvSpPr/>
          <p:nvPr/>
        </p:nvSpPr>
        <p:spPr>
          <a:xfrm>
            <a:off x="4645080" y="5431680"/>
            <a:ext cx="2860920" cy="1544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123456</a:t>
            </a:r>
            <a:endParaRPr lang="de-DE" sz="1000" b="0" u="none" strike="noStrike">
              <a:solidFill>
                <a:srgbClr val="000000"/>
              </a:solidFill>
              <a:effectLst/>
              <a:uFillTx/>
              <a:latin typeface="Arial"/>
            </a:endParaRPr>
          </a:p>
        </p:txBody>
      </p:sp>
      <p:sp>
        <p:nvSpPr>
          <p:cNvPr id="161" name="Karte Endstop-Board"/>
          <p:cNvSpPr/>
          <p:nvPr/>
        </p:nvSpPr>
        <p:spPr>
          <a:xfrm>
            <a:off x="8101440" y="1234440"/>
            <a:ext cx="3501000" cy="4708080"/>
          </a:xfrm>
          <a:prstGeom prst="roundRect">
            <a:avLst>
              <a:gd name="adj" fmla="val 3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62" name="Kopf Endstop-Board"/>
          <p:cNvSpPr/>
          <p:nvPr/>
        </p:nvSpPr>
        <p:spPr>
          <a:xfrm>
            <a:off x="8284320" y="1371600"/>
            <a:ext cx="3135240" cy="565920"/>
          </a:xfrm>
          <a:prstGeom prst="roundRect">
            <a:avLst>
              <a:gd name="adj" fmla="val 15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500" b="1" u="none" strike="noStrike">
                <a:solidFill>
                  <a:srgbClr val="FFFFFF"/>
                </a:solidFill>
                <a:effectLst/>
                <a:uFillTx/>
                <a:latin typeface="Calibri"/>
              </a:rPr>
              <a:t>Endstop-Board</a:t>
            </a:r>
            <a:endParaRPr lang="de-DE" sz="1500" b="0" u="none" strike="noStrike">
              <a:solidFill>
                <a:srgbClr val="FFFFFF"/>
              </a:solidFill>
              <a:effectLst/>
              <a:uFillTx/>
              <a:latin typeface="Arial"/>
            </a:endParaRPr>
          </a:p>
        </p:txBody>
      </p:sp>
      <p:sp>
        <p:nvSpPr>
          <p:cNvPr id="163" name="Client Endstop-Board"/>
          <p:cNvSpPr/>
          <p:nvPr/>
        </p:nvSpPr>
        <p:spPr>
          <a:xfrm>
            <a:off x="8284320" y="1993320"/>
            <a:ext cx="3135240" cy="22752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050" b="0" u="none" strike="noStrike">
                <a:solidFill>
                  <a:srgbClr val="7C7A99"/>
                </a:solidFill>
                <a:effectLst/>
                <a:uFillTx/>
                <a:latin typeface="Courier New"/>
              </a:rPr>
              <a:t>Client-ID claw_endstop</a:t>
            </a:r>
            <a:endParaRPr lang="de-DE" sz="1050" b="0" u="none" strike="noStrike">
              <a:solidFill>
                <a:srgbClr val="000000"/>
              </a:solidFill>
              <a:effectLst/>
              <a:uFillTx/>
              <a:latin typeface="Arial"/>
            </a:endParaRPr>
          </a:p>
        </p:txBody>
      </p:sp>
      <p:sp>
        <p:nvSpPr>
          <p:cNvPr id="164" name="Rolle Endstop-Board"/>
          <p:cNvSpPr/>
          <p:nvPr/>
        </p:nvSpPr>
        <p:spPr>
          <a:xfrm>
            <a:off x="8284320" y="2240280"/>
            <a:ext cx="3135240" cy="22752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200" b="0" u="none" strike="noStrike">
                <a:solidFill>
                  <a:srgbClr val="2D2A4A"/>
                </a:solidFill>
                <a:effectLst/>
                <a:uFillTx/>
                <a:latin typeface="Calibri"/>
              </a:rPr>
              <a:t>5 Endschalter an X, Y, Z</a:t>
            </a:r>
            <a:endParaRPr lang="de-DE" sz="1200" b="0" u="none" strike="noStrike">
              <a:solidFill>
                <a:srgbClr val="000000"/>
              </a:solidFill>
              <a:effectLst/>
              <a:uFillTx/>
              <a:latin typeface="Arial"/>
            </a:endParaRPr>
          </a:p>
        </p:txBody>
      </p:sp>
      <p:sp>
        <p:nvSpPr>
          <p:cNvPr id="165" name="Label Abo Endstop-Board"/>
          <p:cNvSpPr/>
          <p:nvPr/>
        </p:nvSpPr>
        <p:spPr>
          <a:xfrm>
            <a:off x="8284320" y="2606040"/>
            <a:ext cx="313524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300" b="1" u="none" strike="noStrike">
                <a:solidFill>
                  <a:srgbClr val="6C5CE7"/>
                </a:solidFill>
                <a:effectLst/>
                <a:uFillTx/>
                <a:latin typeface="Calibri"/>
              </a:rPr>
              <a:t>Abonniert</a:t>
            </a:r>
            <a:endParaRPr lang="de-DE" sz="1300" b="0" u="none" strike="noStrike">
              <a:solidFill>
                <a:srgbClr val="000000"/>
              </a:solidFill>
              <a:effectLst/>
              <a:uFillTx/>
              <a:latin typeface="Arial"/>
            </a:endParaRPr>
          </a:p>
        </p:txBody>
      </p:sp>
      <p:sp>
        <p:nvSpPr>
          <p:cNvPr id="166" name="Leer Endstop-Board"/>
          <p:cNvSpPr/>
          <p:nvPr/>
        </p:nvSpPr>
        <p:spPr>
          <a:xfrm>
            <a:off x="8284320" y="2898720"/>
            <a:ext cx="3135240" cy="45612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200" b="0" u="none" strike="noStrike">
                <a:solidFill>
                  <a:srgbClr val="7C7A99"/>
                </a:solidFill>
                <a:effectLst/>
                <a:uFillTx/>
                <a:latin typeface="Calibri"/>
              </a:rPr>
              <a:t>nichts</a:t>
            </a:r>
            <a:endParaRPr lang="de-DE" sz="1200" b="0" u="none" strike="noStrike">
              <a:solidFill>
                <a:srgbClr val="000000"/>
              </a:solidFill>
              <a:effectLst/>
              <a:uFillTx/>
              <a:latin typeface="Arial"/>
            </a:endParaRPr>
          </a:p>
        </p:txBody>
      </p:sp>
      <p:sp>
        <p:nvSpPr>
          <p:cNvPr id="167" name="Label Pub Endstop-Board"/>
          <p:cNvSpPr/>
          <p:nvPr/>
        </p:nvSpPr>
        <p:spPr>
          <a:xfrm>
            <a:off x="8284320" y="3520440"/>
            <a:ext cx="313524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300" b="1" u="none" strike="noStrike">
                <a:solidFill>
                  <a:srgbClr val="1FA896"/>
                </a:solidFill>
                <a:effectLst/>
                <a:uFillTx/>
                <a:latin typeface="Calibri"/>
              </a:rPr>
              <a:t>Publiziert</a:t>
            </a:r>
            <a:endParaRPr lang="de-DE" sz="1300" b="0" u="none" strike="noStrike">
              <a:solidFill>
                <a:srgbClr val="000000"/>
              </a:solidFill>
              <a:effectLst/>
              <a:uFillTx/>
              <a:latin typeface="Arial"/>
            </a:endParaRPr>
          </a:p>
        </p:txBody>
      </p:sp>
      <p:sp>
        <p:nvSpPr>
          <p:cNvPr id="168" name="Topic state Endstop-Board"/>
          <p:cNvSpPr/>
          <p:nvPr/>
        </p:nvSpPr>
        <p:spPr>
          <a:xfrm>
            <a:off x="8284320" y="3813120"/>
            <a:ext cx="3135240" cy="52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69" name="Topic Name state Endstop-Board"/>
          <p:cNvSpPr/>
          <p:nvPr/>
        </p:nvSpPr>
        <p:spPr>
          <a:xfrm>
            <a:off x="8421480" y="3886200"/>
            <a:ext cx="286092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endstop/state</a:t>
            </a:r>
            <a:endParaRPr lang="de-DE" sz="1000" b="0" u="none" strike="noStrike">
              <a:solidFill>
                <a:srgbClr val="000000"/>
              </a:solidFill>
              <a:effectLst/>
              <a:uFillTx/>
              <a:latin typeface="Arial"/>
            </a:endParaRPr>
          </a:p>
        </p:txBody>
      </p:sp>
      <p:sp>
        <p:nvSpPr>
          <p:cNvPr id="170" name="Payload state Endstop-Board"/>
          <p:cNvSpPr/>
          <p:nvPr/>
        </p:nvSpPr>
        <p:spPr>
          <a:xfrm>
            <a:off x="8421480" y="4087440"/>
            <a:ext cx="2860920" cy="1544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{"x1":0,"x2":0,"y1":0,"y2":0,"z1":0}</a:t>
            </a:r>
            <a:endParaRPr lang="de-DE" sz="1000" b="0" u="none" strike="noStrike">
              <a:solidFill>
                <a:srgbClr val="000000"/>
              </a:solidFill>
              <a:effectLst/>
              <a:uFillTx/>
              <a:latin typeface="Arial"/>
            </a:endParaRPr>
          </a:p>
        </p:txBody>
      </p:sp>
      <p:sp>
        <p:nvSpPr>
          <p:cNvPr id="171" name="Topic status Endstop-Board"/>
          <p:cNvSpPr/>
          <p:nvPr/>
        </p:nvSpPr>
        <p:spPr>
          <a:xfrm>
            <a:off x="8284320" y="4407480"/>
            <a:ext cx="3135240" cy="52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72" name="Topic Name status Endstop-Board"/>
          <p:cNvSpPr/>
          <p:nvPr/>
        </p:nvSpPr>
        <p:spPr>
          <a:xfrm>
            <a:off x="8421480" y="4480560"/>
            <a:ext cx="286092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claw_endstop/status</a:t>
            </a:r>
            <a:endParaRPr lang="de-DE" sz="1000" b="0" u="none" strike="noStrike">
              <a:solidFill>
                <a:srgbClr val="000000"/>
              </a:solidFill>
              <a:effectLst/>
              <a:uFillTx/>
              <a:latin typeface="Arial"/>
            </a:endParaRPr>
          </a:p>
        </p:txBody>
      </p:sp>
      <p:sp>
        <p:nvSpPr>
          <p:cNvPr id="173" name="Payload status Endstop-Board"/>
          <p:cNvSpPr/>
          <p:nvPr/>
        </p:nvSpPr>
        <p:spPr>
          <a:xfrm>
            <a:off x="8421480" y="4681800"/>
            <a:ext cx="2860920" cy="1544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online / offline</a:t>
            </a:r>
            <a:endParaRPr lang="de-DE" sz="1000" b="0" u="none" strike="noStrike">
              <a:solidFill>
                <a:srgbClr val="000000"/>
              </a:solidFill>
              <a:effectLst/>
              <a:uFillTx/>
              <a:latin typeface="Arial"/>
            </a:endParaRPr>
          </a:p>
        </p:txBody>
      </p:sp>
      <p:sp>
        <p:nvSpPr>
          <p:cNvPr id="174" name="Topic uptime Endstop-Board"/>
          <p:cNvSpPr/>
          <p:nvPr/>
        </p:nvSpPr>
        <p:spPr>
          <a:xfrm>
            <a:off x="8284320" y="5001840"/>
            <a:ext cx="3135240" cy="52020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75" name="Topic Name uptime Endstop-Board"/>
          <p:cNvSpPr/>
          <p:nvPr/>
        </p:nvSpPr>
        <p:spPr>
          <a:xfrm>
            <a:off x="8421480" y="5074920"/>
            <a:ext cx="286092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claw_endstop/metadata/uptime</a:t>
            </a:r>
            <a:endParaRPr lang="de-DE" sz="1000" b="0" u="none" strike="noStrike">
              <a:solidFill>
                <a:srgbClr val="000000"/>
              </a:solidFill>
              <a:effectLst/>
              <a:uFillTx/>
              <a:latin typeface="Arial"/>
            </a:endParaRPr>
          </a:p>
        </p:txBody>
      </p:sp>
      <p:sp>
        <p:nvSpPr>
          <p:cNvPr id="176" name="Payload uptime Endstop-Board"/>
          <p:cNvSpPr/>
          <p:nvPr/>
        </p:nvSpPr>
        <p:spPr>
          <a:xfrm>
            <a:off x="8421480" y="5276160"/>
            <a:ext cx="2860920" cy="1544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123456</a:t>
            </a:r>
            <a:endParaRPr lang="de-DE" sz="1000" b="0" u="none" strike="noStrike">
              <a:solidFill>
                <a:srgbClr val="000000"/>
              </a:solidFill>
              <a:effectLst/>
              <a:uFillTx/>
              <a:latin typeface="Arial"/>
            </a:endParaRPr>
          </a:p>
        </p:txBody>
      </p:sp>
      <p:sp>
        <p:nvSpPr>
          <p:cNvPr id="177" name="Fußnote"/>
          <p:cNvSpPr/>
          <p:nvPr/>
        </p:nvSpPr>
        <p:spPr>
          <a:xfrm>
            <a:off x="548640" y="6080760"/>
            <a:ext cx="11063160" cy="45612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100" b="0" u="none" strike="noStrike">
                <a:solidFill>
                  <a:srgbClr val="7C7A99"/>
                </a:solidFill>
                <a:effectLst/>
                <a:uFillTx/>
                <a:latin typeface="Calibri"/>
              </a:rPr>
              <a:t>Alle Topics beginnen mit clawmachine/. status und uptime kommen aus der gemeinsamen Library.</a:t>
            </a:r>
            <a:endParaRPr lang="de-DE" sz="1100" b="0" u="none" strike="noStrike">
              <a:solidFill>
                <a:srgbClr val="000000"/>
              </a:solidFill>
              <a:effectLst/>
              <a:uFillTx/>
              <a:latin typeface="Arial"/>
            </a:endParaRPr>
          </a:p>
          <a:p>
            <a:pPr>
              <a:lnSpc>
                <a:spcPct val="100000"/>
              </a:lnSpc>
            </a:pPr>
            <a:r>
              <a:rPr lang="de-DE" sz="1100" b="0" u="none" strike="noStrike">
                <a:solidFill>
                  <a:srgbClr val="7C7A99"/>
                </a:solidFill>
                <a:effectLst/>
                <a:uFillTx/>
                <a:latin typeface="Calibri"/>
              </a:rPr>
              <a:t>endstop/state geht vom Broker direkt an den Scanner, nicht über den Server.</a:t>
            </a:r>
            <a:endParaRPr lang="de-DE"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Titel"/>
          <p:cNvSpPr/>
          <p:nvPr/>
        </p:nvSpPr>
        <p:spPr>
          <a:xfrm>
            <a:off x="548640" y="365760"/>
            <a:ext cx="11063160" cy="73044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3600" b="1" u="none" strike="noStrike">
                <a:solidFill>
                  <a:srgbClr val="1B1B2F"/>
                </a:solidFill>
                <a:effectLst/>
                <a:uFillTx/>
                <a:latin typeface="Cambria"/>
              </a:rPr>
              <a:t>Topics des Motor-Controllers</a:t>
            </a:r>
            <a:endParaRPr lang="de-DE" sz="3600" b="0" u="none" strike="noStrike">
              <a:solidFill>
                <a:srgbClr val="000000"/>
              </a:solidFill>
              <a:effectLst/>
              <a:uFillTx/>
              <a:latin typeface="Arial"/>
            </a:endParaRPr>
          </a:p>
        </p:txBody>
      </p:sp>
      <p:sp>
        <p:nvSpPr>
          <p:cNvPr id="179" name="Label Abo"/>
          <p:cNvSpPr/>
          <p:nvPr/>
        </p:nvSpPr>
        <p:spPr>
          <a:xfrm>
            <a:off x="548640" y="1188720"/>
            <a:ext cx="402228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400" b="1" u="none" strike="noStrike">
                <a:solidFill>
                  <a:srgbClr val="6C5CE7"/>
                </a:solidFill>
                <a:effectLst/>
                <a:uFillTx/>
                <a:latin typeface="Calibri"/>
              </a:rPr>
              <a:t>Abonniert</a:t>
            </a:r>
            <a:endParaRPr lang="de-DE" sz="1400" b="0" u="none" strike="noStrike">
              <a:solidFill>
                <a:srgbClr val="000000"/>
              </a:solidFill>
              <a:effectLst/>
              <a:uFillTx/>
              <a:latin typeface="Arial"/>
            </a:endParaRPr>
          </a:p>
        </p:txBody>
      </p:sp>
      <p:sp>
        <p:nvSpPr>
          <p:cNvPr id="180" name="Label Pub"/>
          <p:cNvSpPr/>
          <p:nvPr/>
        </p:nvSpPr>
        <p:spPr>
          <a:xfrm>
            <a:off x="7616880" y="1188720"/>
            <a:ext cx="402228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400" b="1" u="none" strike="noStrike">
                <a:solidFill>
                  <a:srgbClr val="1FA896"/>
                </a:solidFill>
                <a:effectLst/>
                <a:uFillTx/>
                <a:latin typeface="Calibri"/>
              </a:rPr>
              <a:t>Publiziert</a:t>
            </a:r>
            <a:endParaRPr lang="de-DE" sz="1400" b="0" u="none" strike="noStrike">
              <a:solidFill>
                <a:srgbClr val="000000"/>
              </a:solidFill>
              <a:effectLst/>
              <a:uFillTx/>
              <a:latin typeface="Arial"/>
            </a:endParaRPr>
          </a:p>
        </p:txBody>
      </p:sp>
      <p:sp>
        <p:nvSpPr>
          <p:cNvPr id="181" name="Motor-Controller"/>
          <p:cNvSpPr/>
          <p:nvPr/>
        </p:nvSpPr>
        <p:spPr>
          <a:xfrm>
            <a:off x="5029200" y="2651760"/>
            <a:ext cx="2129400" cy="1370520"/>
          </a:xfrm>
          <a:prstGeom prst="roundRect">
            <a:avLst>
              <a:gd name="adj" fmla="val 10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320040" rIns="73080" bIns="0" anchor="t">
            <a:noAutofit/>
          </a:bodyPr>
          <a:p>
            <a:pPr algn="ctr">
              <a:lnSpc>
                <a:spcPct val="100000"/>
              </a:lnSpc>
            </a:pPr>
            <a:r>
              <a:rPr lang="de-DE" sz="1500" b="1" u="none" strike="noStrike">
                <a:solidFill>
                  <a:srgbClr val="FFFFFF"/>
                </a:solidFill>
                <a:effectLst/>
                <a:uFillTx/>
                <a:latin typeface="Calibri"/>
              </a:rPr>
              <a:t>Motor-Controller</a:t>
            </a:r>
            <a:endParaRPr lang="de-DE" sz="1500" b="0" u="none" strike="noStrike">
              <a:solidFill>
                <a:srgbClr val="FFFFFF"/>
              </a:solidFill>
              <a:effectLst/>
              <a:uFillTx/>
              <a:latin typeface="Arial"/>
            </a:endParaRPr>
          </a:p>
        </p:txBody>
      </p:sp>
      <p:sp>
        <p:nvSpPr>
          <p:cNvPr id="182" name="Rolle Motor"/>
          <p:cNvSpPr/>
          <p:nvPr/>
        </p:nvSpPr>
        <p:spPr>
          <a:xfrm>
            <a:off x="5074920" y="3520440"/>
            <a:ext cx="2037960" cy="36468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100" b="0" u="none" strike="noStrike">
                <a:solidFill>
                  <a:srgbClr val="FFFFFF"/>
                </a:solidFill>
                <a:effectLst/>
                <a:uFillTx/>
                <a:latin typeface="Calibri"/>
              </a:rPr>
              <a:t>4 Schrittmotoren, Klauen-Servo</a:t>
            </a:r>
            <a:endParaRPr lang="de-DE" sz="1100" b="0" u="none" strike="noStrike">
              <a:solidFill>
                <a:srgbClr val="000000"/>
              </a:solidFill>
              <a:effectLst/>
              <a:uFillTx/>
              <a:latin typeface="Arial"/>
            </a:endParaRPr>
          </a:p>
        </p:txBody>
      </p:sp>
      <p:sp>
        <p:nvSpPr>
          <p:cNvPr id="183" name="Client Motor"/>
          <p:cNvSpPr/>
          <p:nvPr/>
        </p:nvSpPr>
        <p:spPr>
          <a:xfrm>
            <a:off x="4663440" y="4114800"/>
            <a:ext cx="2860920" cy="45612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000" b="0" u="none" strike="noStrike">
                <a:solidFill>
                  <a:srgbClr val="7C7A99"/>
                </a:solidFill>
                <a:effectLst/>
                <a:uFillTx/>
                <a:latin typeface="Courier New"/>
              </a:rPr>
              <a:t>Client-ID claw_motor_controller</a:t>
            </a:r>
            <a:endParaRPr lang="de-DE" sz="1000" b="0" u="none" strike="noStrike">
              <a:solidFill>
                <a:srgbClr val="000000"/>
              </a:solidFill>
              <a:effectLst/>
              <a:uFillTx/>
              <a:latin typeface="Arial"/>
            </a:endParaRPr>
          </a:p>
        </p:txBody>
      </p:sp>
      <p:sp>
        <p:nvSpPr>
          <p:cNvPr id="184" name="Topic Abo command"/>
          <p:cNvSpPr/>
          <p:nvPr/>
        </p:nvSpPr>
        <p:spPr>
          <a:xfrm>
            <a:off x="548640" y="1508760"/>
            <a:ext cx="4022280" cy="1141920"/>
          </a:xfrm>
          <a:prstGeom prst="roundRect">
            <a:avLst>
              <a:gd name="adj" fmla="val 8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85" name="Topic Name Abo command"/>
          <p:cNvSpPr/>
          <p:nvPr/>
        </p:nvSpPr>
        <p:spPr>
          <a:xfrm>
            <a:off x="685800" y="1581840"/>
            <a:ext cx="374796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6C5CE7"/>
                </a:solidFill>
                <a:effectLst/>
                <a:uFillTx/>
                <a:latin typeface="Courier New"/>
              </a:rPr>
              <a:t>motor_controller/motor/command</a:t>
            </a:r>
            <a:endParaRPr lang="de-DE" sz="1000" b="0" u="none" strike="noStrike">
              <a:solidFill>
                <a:srgbClr val="000000"/>
              </a:solidFill>
              <a:effectLst/>
              <a:uFillTx/>
              <a:latin typeface="Arial"/>
            </a:endParaRPr>
          </a:p>
        </p:txBody>
      </p:sp>
      <p:sp>
        <p:nvSpPr>
          <p:cNvPr id="186" name="Payload Abo command"/>
          <p:cNvSpPr/>
          <p:nvPr/>
        </p:nvSpPr>
        <p:spPr>
          <a:xfrm>
            <a:off x="685800" y="1783080"/>
            <a:ext cx="3747960" cy="77616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X:100   Y:-60   Z:0</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stop:Y   zero:Y   goto:Y:1200:50</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claw:open  claw:close  claw:stop</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claw:jog_open  claw:jog_close  claw:120</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{"X":100,"Y":0,"Z":0,"claw":"open"}</a:t>
            </a:r>
            <a:endParaRPr lang="de-DE" sz="1000" b="0" u="none" strike="noStrike">
              <a:solidFill>
                <a:srgbClr val="000000"/>
              </a:solidFill>
              <a:effectLst/>
              <a:uFillTx/>
              <a:latin typeface="Arial"/>
            </a:endParaRPr>
          </a:p>
        </p:txBody>
      </p:sp>
      <p:cxnSp>
        <p:nvCxnSpPr>
          <p:cNvPr id="187" name="Pfeil Abo command"/>
          <p:cNvCxnSpPr/>
          <p:nvPr/>
        </p:nvCxnSpPr>
        <p:spPr>
          <a:xfrm>
            <a:off x="4572000" y="2080080"/>
            <a:ext cx="458280" cy="938520"/>
          </a:xfrm>
          <a:prstGeom prst="straightConnector1">
            <a:avLst/>
          </a:prstGeom>
          <a:ln w="19050">
            <a:solidFill>
              <a:srgbClr val="6C5CE7"/>
            </a:solidFill>
            <a:round/>
            <a:tailEnd len="med" type="triangle" w="med"/>
          </a:ln>
        </p:spPr>
      </p:cxnSp>
      <p:sp>
        <p:nvSpPr>
          <p:cNvPr id="188" name="Topic Abo settings"/>
          <p:cNvSpPr/>
          <p:nvPr/>
        </p:nvSpPr>
        <p:spPr>
          <a:xfrm>
            <a:off x="548640" y="3017520"/>
            <a:ext cx="4022280" cy="1452960"/>
          </a:xfrm>
          <a:prstGeom prst="roundRect">
            <a:avLst>
              <a:gd name="adj" fmla="val 8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89" name="Topic Name Abo settings"/>
          <p:cNvSpPr/>
          <p:nvPr/>
        </p:nvSpPr>
        <p:spPr>
          <a:xfrm>
            <a:off x="685800" y="3090600"/>
            <a:ext cx="374796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6C5CE7"/>
                </a:solidFill>
                <a:effectLst/>
                <a:uFillTx/>
                <a:latin typeface="Courier New"/>
              </a:rPr>
              <a:t>motor_controller/settings</a:t>
            </a:r>
            <a:endParaRPr lang="de-DE" sz="1000" b="0" u="none" strike="noStrike">
              <a:solidFill>
                <a:srgbClr val="000000"/>
              </a:solidFill>
              <a:effectLst/>
              <a:uFillTx/>
              <a:latin typeface="Arial"/>
            </a:endParaRPr>
          </a:p>
        </p:txBody>
      </p:sp>
      <p:sp>
        <p:nvSpPr>
          <p:cNvPr id="190" name="Payload Abo settings"/>
          <p:cNvSpPr/>
          <p:nvPr/>
        </p:nvSpPr>
        <p:spPr>
          <a:xfrm>
            <a:off x="685800" y="3291840"/>
            <a:ext cx="3747960" cy="10872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{"accelerationPercentPerSecond":50}</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{"xyAccelerationPercentPerSecond":50}</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{"zAccelerationPercentPerSecond":50}</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{"xyMaxRevolutionsPerMinute":120}</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{"zMaxRevolutionsPerMinute":120}</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{"clawSpeedDegreesPerSecond":35}</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{"clawJogSpeedDegreesPerSecond":10}</a:t>
            </a:r>
            <a:endParaRPr lang="de-DE" sz="1000" b="0" u="none" strike="noStrike">
              <a:solidFill>
                <a:srgbClr val="000000"/>
              </a:solidFill>
              <a:effectLst/>
              <a:uFillTx/>
              <a:latin typeface="Arial"/>
            </a:endParaRPr>
          </a:p>
        </p:txBody>
      </p:sp>
      <p:cxnSp>
        <p:nvCxnSpPr>
          <p:cNvPr id="191" name="Pfeil Abo settings"/>
          <p:cNvCxnSpPr/>
          <p:nvPr/>
        </p:nvCxnSpPr>
        <p:spPr>
          <a:xfrm flipV="1">
            <a:off x="4572000" y="3566160"/>
            <a:ext cx="458280" cy="179280"/>
          </a:xfrm>
          <a:prstGeom prst="straightConnector1">
            <a:avLst/>
          </a:prstGeom>
          <a:ln w="19050">
            <a:solidFill>
              <a:srgbClr val="6C5CE7"/>
            </a:solidFill>
            <a:round/>
            <a:tailEnd len="med" type="triangle" w="med"/>
          </a:ln>
        </p:spPr>
      </p:cxnSp>
      <p:sp>
        <p:nvSpPr>
          <p:cNvPr id="192" name="Topic position"/>
          <p:cNvSpPr/>
          <p:nvPr/>
        </p:nvSpPr>
        <p:spPr>
          <a:xfrm>
            <a:off x="7616880" y="1508760"/>
            <a:ext cx="4022280" cy="520200"/>
          </a:xfrm>
          <a:prstGeom prst="roundRect">
            <a:avLst>
              <a:gd name="adj" fmla="val 8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93" name="Topic Name position"/>
          <p:cNvSpPr/>
          <p:nvPr/>
        </p:nvSpPr>
        <p:spPr>
          <a:xfrm>
            <a:off x="7754040" y="1581840"/>
            <a:ext cx="374796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motor_controller/position</a:t>
            </a:r>
            <a:endParaRPr lang="de-DE" sz="1000" b="0" u="none" strike="noStrike">
              <a:solidFill>
                <a:srgbClr val="000000"/>
              </a:solidFill>
              <a:effectLst/>
              <a:uFillTx/>
              <a:latin typeface="Arial"/>
            </a:endParaRPr>
          </a:p>
        </p:txBody>
      </p:sp>
      <p:sp>
        <p:nvSpPr>
          <p:cNvPr id="194" name="Payload position"/>
          <p:cNvSpPr/>
          <p:nvPr/>
        </p:nvSpPr>
        <p:spPr>
          <a:xfrm>
            <a:off x="7754040" y="1783080"/>
            <a:ext cx="3747960" cy="1544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{"X":1200,"Y":0,"Z":340}</a:t>
            </a:r>
            <a:endParaRPr lang="de-DE" sz="1000" b="0" u="none" strike="noStrike">
              <a:solidFill>
                <a:srgbClr val="000000"/>
              </a:solidFill>
              <a:effectLst/>
              <a:uFillTx/>
              <a:latin typeface="Arial"/>
            </a:endParaRPr>
          </a:p>
        </p:txBody>
      </p:sp>
      <p:cxnSp>
        <p:nvCxnSpPr>
          <p:cNvPr id="195" name="Pfeil Pub position"/>
          <p:cNvCxnSpPr/>
          <p:nvPr/>
        </p:nvCxnSpPr>
        <p:spPr>
          <a:xfrm flipV="1">
            <a:off x="7159680" y="1769040"/>
            <a:ext cx="458280" cy="975240"/>
          </a:xfrm>
          <a:prstGeom prst="straightConnector1">
            <a:avLst/>
          </a:prstGeom>
          <a:ln w="19050">
            <a:solidFill>
              <a:srgbClr val="1FA896"/>
            </a:solidFill>
            <a:round/>
            <a:tailEnd len="med" type="triangle" w="med"/>
          </a:ln>
        </p:spPr>
      </p:cxnSp>
      <p:sp>
        <p:nvSpPr>
          <p:cNvPr id="196" name="Topic error_log"/>
          <p:cNvSpPr/>
          <p:nvPr/>
        </p:nvSpPr>
        <p:spPr>
          <a:xfrm>
            <a:off x="7616880" y="2350080"/>
            <a:ext cx="4022280" cy="675720"/>
          </a:xfrm>
          <a:prstGeom prst="roundRect">
            <a:avLst>
              <a:gd name="adj" fmla="val 8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197" name="Topic Name error_log"/>
          <p:cNvSpPr/>
          <p:nvPr/>
        </p:nvSpPr>
        <p:spPr>
          <a:xfrm>
            <a:off x="7754040" y="2423160"/>
            <a:ext cx="374796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motor_controller/error_log</a:t>
            </a:r>
            <a:endParaRPr lang="de-DE" sz="1000" b="0" u="none" strike="noStrike">
              <a:solidFill>
                <a:srgbClr val="000000"/>
              </a:solidFill>
              <a:effectLst/>
              <a:uFillTx/>
              <a:latin typeface="Arial"/>
            </a:endParaRPr>
          </a:p>
        </p:txBody>
      </p:sp>
      <p:sp>
        <p:nvSpPr>
          <p:cNvPr id="198" name="Payload error_log"/>
          <p:cNvSpPr/>
          <p:nvPr/>
        </p:nvSpPr>
        <p:spPr>
          <a:xfrm>
            <a:off x="7754040" y="2624400"/>
            <a:ext cx="3747960" cy="30996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{"device":"…","topic":"…",</a:t>
            </a:r>
            <a:endParaRPr lang="de-DE" sz="1000" b="0" u="none" strike="noStrike">
              <a:solidFill>
                <a:srgbClr val="000000"/>
              </a:solidFill>
              <a:effectLst/>
              <a:uFillTx/>
              <a:latin typeface="Arial"/>
            </a:endParaRPr>
          </a:p>
          <a:p>
            <a:pPr>
              <a:lnSpc>
                <a:spcPct val="100000"/>
              </a:lnSpc>
            </a:pPr>
            <a:r>
              <a:rPr lang="de-DE" sz="1000" b="0" u="none" strike="noStrike">
                <a:solidFill>
                  <a:srgbClr val="2D2A4A"/>
                </a:solidFill>
                <a:effectLst/>
                <a:uFillTx/>
                <a:latin typeface="Courier New"/>
              </a:rPr>
              <a:t>"payload":"X:abc","error":"…"}</a:t>
            </a:r>
            <a:endParaRPr lang="de-DE" sz="1000" b="0" u="none" strike="noStrike">
              <a:solidFill>
                <a:srgbClr val="000000"/>
              </a:solidFill>
              <a:effectLst/>
              <a:uFillTx/>
              <a:latin typeface="Arial"/>
            </a:endParaRPr>
          </a:p>
        </p:txBody>
      </p:sp>
      <p:cxnSp>
        <p:nvCxnSpPr>
          <p:cNvPr id="199" name="Pfeil Pub error_log"/>
          <p:cNvCxnSpPr/>
          <p:nvPr/>
        </p:nvCxnSpPr>
        <p:spPr>
          <a:xfrm flipV="1">
            <a:off x="7159680" y="2688120"/>
            <a:ext cx="458280" cy="467640"/>
          </a:xfrm>
          <a:prstGeom prst="straightConnector1">
            <a:avLst/>
          </a:prstGeom>
          <a:ln w="19050">
            <a:solidFill>
              <a:srgbClr val="1FA896"/>
            </a:solidFill>
            <a:round/>
            <a:tailEnd len="med" type="triangle" w="med"/>
          </a:ln>
        </p:spPr>
      </p:cxnSp>
      <p:sp>
        <p:nvSpPr>
          <p:cNvPr id="200" name="Topic status"/>
          <p:cNvSpPr/>
          <p:nvPr/>
        </p:nvSpPr>
        <p:spPr>
          <a:xfrm>
            <a:off x="7616880" y="3346560"/>
            <a:ext cx="4022280" cy="520200"/>
          </a:xfrm>
          <a:prstGeom prst="roundRect">
            <a:avLst>
              <a:gd name="adj" fmla="val 8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201" name="Topic Name status"/>
          <p:cNvSpPr/>
          <p:nvPr/>
        </p:nvSpPr>
        <p:spPr>
          <a:xfrm>
            <a:off x="7754040" y="3420000"/>
            <a:ext cx="374796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claw_motor_controller/status</a:t>
            </a:r>
            <a:endParaRPr lang="de-DE" sz="1000" b="0" u="none" strike="noStrike">
              <a:solidFill>
                <a:srgbClr val="000000"/>
              </a:solidFill>
              <a:effectLst/>
              <a:uFillTx/>
              <a:latin typeface="Arial"/>
            </a:endParaRPr>
          </a:p>
        </p:txBody>
      </p:sp>
      <p:sp>
        <p:nvSpPr>
          <p:cNvPr id="202" name="Payload status"/>
          <p:cNvSpPr/>
          <p:nvPr/>
        </p:nvSpPr>
        <p:spPr>
          <a:xfrm>
            <a:off x="7754040" y="3620880"/>
            <a:ext cx="3747960" cy="1544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online / offline</a:t>
            </a:r>
            <a:endParaRPr lang="de-DE" sz="1000" b="0" u="none" strike="noStrike">
              <a:solidFill>
                <a:srgbClr val="000000"/>
              </a:solidFill>
              <a:effectLst/>
              <a:uFillTx/>
              <a:latin typeface="Arial"/>
            </a:endParaRPr>
          </a:p>
        </p:txBody>
      </p:sp>
      <p:cxnSp>
        <p:nvCxnSpPr>
          <p:cNvPr id="203" name="Pfeil Pub status"/>
          <p:cNvCxnSpPr/>
          <p:nvPr/>
        </p:nvCxnSpPr>
        <p:spPr>
          <a:xfrm>
            <a:off x="7159680" y="3566160"/>
            <a:ext cx="458280" cy="42120"/>
          </a:xfrm>
          <a:prstGeom prst="straightConnector1">
            <a:avLst/>
          </a:prstGeom>
          <a:ln w="19050">
            <a:solidFill>
              <a:srgbClr val="1FA896"/>
            </a:solidFill>
            <a:round/>
            <a:tailEnd len="med" type="triangle" w="med"/>
          </a:ln>
        </p:spPr>
      </p:cxnSp>
      <p:sp>
        <p:nvSpPr>
          <p:cNvPr id="204" name="Topic uptime"/>
          <p:cNvSpPr/>
          <p:nvPr/>
        </p:nvSpPr>
        <p:spPr>
          <a:xfrm>
            <a:off x="7616880" y="4187880"/>
            <a:ext cx="4022280" cy="520200"/>
          </a:xfrm>
          <a:prstGeom prst="roundRect">
            <a:avLst>
              <a:gd name="adj" fmla="val 8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205" name="Topic Name uptime"/>
          <p:cNvSpPr/>
          <p:nvPr/>
        </p:nvSpPr>
        <p:spPr>
          <a:xfrm>
            <a:off x="7754040" y="4260960"/>
            <a:ext cx="3747960" cy="18180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1" u="none" strike="noStrike">
                <a:solidFill>
                  <a:srgbClr val="1FA896"/>
                </a:solidFill>
                <a:effectLst/>
                <a:uFillTx/>
                <a:latin typeface="Courier New"/>
              </a:rPr>
              <a:t>claw_motor_controller/metadata/uptime</a:t>
            </a:r>
            <a:endParaRPr lang="de-DE" sz="1000" b="0" u="none" strike="noStrike">
              <a:solidFill>
                <a:srgbClr val="000000"/>
              </a:solidFill>
              <a:effectLst/>
              <a:uFillTx/>
              <a:latin typeface="Arial"/>
            </a:endParaRPr>
          </a:p>
        </p:txBody>
      </p:sp>
      <p:sp>
        <p:nvSpPr>
          <p:cNvPr id="206" name="Payload uptime"/>
          <p:cNvSpPr/>
          <p:nvPr/>
        </p:nvSpPr>
        <p:spPr>
          <a:xfrm>
            <a:off x="7754040" y="4462200"/>
            <a:ext cx="3747960" cy="1544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000" b="0" u="none" strike="noStrike">
                <a:solidFill>
                  <a:srgbClr val="2D2A4A"/>
                </a:solidFill>
                <a:effectLst/>
                <a:uFillTx/>
                <a:latin typeface="Courier New"/>
              </a:rPr>
              <a:t>123456</a:t>
            </a:r>
            <a:endParaRPr lang="de-DE" sz="1000" b="0" u="none" strike="noStrike">
              <a:solidFill>
                <a:srgbClr val="000000"/>
              </a:solidFill>
              <a:effectLst/>
              <a:uFillTx/>
              <a:latin typeface="Arial"/>
            </a:endParaRPr>
          </a:p>
        </p:txBody>
      </p:sp>
      <p:cxnSp>
        <p:nvCxnSpPr>
          <p:cNvPr id="207" name="Pfeil Pub uptime"/>
          <p:cNvCxnSpPr/>
          <p:nvPr/>
        </p:nvCxnSpPr>
        <p:spPr>
          <a:xfrm>
            <a:off x="7159680" y="3977280"/>
            <a:ext cx="458280" cy="472320"/>
          </a:xfrm>
          <a:prstGeom prst="straightConnector1">
            <a:avLst/>
          </a:prstGeom>
          <a:ln w="19050">
            <a:solidFill>
              <a:srgbClr val="1FA896"/>
            </a:solidFill>
            <a:round/>
            <a:tailEnd len="med" type="triangle" w="med"/>
          </a:ln>
        </p:spPr>
      </p:cxnSp>
      <p:sp>
        <p:nvSpPr>
          <p:cNvPr id="208" name="Fußnote"/>
          <p:cNvSpPr/>
          <p:nvPr/>
        </p:nvSpPr>
        <p:spPr>
          <a:xfrm>
            <a:off x="548640" y="6172200"/>
            <a:ext cx="1106316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100" b="0" u="none" strike="noStrike">
                <a:solidFill>
                  <a:srgbClr val="7C7A99"/>
                </a:solidFill>
                <a:effectLst/>
                <a:uFillTx/>
                <a:latin typeface="Calibri"/>
              </a:rPr>
              <a:t>Alle Topics beginnen mit clawmachine/. status und uptime kommen aus der gemeinsamen Library.</a:t>
            </a:r>
            <a:endParaRPr lang="de-DE"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Titel"/>
          <p:cNvSpPr/>
          <p:nvPr/>
        </p:nvSpPr>
        <p:spPr>
          <a:xfrm>
            <a:off x="548640" y="456120"/>
            <a:ext cx="11063160" cy="54936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3600" b="1" u="none" strike="noStrike">
                <a:solidFill>
                  <a:srgbClr val="1B1B2F"/>
                </a:solidFill>
                <a:effectLst/>
                <a:uFillTx/>
                <a:latin typeface="Cambria"/>
              </a:rPr>
              <a:t>Ablauf einer Eingabe</a:t>
            </a:r>
            <a:endParaRPr lang="de-DE" sz="3600" b="0" u="none" strike="noStrike">
              <a:solidFill>
                <a:srgbClr val="000000"/>
              </a:solidFill>
              <a:effectLst/>
              <a:uFillTx/>
              <a:latin typeface="Arial"/>
            </a:endParaRPr>
          </a:p>
        </p:txBody>
      </p:sp>
      <p:sp>
        <p:nvSpPr>
          <p:cNvPr id="210" name="Akteur Spieler"/>
          <p:cNvSpPr/>
          <p:nvPr/>
        </p:nvSpPr>
        <p:spPr>
          <a:xfrm>
            <a:off x="685800" y="1234440"/>
            <a:ext cx="1644840" cy="456120"/>
          </a:xfrm>
          <a:prstGeom prst="roundRect">
            <a:avLst>
              <a:gd name="adj" fmla="val 15000"/>
            </a:avLst>
          </a:prstGeom>
          <a:solidFill>
            <a:srgbClr val="F3F0FA"/>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300" b="1" u="none" strike="noStrike">
                <a:solidFill>
                  <a:srgbClr val="1B1B2F"/>
                </a:solidFill>
                <a:effectLst/>
                <a:uFillTx/>
                <a:latin typeface="Calibri"/>
              </a:rPr>
              <a:t>Spieler</a:t>
            </a:r>
            <a:endParaRPr lang="de-DE" sz="1300" b="0" u="none" strike="noStrike">
              <a:solidFill>
                <a:srgbClr val="000000"/>
              </a:solidFill>
              <a:effectLst/>
              <a:uFillTx/>
              <a:latin typeface="Arial"/>
            </a:endParaRPr>
          </a:p>
        </p:txBody>
      </p:sp>
      <p:cxnSp>
        <p:nvCxnSpPr>
          <p:cNvPr id="211" name="Lebenslinie Spieler"/>
          <p:cNvCxnSpPr/>
          <p:nvPr/>
        </p:nvCxnSpPr>
        <p:spPr>
          <a:xfrm>
            <a:off x="1508760" y="1691640"/>
            <a:ext cx="1080" cy="4161600"/>
          </a:xfrm>
          <a:prstGeom prst="straightConnector1">
            <a:avLst/>
          </a:prstGeom>
          <a:ln w="9525">
            <a:solidFill>
              <a:srgbClr val="7C7A99"/>
            </a:solidFill>
            <a:prstDash val="dash"/>
            <a:round/>
          </a:ln>
        </p:spPr>
      </p:cxnSp>
      <p:sp>
        <p:nvSpPr>
          <p:cNvPr id="212" name="Akteur Joy-Con-Scanner"/>
          <p:cNvSpPr/>
          <p:nvPr/>
        </p:nvSpPr>
        <p:spPr>
          <a:xfrm>
            <a:off x="2514600" y="1234440"/>
            <a:ext cx="1644840" cy="456120"/>
          </a:xfrm>
          <a:prstGeom prst="roundRect">
            <a:avLst>
              <a:gd name="adj" fmla="val 15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300" b="1" u="none" strike="noStrike">
                <a:solidFill>
                  <a:srgbClr val="FFFFFF"/>
                </a:solidFill>
                <a:effectLst/>
                <a:uFillTx/>
                <a:latin typeface="Calibri"/>
              </a:rPr>
              <a:t>Joy-Con-Scanner</a:t>
            </a:r>
            <a:endParaRPr lang="de-DE" sz="1300" b="0" u="none" strike="noStrike">
              <a:solidFill>
                <a:srgbClr val="FFFFFF"/>
              </a:solidFill>
              <a:effectLst/>
              <a:uFillTx/>
              <a:latin typeface="Arial"/>
            </a:endParaRPr>
          </a:p>
        </p:txBody>
      </p:sp>
      <p:cxnSp>
        <p:nvCxnSpPr>
          <p:cNvPr id="213" name="Lebenslinie Joy-Con-Scanner"/>
          <p:cNvCxnSpPr/>
          <p:nvPr/>
        </p:nvCxnSpPr>
        <p:spPr>
          <a:xfrm>
            <a:off x="3337560" y="1691640"/>
            <a:ext cx="1080" cy="4161600"/>
          </a:xfrm>
          <a:prstGeom prst="straightConnector1">
            <a:avLst/>
          </a:prstGeom>
          <a:ln w="9525">
            <a:solidFill>
              <a:srgbClr val="7C7A99"/>
            </a:solidFill>
            <a:prstDash val="dash"/>
            <a:round/>
          </a:ln>
        </p:spPr>
      </p:cxnSp>
      <p:sp>
        <p:nvSpPr>
          <p:cNvPr id="214" name="Akteur Broker"/>
          <p:cNvSpPr/>
          <p:nvPr/>
        </p:nvSpPr>
        <p:spPr>
          <a:xfrm>
            <a:off x="4343400" y="1234440"/>
            <a:ext cx="1644840" cy="456120"/>
          </a:xfrm>
          <a:prstGeom prst="roundRect">
            <a:avLst>
              <a:gd name="adj" fmla="val 15000"/>
            </a:avLst>
          </a:prstGeom>
          <a:solidFill>
            <a:srgbClr val="FF5A5F"/>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300" b="1" u="none" strike="noStrike">
                <a:solidFill>
                  <a:srgbClr val="FFFFFF"/>
                </a:solidFill>
                <a:effectLst/>
                <a:uFillTx/>
                <a:latin typeface="Calibri"/>
              </a:rPr>
              <a:t>Broker</a:t>
            </a:r>
            <a:endParaRPr lang="de-DE" sz="1300" b="0" u="none" strike="noStrike">
              <a:solidFill>
                <a:srgbClr val="FFFFFF"/>
              </a:solidFill>
              <a:effectLst/>
              <a:uFillTx/>
              <a:latin typeface="Arial"/>
            </a:endParaRPr>
          </a:p>
        </p:txBody>
      </p:sp>
      <p:cxnSp>
        <p:nvCxnSpPr>
          <p:cNvPr id="215" name="Lebenslinie Broker"/>
          <p:cNvCxnSpPr/>
          <p:nvPr/>
        </p:nvCxnSpPr>
        <p:spPr>
          <a:xfrm>
            <a:off x="5166360" y="1691640"/>
            <a:ext cx="1080" cy="4161600"/>
          </a:xfrm>
          <a:prstGeom prst="straightConnector1">
            <a:avLst/>
          </a:prstGeom>
          <a:ln w="9525">
            <a:solidFill>
              <a:srgbClr val="7C7A99"/>
            </a:solidFill>
            <a:prstDash val="dash"/>
            <a:round/>
          </a:ln>
        </p:spPr>
      </p:cxnSp>
      <p:sp>
        <p:nvSpPr>
          <p:cNvPr id="216" name="Akteur Python-Server"/>
          <p:cNvSpPr/>
          <p:nvPr/>
        </p:nvSpPr>
        <p:spPr>
          <a:xfrm>
            <a:off x="6172200" y="1234440"/>
            <a:ext cx="1644840" cy="456120"/>
          </a:xfrm>
          <a:prstGeom prst="roundRect">
            <a:avLst>
              <a:gd name="adj" fmla="val 15000"/>
            </a:avLst>
          </a:prstGeom>
          <a:solidFill>
            <a:srgbClr val="6C5CE7"/>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300" b="1" u="none" strike="noStrike">
                <a:solidFill>
                  <a:srgbClr val="FFFFFF"/>
                </a:solidFill>
                <a:effectLst/>
                <a:uFillTx/>
                <a:latin typeface="Calibri"/>
              </a:rPr>
              <a:t>Python-Server</a:t>
            </a:r>
            <a:endParaRPr lang="de-DE" sz="1300" b="0" u="none" strike="noStrike">
              <a:solidFill>
                <a:srgbClr val="FFFFFF"/>
              </a:solidFill>
              <a:effectLst/>
              <a:uFillTx/>
              <a:latin typeface="Arial"/>
            </a:endParaRPr>
          </a:p>
        </p:txBody>
      </p:sp>
      <p:cxnSp>
        <p:nvCxnSpPr>
          <p:cNvPr id="217" name="Lebenslinie Python-Server"/>
          <p:cNvCxnSpPr/>
          <p:nvPr/>
        </p:nvCxnSpPr>
        <p:spPr>
          <a:xfrm>
            <a:off x="6995160" y="1691640"/>
            <a:ext cx="1080" cy="4161600"/>
          </a:xfrm>
          <a:prstGeom prst="straightConnector1">
            <a:avLst/>
          </a:prstGeom>
          <a:ln w="9525">
            <a:solidFill>
              <a:srgbClr val="7C7A99"/>
            </a:solidFill>
            <a:prstDash val="dash"/>
            <a:round/>
          </a:ln>
        </p:spPr>
      </p:cxnSp>
      <p:sp>
        <p:nvSpPr>
          <p:cNvPr id="218" name="Akteur Motor-Controller"/>
          <p:cNvSpPr/>
          <p:nvPr/>
        </p:nvSpPr>
        <p:spPr>
          <a:xfrm>
            <a:off x="8001000" y="1234440"/>
            <a:ext cx="1644840" cy="456120"/>
          </a:xfrm>
          <a:prstGeom prst="roundRect">
            <a:avLst>
              <a:gd name="adj" fmla="val 15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300" b="1" u="none" strike="noStrike">
                <a:solidFill>
                  <a:srgbClr val="FFFFFF"/>
                </a:solidFill>
                <a:effectLst/>
                <a:uFillTx/>
                <a:latin typeface="Calibri"/>
              </a:rPr>
              <a:t>Motor-Controller</a:t>
            </a:r>
            <a:endParaRPr lang="de-DE" sz="1300" b="0" u="none" strike="noStrike">
              <a:solidFill>
                <a:srgbClr val="FFFFFF"/>
              </a:solidFill>
              <a:effectLst/>
              <a:uFillTx/>
              <a:latin typeface="Arial"/>
            </a:endParaRPr>
          </a:p>
        </p:txBody>
      </p:sp>
      <p:cxnSp>
        <p:nvCxnSpPr>
          <p:cNvPr id="219" name="Lebenslinie Motor-Controller"/>
          <p:cNvCxnSpPr/>
          <p:nvPr/>
        </p:nvCxnSpPr>
        <p:spPr>
          <a:xfrm>
            <a:off x="8823960" y="1691640"/>
            <a:ext cx="1080" cy="4161600"/>
          </a:xfrm>
          <a:prstGeom prst="straightConnector1">
            <a:avLst/>
          </a:prstGeom>
          <a:ln w="9525">
            <a:solidFill>
              <a:srgbClr val="7C7A99"/>
            </a:solidFill>
            <a:prstDash val="dash"/>
            <a:round/>
          </a:ln>
        </p:spPr>
      </p:cxnSp>
      <p:sp>
        <p:nvSpPr>
          <p:cNvPr id="220" name="Akteur Endstop-Board"/>
          <p:cNvSpPr/>
          <p:nvPr/>
        </p:nvSpPr>
        <p:spPr>
          <a:xfrm>
            <a:off x="9829800" y="1234440"/>
            <a:ext cx="1644840" cy="456120"/>
          </a:xfrm>
          <a:prstGeom prst="roundRect">
            <a:avLst>
              <a:gd name="adj" fmla="val 15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300" b="1" u="none" strike="noStrike">
                <a:solidFill>
                  <a:srgbClr val="FFFFFF"/>
                </a:solidFill>
                <a:effectLst/>
                <a:uFillTx/>
                <a:latin typeface="Calibri"/>
              </a:rPr>
              <a:t>Endstop-Board</a:t>
            </a:r>
            <a:endParaRPr lang="de-DE" sz="1300" b="0" u="none" strike="noStrike">
              <a:solidFill>
                <a:srgbClr val="FFFFFF"/>
              </a:solidFill>
              <a:effectLst/>
              <a:uFillTx/>
              <a:latin typeface="Arial"/>
            </a:endParaRPr>
          </a:p>
        </p:txBody>
      </p:sp>
      <p:cxnSp>
        <p:nvCxnSpPr>
          <p:cNvPr id="221" name="Lebenslinie Endstop-Board"/>
          <p:cNvCxnSpPr/>
          <p:nvPr/>
        </p:nvCxnSpPr>
        <p:spPr>
          <a:xfrm>
            <a:off x="10652760" y="1691640"/>
            <a:ext cx="1080" cy="4161600"/>
          </a:xfrm>
          <a:prstGeom prst="straightConnector1">
            <a:avLst/>
          </a:prstGeom>
          <a:ln w="9525">
            <a:solidFill>
              <a:srgbClr val="7C7A99"/>
            </a:solidFill>
            <a:prstDash val="dash"/>
            <a:round/>
          </a:ln>
        </p:spPr>
      </p:cxnSp>
      <p:cxnSp>
        <p:nvCxnSpPr>
          <p:cNvPr id="222" name="Pfeil 1"/>
          <p:cNvCxnSpPr/>
          <p:nvPr/>
        </p:nvCxnSpPr>
        <p:spPr>
          <a:xfrm>
            <a:off x="1545120" y="2258280"/>
            <a:ext cx="1756800" cy="1080"/>
          </a:xfrm>
          <a:prstGeom prst="straightConnector1">
            <a:avLst/>
          </a:prstGeom>
          <a:ln w="19050">
            <a:solidFill>
              <a:srgbClr val="1B1B2F"/>
            </a:solidFill>
            <a:round/>
            <a:tailEnd len="med" type="triangle" w="med"/>
          </a:ln>
        </p:spPr>
      </p:cxnSp>
      <p:sp>
        <p:nvSpPr>
          <p:cNvPr id="223" name="Label 1"/>
          <p:cNvSpPr/>
          <p:nvPr/>
        </p:nvSpPr>
        <p:spPr>
          <a:xfrm>
            <a:off x="1510920" y="2061720"/>
            <a:ext cx="1823040" cy="168120"/>
          </a:xfrm>
          <a:prstGeom prst="rect">
            <a:avLst/>
          </a:prstGeom>
          <a:solidFill>
            <a:srgbClr val="FFFFFF"/>
          </a:solidFill>
          <a:ln w="0">
            <a:noFill/>
          </a:ln>
        </p:spPr>
        <p:style>
          <a:lnRef idx="0"/>
          <a:fillRef idx="0"/>
          <a:effectRef idx="0"/>
          <a:fontRef idx="minor"/>
        </p:style>
        <p:txBody>
          <a:bodyPr lIns="0" tIns="0" rIns="0" bIns="0" anchor="b">
            <a:spAutoFit/>
          </a:bodyPr>
          <a:p>
            <a:pPr algn="ctr">
              <a:lnSpc>
                <a:spcPct val="100000"/>
              </a:lnSpc>
            </a:pPr>
            <a:r>
              <a:rPr lang="de-DE" sz="1100" b="0" u="none" strike="noStrike">
                <a:solidFill>
                  <a:srgbClr val="1B1B2F"/>
                </a:solidFill>
                <a:effectLst/>
                <a:uFillTx/>
                <a:latin typeface="Calibri"/>
              </a:rPr>
              <a:t>Stick oder Taste, per BLE</a:t>
            </a:r>
            <a:endParaRPr lang="de-DE" sz="1100" b="0" u="none" strike="noStrike">
              <a:solidFill>
                <a:srgbClr val="000000"/>
              </a:solidFill>
              <a:effectLst/>
              <a:uFillTx/>
              <a:latin typeface="Arial"/>
            </a:endParaRPr>
          </a:p>
        </p:txBody>
      </p:sp>
      <p:cxnSp>
        <p:nvCxnSpPr>
          <p:cNvPr id="224" name="Pfeil 2"/>
          <p:cNvCxnSpPr/>
          <p:nvPr/>
        </p:nvCxnSpPr>
        <p:spPr>
          <a:xfrm>
            <a:off x="3373920" y="2633400"/>
            <a:ext cx="1756800" cy="1080"/>
          </a:xfrm>
          <a:prstGeom prst="straightConnector1">
            <a:avLst/>
          </a:prstGeom>
          <a:ln w="19050">
            <a:solidFill>
              <a:srgbClr val="1B1B2F"/>
            </a:solidFill>
            <a:round/>
            <a:tailEnd len="med" type="triangle" w="med"/>
          </a:ln>
        </p:spPr>
      </p:cxnSp>
      <p:sp>
        <p:nvSpPr>
          <p:cNvPr id="225" name="Label 2"/>
          <p:cNvSpPr/>
          <p:nvPr/>
        </p:nvSpPr>
        <p:spPr>
          <a:xfrm>
            <a:off x="3420000" y="2299320"/>
            <a:ext cx="1663200" cy="305640"/>
          </a:xfrm>
          <a:prstGeom prst="rect">
            <a:avLst/>
          </a:prstGeom>
          <a:solidFill>
            <a:srgbClr val="FFFFFF"/>
          </a:solidFill>
          <a:ln w="0">
            <a:noFill/>
          </a:ln>
        </p:spPr>
        <p:style>
          <a:lnRef idx="0"/>
          <a:fillRef idx="0"/>
          <a:effectRef idx="0"/>
          <a:fontRef idx="minor"/>
        </p:style>
        <p:txBody>
          <a:bodyPr lIns="0" tIns="0" rIns="0" bIns="0" anchor="b">
            <a:spAutoFit/>
          </a:bodyPr>
          <a:p>
            <a:pPr algn="ctr">
              <a:lnSpc>
                <a:spcPct val="100000"/>
              </a:lnSpc>
            </a:pPr>
            <a:r>
              <a:rPr lang="de-DE" sz="1000" b="0" u="none" strike="noStrike">
                <a:solidFill>
                  <a:srgbClr val="1B1B2F"/>
                </a:solidFill>
                <a:effectLst/>
                <a:uFillTx/>
                <a:latin typeface="Courier New"/>
              </a:rPr>
              <a:t>player_input/joycon</a:t>
            </a:r>
            <a:endParaRPr lang="de-DE" sz="1000" b="0" u="none" strike="noStrike">
              <a:solidFill>
                <a:srgbClr val="000000"/>
              </a:solidFill>
              <a:effectLst/>
              <a:uFillTx/>
              <a:latin typeface="Arial"/>
            </a:endParaRPr>
          </a:p>
          <a:p>
            <a:pPr algn="ctr">
              <a:lnSpc>
                <a:spcPct val="100000"/>
              </a:lnSpc>
            </a:pPr>
            <a:r>
              <a:rPr lang="de-DE" sz="1000" b="0" u="none" strike="noStrike">
                <a:solidFill>
                  <a:srgbClr val="1B1B2F"/>
                </a:solidFill>
                <a:effectLst/>
                <a:uFillTx/>
                <a:latin typeface="Courier New"/>
              </a:rPr>
              <a:t>{"up":0,"left":72,…}</a:t>
            </a:r>
            <a:endParaRPr lang="de-DE" sz="1000" b="0" u="none" strike="noStrike">
              <a:solidFill>
                <a:srgbClr val="000000"/>
              </a:solidFill>
              <a:effectLst/>
              <a:uFillTx/>
              <a:latin typeface="Arial"/>
            </a:endParaRPr>
          </a:p>
        </p:txBody>
      </p:sp>
      <p:cxnSp>
        <p:nvCxnSpPr>
          <p:cNvPr id="226" name="Pfeil 3"/>
          <p:cNvCxnSpPr/>
          <p:nvPr/>
        </p:nvCxnSpPr>
        <p:spPr>
          <a:xfrm>
            <a:off x="5202720" y="3008160"/>
            <a:ext cx="1756800" cy="1080"/>
          </a:xfrm>
          <a:prstGeom prst="straightConnector1">
            <a:avLst/>
          </a:prstGeom>
          <a:ln w="19050">
            <a:solidFill>
              <a:srgbClr val="1B1B2F"/>
            </a:solidFill>
            <a:round/>
            <a:tailEnd len="med" type="triangle" w="med"/>
          </a:ln>
        </p:spPr>
      </p:cxnSp>
      <p:sp>
        <p:nvSpPr>
          <p:cNvPr id="227" name="Label 3"/>
          <p:cNvSpPr/>
          <p:nvPr/>
        </p:nvSpPr>
        <p:spPr>
          <a:xfrm>
            <a:off x="5545800" y="2811600"/>
            <a:ext cx="1068840" cy="168120"/>
          </a:xfrm>
          <a:prstGeom prst="rect">
            <a:avLst/>
          </a:prstGeom>
          <a:solidFill>
            <a:srgbClr val="FFFFFF"/>
          </a:solidFill>
          <a:ln w="0">
            <a:noFill/>
          </a:ln>
        </p:spPr>
        <p:style>
          <a:lnRef idx="0"/>
          <a:fillRef idx="0"/>
          <a:effectRef idx="0"/>
          <a:fontRef idx="minor"/>
        </p:style>
        <p:txBody>
          <a:bodyPr lIns="0" tIns="0" rIns="0" bIns="0" anchor="b">
            <a:spAutoFit/>
          </a:bodyPr>
          <a:p>
            <a:pPr algn="ctr">
              <a:lnSpc>
                <a:spcPct val="100000"/>
              </a:lnSpc>
            </a:pPr>
            <a:r>
              <a:rPr lang="de-DE" sz="1100" b="0" u="none" strike="noStrike">
                <a:solidFill>
                  <a:srgbClr val="1B1B2F"/>
                </a:solidFill>
                <a:effectLst/>
                <a:uFillTx/>
                <a:latin typeface="Calibri"/>
              </a:rPr>
              <a:t>weitergereicht</a:t>
            </a:r>
            <a:endParaRPr lang="de-DE" sz="1100" b="0" u="none" strike="noStrike">
              <a:solidFill>
                <a:srgbClr val="000000"/>
              </a:solidFill>
              <a:effectLst/>
              <a:uFillTx/>
              <a:latin typeface="Arial"/>
            </a:endParaRPr>
          </a:p>
        </p:txBody>
      </p:sp>
      <p:cxnSp>
        <p:nvCxnSpPr>
          <p:cNvPr id="228" name="Pfeil 4"/>
          <p:cNvCxnSpPr/>
          <p:nvPr/>
        </p:nvCxnSpPr>
        <p:spPr>
          <a:xfrm flipH="1">
            <a:off x="5202720" y="3383280"/>
            <a:ext cx="1756800" cy="1080"/>
          </a:xfrm>
          <a:prstGeom prst="straightConnector1">
            <a:avLst/>
          </a:prstGeom>
          <a:ln w="19050">
            <a:solidFill>
              <a:srgbClr val="1B1B2F"/>
            </a:solidFill>
            <a:round/>
            <a:tailEnd len="med" type="triangle" w="med"/>
          </a:ln>
        </p:spPr>
      </p:cxnSp>
      <p:sp>
        <p:nvSpPr>
          <p:cNvPr id="229" name="Label 4"/>
          <p:cNvSpPr/>
          <p:nvPr/>
        </p:nvSpPr>
        <p:spPr>
          <a:xfrm>
            <a:off x="4860000" y="3049200"/>
            <a:ext cx="2440440" cy="305640"/>
          </a:xfrm>
          <a:prstGeom prst="rect">
            <a:avLst/>
          </a:prstGeom>
          <a:solidFill>
            <a:srgbClr val="FFFFFF"/>
          </a:solidFill>
          <a:ln w="0">
            <a:noFill/>
          </a:ln>
        </p:spPr>
        <p:style>
          <a:lnRef idx="0"/>
          <a:fillRef idx="0"/>
          <a:effectRef idx="0"/>
          <a:fontRef idx="minor"/>
        </p:style>
        <p:txBody>
          <a:bodyPr lIns="0" tIns="0" rIns="0" bIns="0" anchor="b">
            <a:spAutoFit/>
          </a:bodyPr>
          <a:p>
            <a:pPr algn="ctr">
              <a:lnSpc>
                <a:spcPct val="100000"/>
              </a:lnSpc>
            </a:pPr>
            <a:r>
              <a:rPr lang="de-DE" sz="1000" b="0" u="none" strike="noStrike">
                <a:solidFill>
                  <a:srgbClr val="1B1B2F"/>
                </a:solidFill>
                <a:effectLst/>
                <a:uFillTx/>
                <a:latin typeface="Courier New"/>
              </a:rPr>
              <a:t>motor_controller/motor/command</a:t>
            </a:r>
            <a:endParaRPr lang="de-DE" sz="1000" b="0" u="none" strike="noStrike">
              <a:solidFill>
                <a:srgbClr val="000000"/>
              </a:solidFill>
              <a:effectLst/>
              <a:uFillTx/>
              <a:latin typeface="Arial"/>
            </a:endParaRPr>
          </a:p>
          <a:p>
            <a:pPr algn="ctr">
              <a:lnSpc>
                <a:spcPct val="100000"/>
              </a:lnSpc>
            </a:pPr>
            <a:r>
              <a:rPr lang="de-DE" sz="1000" b="0" u="none" strike="noStrike">
                <a:solidFill>
                  <a:srgbClr val="1B1B2F"/>
                </a:solidFill>
                <a:effectLst/>
                <a:uFillTx/>
                <a:latin typeface="Courier New"/>
              </a:rPr>
              <a:t>X:72</a:t>
            </a:r>
            <a:endParaRPr lang="de-DE" sz="1000" b="0" u="none" strike="noStrike">
              <a:solidFill>
                <a:srgbClr val="000000"/>
              </a:solidFill>
              <a:effectLst/>
              <a:uFillTx/>
              <a:latin typeface="Arial"/>
            </a:endParaRPr>
          </a:p>
        </p:txBody>
      </p:sp>
      <p:cxnSp>
        <p:nvCxnSpPr>
          <p:cNvPr id="230" name="Pfeil 5"/>
          <p:cNvCxnSpPr/>
          <p:nvPr/>
        </p:nvCxnSpPr>
        <p:spPr>
          <a:xfrm>
            <a:off x="5202720" y="3758040"/>
            <a:ext cx="3585600" cy="1080"/>
          </a:xfrm>
          <a:prstGeom prst="straightConnector1">
            <a:avLst/>
          </a:prstGeom>
          <a:ln w="19050">
            <a:solidFill>
              <a:srgbClr val="1B1B2F"/>
            </a:solidFill>
            <a:round/>
            <a:tailEnd len="med" type="triangle" w="med"/>
          </a:ln>
        </p:spPr>
      </p:cxnSp>
      <p:sp>
        <p:nvSpPr>
          <p:cNvPr id="231" name="Label 5"/>
          <p:cNvSpPr/>
          <p:nvPr/>
        </p:nvSpPr>
        <p:spPr>
          <a:xfrm>
            <a:off x="5603040" y="3561480"/>
            <a:ext cx="2783160" cy="168120"/>
          </a:xfrm>
          <a:prstGeom prst="rect">
            <a:avLst/>
          </a:prstGeom>
          <a:solidFill>
            <a:srgbClr val="FFFFFF"/>
          </a:solidFill>
          <a:ln w="0">
            <a:noFill/>
          </a:ln>
        </p:spPr>
        <p:style>
          <a:lnRef idx="0"/>
          <a:fillRef idx="0"/>
          <a:effectRef idx="0"/>
          <a:fontRef idx="minor"/>
        </p:style>
        <p:txBody>
          <a:bodyPr lIns="0" tIns="0" rIns="0" bIns="0" anchor="b">
            <a:spAutoFit/>
          </a:bodyPr>
          <a:p>
            <a:pPr algn="ctr">
              <a:lnSpc>
                <a:spcPct val="100000"/>
              </a:lnSpc>
            </a:pPr>
            <a:r>
              <a:rPr lang="de-DE" sz="1100" b="0" u="none" strike="noStrike">
                <a:solidFill>
                  <a:srgbClr val="1B1B2F"/>
                </a:solidFill>
                <a:effectLst/>
                <a:uFillTx/>
                <a:latin typeface="Calibri"/>
              </a:rPr>
              <a:t>X:72, die Achse fährt über die Rampe an</a:t>
            </a:r>
            <a:endParaRPr lang="de-DE" sz="1100" b="0" u="none" strike="noStrike">
              <a:solidFill>
                <a:srgbClr val="000000"/>
              </a:solidFill>
              <a:effectLst/>
              <a:uFillTx/>
              <a:latin typeface="Arial"/>
            </a:endParaRPr>
          </a:p>
        </p:txBody>
      </p:sp>
      <p:cxnSp>
        <p:nvCxnSpPr>
          <p:cNvPr id="232" name="Pfeil 6"/>
          <p:cNvCxnSpPr/>
          <p:nvPr/>
        </p:nvCxnSpPr>
        <p:spPr>
          <a:xfrm flipH="1">
            <a:off x="5202720" y="4132800"/>
            <a:ext cx="5414400" cy="1080"/>
          </a:xfrm>
          <a:prstGeom prst="straightConnector1">
            <a:avLst/>
          </a:prstGeom>
          <a:ln w="19050">
            <a:solidFill>
              <a:srgbClr val="1B1B2F"/>
            </a:solidFill>
            <a:round/>
            <a:tailEnd len="med" type="triangle" w="med"/>
          </a:ln>
        </p:spPr>
      </p:cxnSp>
      <p:sp>
        <p:nvSpPr>
          <p:cNvPr id="233" name="Label 6"/>
          <p:cNvSpPr/>
          <p:nvPr/>
        </p:nvSpPr>
        <p:spPr>
          <a:xfrm>
            <a:off x="7349400" y="3798720"/>
            <a:ext cx="1119240" cy="305640"/>
          </a:xfrm>
          <a:prstGeom prst="rect">
            <a:avLst/>
          </a:prstGeom>
          <a:solidFill>
            <a:srgbClr val="FFFFFF"/>
          </a:solidFill>
          <a:ln w="0">
            <a:noFill/>
          </a:ln>
        </p:spPr>
        <p:style>
          <a:lnRef idx="0"/>
          <a:fillRef idx="0"/>
          <a:effectRef idx="0"/>
          <a:fontRef idx="minor"/>
        </p:style>
        <p:txBody>
          <a:bodyPr lIns="0" tIns="0" rIns="0" bIns="0" anchor="b">
            <a:spAutoFit/>
          </a:bodyPr>
          <a:p>
            <a:pPr algn="ctr">
              <a:lnSpc>
                <a:spcPct val="100000"/>
              </a:lnSpc>
            </a:pPr>
            <a:r>
              <a:rPr lang="de-DE" sz="1000" b="0" u="none" strike="noStrike">
                <a:solidFill>
                  <a:srgbClr val="1B1B2F"/>
                </a:solidFill>
                <a:effectLst/>
                <a:uFillTx/>
                <a:latin typeface="Courier New"/>
              </a:rPr>
              <a:t>endstop/state</a:t>
            </a:r>
            <a:endParaRPr lang="de-DE" sz="1000" b="0" u="none" strike="noStrike">
              <a:solidFill>
                <a:srgbClr val="000000"/>
              </a:solidFill>
              <a:effectLst/>
              <a:uFillTx/>
              <a:latin typeface="Arial"/>
            </a:endParaRPr>
          </a:p>
          <a:p>
            <a:pPr algn="ctr">
              <a:lnSpc>
                <a:spcPct val="100000"/>
              </a:lnSpc>
            </a:pPr>
            <a:r>
              <a:rPr lang="de-DE" sz="1000" b="0" u="none" strike="noStrike">
                <a:solidFill>
                  <a:srgbClr val="1B1B2F"/>
                </a:solidFill>
                <a:effectLst/>
                <a:uFillTx/>
                <a:latin typeface="Courier New"/>
              </a:rPr>
              <a:t>{"x1":1,…}</a:t>
            </a:r>
            <a:endParaRPr lang="de-DE" sz="1000" b="0" u="none" strike="noStrike">
              <a:solidFill>
                <a:srgbClr val="000000"/>
              </a:solidFill>
              <a:effectLst/>
              <a:uFillTx/>
              <a:latin typeface="Arial"/>
            </a:endParaRPr>
          </a:p>
        </p:txBody>
      </p:sp>
      <p:cxnSp>
        <p:nvCxnSpPr>
          <p:cNvPr id="234" name="Pfeil 7"/>
          <p:cNvCxnSpPr/>
          <p:nvPr/>
        </p:nvCxnSpPr>
        <p:spPr>
          <a:xfrm flipH="1">
            <a:off x="3373920" y="4507920"/>
            <a:ext cx="1756800" cy="1080"/>
          </a:xfrm>
          <a:prstGeom prst="straightConnector1">
            <a:avLst/>
          </a:prstGeom>
          <a:ln w="19050">
            <a:solidFill>
              <a:srgbClr val="1B1B2F"/>
            </a:solidFill>
            <a:round/>
            <a:tailEnd len="med" type="triangle" w="med"/>
          </a:ln>
        </p:spPr>
      </p:cxnSp>
      <p:sp>
        <p:nvSpPr>
          <p:cNvPr id="235" name="Label 7"/>
          <p:cNvSpPr/>
          <p:nvPr/>
        </p:nvSpPr>
        <p:spPr>
          <a:xfrm>
            <a:off x="2894040" y="4311360"/>
            <a:ext cx="2714760" cy="168120"/>
          </a:xfrm>
          <a:prstGeom prst="rect">
            <a:avLst/>
          </a:prstGeom>
          <a:solidFill>
            <a:srgbClr val="FFFFFF"/>
          </a:solidFill>
          <a:ln w="0">
            <a:noFill/>
          </a:ln>
        </p:spPr>
        <p:style>
          <a:lnRef idx="0"/>
          <a:fillRef idx="0"/>
          <a:effectRef idx="0"/>
          <a:fontRef idx="minor"/>
        </p:style>
        <p:txBody>
          <a:bodyPr lIns="0" tIns="0" rIns="0" bIns="0" anchor="b">
            <a:spAutoFit/>
          </a:bodyPr>
          <a:p>
            <a:pPr algn="ctr">
              <a:lnSpc>
                <a:spcPct val="100000"/>
              </a:lnSpc>
            </a:pPr>
            <a:r>
              <a:rPr lang="de-DE" sz="1100" b="0" u="none" strike="noStrike">
                <a:solidFill>
                  <a:srgbClr val="1B1B2F"/>
                </a:solidFill>
                <a:effectLst/>
                <a:uFillTx/>
                <a:latin typeface="Calibri"/>
              </a:rPr>
              <a:t>dasselbe Topic, die Joy-Cons vibrieren</a:t>
            </a:r>
            <a:endParaRPr lang="de-DE" sz="1100" b="0" u="none" strike="noStrike">
              <a:solidFill>
                <a:srgbClr val="000000"/>
              </a:solidFill>
              <a:effectLst/>
              <a:uFillTx/>
              <a:latin typeface="Arial"/>
            </a:endParaRPr>
          </a:p>
        </p:txBody>
      </p:sp>
      <p:cxnSp>
        <p:nvCxnSpPr>
          <p:cNvPr id="236" name="Pfeil 8"/>
          <p:cNvCxnSpPr/>
          <p:nvPr/>
        </p:nvCxnSpPr>
        <p:spPr>
          <a:xfrm>
            <a:off x="5202720" y="4882680"/>
            <a:ext cx="1756800" cy="1080"/>
          </a:xfrm>
          <a:prstGeom prst="straightConnector1">
            <a:avLst/>
          </a:prstGeom>
          <a:ln w="19050">
            <a:solidFill>
              <a:srgbClr val="1B1B2F"/>
            </a:solidFill>
            <a:round/>
            <a:tailEnd len="med" type="triangle" w="med"/>
          </a:ln>
        </p:spPr>
      </p:cxnSp>
      <p:sp>
        <p:nvSpPr>
          <p:cNvPr id="237" name="Label 8"/>
          <p:cNvSpPr/>
          <p:nvPr/>
        </p:nvSpPr>
        <p:spPr>
          <a:xfrm>
            <a:off x="5545800" y="4686120"/>
            <a:ext cx="1068840" cy="168120"/>
          </a:xfrm>
          <a:prstGeom prst="rect">
            <a:avLst/>
          </a:prstGeom>
          <a:solidFill>
            <a:srgbClr val="FFFFFF"/>
          </a:solidFill>
          <a:ln w="0">
            <a:noFill/>
          </a:ln>
        </p:spPr>
        <p:style>
          <a:lnRef idx="0"/>
          <a:fillRef idx="0"/>
          <a:effectRef idx="0"/>
          <a:fontRef idx="minor"/>
        </p:style>
        <p:txBody>
          <a:bodyPr lIns="0" tIns="0" rIns="0" bIns="0" anchor="b">
            <a:spAutoFit/>
          </a:bodyPr>
          <a:p>
            <a:pPr algn="ctr">
              <a:lnSpc>
                <a:spcPct val="100000"/>
              </a:lnSpc>
            </a:pPr>
            <a:r>
              <a:rPr lang="de-DE" sz="1100" b="0" u="none" strike="noStrike">
                <a:solidFill>
                  <a:srgbClr val="1B1B2F"/>
                </a:solidFill>
                <a:effectLst/>
                <a:uFillTx/>
                <a:latin typeface="Calibri"/>
              </a:rPr>
              <a:t>weitergereicht</a:t>
            </a:r>
            <a:endParaRPr lang="de-DE" sz="1100" b="0" u="none" strike="noStrike">
              <a:solidFill>
                <a:srgbClr val="000000"/>
              </a:solidFill>
              <a:effectLst/>
              <a:uFillTx/>
              <a:latin typeface="Arial"/>
            </a:endParaRPr>
          </a:p>
        </p:txBody>
      </p:sp>
      <p:cxnSp>
        <p:nvCxnSpPr>
          <p:cNvPr id="238" name="Pfeil 9"/>
          <p:cNvCxnSpPr/>
          <p:nvPr/>
        </p:nvCxnSpPr>
        <p:spPr>
          <a:xfrm flipH="1">
            <a:off x="5202720" y="5257800"/>
            <a:ext cx="1756800" cy="1080"/>
          </a:xfrm>
          <a:prstGeom prst="straightConnector1">
            <a:avLst/>
          </a:prstGeom>
          <a:ln w="19050">
            <a:solidFill>
              <a:srgbClr val="1B1B2F"/>
            </a:solidFill>
            <a:round/>
            <a:tailEnd len="med" type="triangle" w="med"/>
          </a:ln>
        </p:spPr>
      </p:cxnSp>
      <p:sp>
        <p:nvSpPr>
          <p:cNvPr id="239" name="Label 9"/>
          <p:cNvSpPr/>
          <p:nvPr/>
        </p:nvSpPr>
        <p:spPr>
          <a:xfrm>
            <a:off x="5365080" y="5076000"/>
            <a:ext cx="1429920" cy="153000"/>
          </a:xfrm>
          <a:prstGeom prst="rect">
            <a:avLst/>
          </a:prstGeom>
          <a:solidFill>
            <a:srgbClr val="FFFFFF"/>
          </a:solidFill>
          <a:ln w="0">
            <a:noFill/>
          </a:ln>
        </p:spPr>
        <p:style>
          <a:lnRef idx="0"/>
          <a:fillRef idx="0"/>
          <a:effectRef idx="0"/>
          <a:fontRef idx="minor"/>
        </p:style>
        <p:txBody>
          <a:bodyPr lIns="0" tIns="0" rIns="0" bIns="0" anchor="b">
            <a:spAutoFit/>
          </a:bodyPr>
          <a:p>
            <a:pPr algn="ctr">
              <a:lnSpc>
                <a:spcPct val="100000"/>
              </a:lnSpc>
            </a:pPr>
            <a:r>
              <a:rPr lang="de-DE" sz="1000" b="0" u="none" strike="noStrike">
                <a:solidFill>
                  <a:srgbClr val="1B1B2F"/>
                </a:solidFill>
                <a:effectLst/>
                <a:uFillTx/>
                <a:latin typeface="Courier New"/>
              </a:rPr>
              <a:t>stop:X und zero:X</a:t>
            </a:r>
            <a:endParaRPr lang="de-DE" sz="1000" b="0" u="none" strike="noStrike">
              <a:solidFill>
                <a:srgbClr val="000000"/>
              </a:solidFill>
              <a:effectLst/>
              <a:uFillTx/>
              <a:latin typeface="Arial"/>
            </a:endParaRPr>
          </a:p>
        </p:txBody>
      </p:sp>
      <p:cxnSp>
        <p:nvCxnSpPr>
          <p:cNvPr id="240" name="Pfeil 10"/>
          <p:cNvCxnSpPr/>
          <p:nvPr/>
        </p:nvCxnSpPr>
        <p:spPr>
          <a:xfrm>
            <a:off x="5202720" y="5632560"/>
            <a:ext cx="3585600" cy="1080"/>
          </a:xfrm>
          <a:prstGeom prst="straightConnector1">
            <a:avLst/>
          </a:prstGeom>
          <a:ln w="19050">
            <a:solidFill>
              <a:srgbClr val="1B1B2F"/>
            </a:solidFill>
            <a:round/>
            <a:tailEnd len="med" type="triangle" w="med"/>
          </a:ln>
        </p:spPr>
      </p:cxnSp>
      <p:sp>
        <p:nvSpPr>
          <p:cNvPr id="241" name="Label 10"/>
          <p:cNvSpPr/>
          <p:nvPr/>
        </p:nvSpPr>
        <p:spPr>
          <a:xfrm>
            <a:off x="5603040" y="5436000"/>
            <a:ext cx="2783160" cy="168120"/>
          </a:xfrm>
          <a:prstGeom prst="rect">
            <a:avLst/>
          </a:prstGeom>
          <a:solidFill>
            <a:srgbClr val="FFFFFF"/>
          </a:solidFill>
          <a:ln w="0">
            <a:noFill/>
          </a:ln>
        </p:spPr>
        <p:style>
          <a:lnRef idx="0"/>
          <a:fillRef idx="0"/>
          <a:effectRef idx="0"/>
          <a:fontRef idx="minor"/>
        </p:style>
        <p:txBody>
          <a:bodyPr lIns="0" tIns="0" rIns="0" bIns="0" anchor="b">
            <a:spAutoFit/>
          </a:bodyPr>
          <a:p>
            <a:pPr algn="ctr">
              <a:lnSpc>
                <a:spcPct val="100000"/>
              </a:lnSpc>
            </a:pPr>
            <a:r>
              <a:rPr lang="de-DE" sz="1100" b="0" u="none" strike="noStrike">
                <a:solidFill>
                  <a:srgbClr val="1B1B2F"/>
                </a:solidFill>
                <a:effectLst/>
                <a:uFillTx/>
                <a:latin typeface="Calibri"/>
              </a:rPr>
              <a:t>Sofortstopp ohne Rampe, Position wird 0</a:t>
            </a:r>
            <a:endParaRPr lang="de-DE" sz="1100" b="0" u="none" strike="noStrike">
              <a:solidFill>
                <a:srgbClr val="000000"/>
              </a:solidFill>
              <a:effectLst/>
              <a:uFillTx/>
              <a:latin typeface="Arial"/>
            </a:endParaRPr>
          </a:p>
        </p:txBody>
      </p:sp>
      <p:sp>
        <p:nvSpPr>
          <p:cNvPr id="242" name="Hinweis Server"/>
          <p:cNvSpPr/>
          <p:nvPr/>
        </p:nvSpPr>
        <p:spPr>
          <a:xfrm>
            <a:off x="548640" y="5989320"/>
            <a:ext cx="11063160" cy="410400"/>
          </a:xfrm>
          <a:prstGeom prst="roundRect">
            <a:avLst>
              <a:gd name="adj" fmla="val 10000"/>
            </a:avLst>
          </a:prstGeom>
          <a:solidFill>
            <a:srgbClr val="F3F0FA"/>
          </a:solidFill>
          <a:ln>
            <a:noFill/>
          </a:ln>
        </p:spPr>
        <p:style>
          <a:lnRef idx="1">
            <a:schemeClr val="accent1"/>
          </a:lnRef>
          <a:fillRef idx="3">
            <a:schemeClr val="accent1"/>
          </a:fillRef>
          <a:effectRef idx="2">
            <a:schemeClr val="accent1"/>
          </a:effectRef>
          <a:fontRef idx="minor"/>
        </p:style>
        <p:txBody>
          <a:bodyPr lIns="182880" tIns="0" rIns="73080" bIns="0" anchor="ctr">
            <a:noAutofit/>
          </a:bodyPr>
          <a:p>
            <a:pPr>
              <a:lnSpc>
                <a:spcPct val="100000"/>
              </a:lnSpc>
            </a:pPr>
            <a:r>
              <a:rPr lang="de-DE" sz="1200" b="0" u="none" strike="noStrike">
                <a:solidFill>
                  <a:srgbClr val="1B1B2F"/>
                </a:solidFill>
                <a:effectLst/>
                <a:uFillTx/>
                <a:latin typeface="Calibri"/>
              </a:rPr>
              <a:t>Der Server prüft dazwischen: Ist die Quelle freigegeben, was halten die anderen Tasten gerade, steht die Achse schon am Endschalter?</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3" name="Titel"/>
          <p:cNvSpPr/>
          <p:nvPr/>
        </p:nvSpPr>
        <p:spPr>
          <a:xfrm>
            <a:off x="548640" y="365760"/>
            <a:ext cx="11061720" cy="729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dk1"/>
                </a:solidFill>
                <a:effectLst/>
                <a:uFillTx/>
                <a:latin typeface="Cambria"/>
                <a:ea typeface="Cambria"/>
              </a:rPr>
              <a:t>Die Logik sitzt im Server</a:t>
            </a:r>
            <a:endParaRPr lang="de-DE" sz="3600" b="0" u="none" strike="noStrike">
              <a:solidFill>
                <a:srgbClr val="000000"/>
              </a:solidFill>
              <a:effectLst/>
              <a:uFillTx/>
              <a:latin typeface="Arial"/>
            </a:endParaRPr>
          </a:p>
        </p:txBody>
      </p:sp>
      <p:sp>
        <p:nvSpPr>
          <p:cNvPr id="244" name="Spalte Homing"/>
          <p:cNvSpPr/>
          <p:nvPr/>
        </p:nvSpPr>
        <p:spPr>
          <a:xfrm>
            <a:off x="548640" y="1463040"/>
            <a:ext cx="3563640" cy="3929400"/>
          </a:xfrm>
          <a:prstGeom prst="roundRect">
            <a:avLst>
              <a:gd name="adj" fmla="val 3077"/>
            </a:avLst>
          </a:prstGeom>
          <a:solidFill>
            <a:schemeClr val="bg2"/>
          </a:solidFill>
          <a:ln w="12700">
            <a:solidFill>
              <a:srgbClr val="F3F0FA"/>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45" name="Symbol Homing"/>
          <p:cNvSpPr/>
          <p:nvPr/>
        </p:nvSpPr>
        <p:spPr>
          <a:xfrm>
            <a:off x="822960" y="1737360"/>
            <a:ext cx="546120" cy="546120"/>
          </a:xfrm>
          <a:prstGeom prst="ellipse">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1</a:t>
            </a:r>
            <a:endParaRPr lang="de-DE" sz="1800" b="0" u="none" strike="noStrike">
              <a:solidFill>
                <a:srgbClr val="FFFFFF"/>
              </a:solidFill>
              <a:effectLst/>
              <a:uFillTx/>
              <a:latin typeface="Arial"/>
            </a:endParaRPr>
          </a:p>
        </p:txBody>
      </p:sp>
      <p:sp>
        <p:nvSpPr>
          <p:cNvPr id="246" name="Spalte Titel Homing"/>
          <p:cNvSpPr/>
          <p:nvPr/>
        </p:nvSpPr>
        <p:spPr>
          <a:xfrm>
            <a:off x="1554480" y="1737360"/>
            <a:ext cx="2374920" cy="54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dk1"/>
                </a:solidFill>
                <a:effectLst/>
                <a:uFillTx/>
                <a:latin typeface="Calibri"/>
              </a:rPr>
              <a:t>Homing</a:t>
            </a:r>
            <a:endParaRPr lang="de-DE" sz="2200" b="0" u="none" strike="noStrike">
              <a:solidFill>
                <a:srgbClr val="000000"/>
              </a:solidFill>
              <a:effectLst/>
              <a:uFillTx/>
              <a:latin typeface="Arial"/>
            </a:endParaRPr>
          </a:p>
        </p:txBody>
      </p:sp>
      <p:sp>
        <p:nvSpPr>
          <p:cNvPr id="247" name="Spalte Text Homing"/>
          <p:cNvSpPr/>
          <p:nvPr/>
        </p:nvSpPr>
        <p:spPr>
          <a:xfrm>
            <a:off x="822960" y="2560320"/>
            <a:ext cx="3106440" cy="26492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199"/>
              </a:spcAft>
              <a:buClr>
                <a:srgbClr val="2D2A4A"/>
              </a:buClr>
              <a:buFont typeface="Symbol" charset="2"/>
              <a:buChar char=""/>
            </a:pPr>
            <a:r>
              <a:rPr lang="en-US" sz="1600" b="0" u="none" strike="noStrike">
                <a:solidFill>
                  <a:schemeClr val="dk2"/>
                </a:solidFill>
                <a:effectLst/>
                <a:uFillTx/>
                <a:latin typeface="Calibri"/>
              </a:rPr>
              <a:t>Achsen X, Y, Z fahren nacheinander auf ihre Endstops</a:t>
            </a:r>
            <a:endParaRPr lang="de-DE" sz="1600" b="0" u="none" strike="noStrike">
              <a:solidFill>
                <a:srgbClr val="000000"/>
              </a:solidFill>
              <a:effectLst/>
              <a:uFillTx/>
              <a:latin typeface="Arial"/>
            </a:endParaRPr>
          </a:p>
          <a:p>
            <a:pPr marL="343080" indent="-343080" defTabSz="914400">
              <a:lnSpc>
                <a:spcPct val="100000"/>
              </a:lnSpc>
              <a:spcAft>
                <a:spcPts val="1199"/>
              </a:spcAft>
              <a:buClr>
                <a:srgbClr val="2D2A4A"/>
              </a:buClr>
              <a:buFont typeface="Symbol" charset="2"/>
              <a:buChar char=""/>
            </a:pPr>
            <a:r>
              <a:rPr lang="en-US" sz="1600" b="0" u="none" strike="noStrike">
                <a:solidFill>
                  <a:schemeClr val="dk2"/>
                </a:solidFill>
                <a:effectLst/>
                <a:uFillTx/>
                <a:latin typeface="Calibri"/>
              </a:rPr>
              <a:t>Steht eine Achse schon am Endstop, fährt sie weg und wieder hin</a:t>
            </a:r>
            <a:endParaRPr lang="de-DE" sz="1600" b="0" u="none" strike="noStrike">
              <a:solidFill>
                <a:srgbClr val="000000"/>
              </a:solidFill>
              <a:effectLst/>
              <a:uFillTx/>
              <a:latin typeface="Arial"/>
            </a:endParaRPr>
          </a:p>
          <a:p>
            <a:pPr marL="343080" indent="-343080" defTabSz="914400">
              <a:lnSpc>
                <a:spcPct val="100000"/>
              </a:lnSpc>
              <a:spcAft>
                <a:spcPts val="1199"/>
              </a:spcAft>
              <a:buClr>
                <a:srgbClr val="2D2A4A"/>
              </a:buClr>
              <a:buFont typeface="Symbol" charset="2"/>
              <a:buChar char=""/>
            </a:pPr>
            <a:r>
              <a:rPr lang="en-US" sz="1600" b="0" u="none" strike="noStrike">
                <a:solidFill>
                  <a:schemeClr val="dk2"/>
                </a:solidFill>
                <a:effectLst/>
                <a:uFillTx/>
                <a:latin typeface="Calibri"/>
              </a:rPr>
              <a:t>Der ESP fordert nach jedem Start selbst ein Homing an</a:t>
            </a:r>
            <a:endParaRPr lang="de-DE" sz="1600" b="0" u="none" strike="noStrike">
              <a:solidFill>
                <a:srgbClr val="000000"/>
              </a:solidFill>
              <a:effectLst/>
              <a:uFillTx/>
              <a:latin typeface="Arial"/>
            </a:endParaRPr>
          </a:p>
        </p:txBody>
      </p:sp>
      <p:sp>
        <p:nvSpPr>
          <p:cNvPr id="248" name="Spalte Positionierung"/>
          <p:cNvSpPr/>
          <p:nvPr/>
        </p:nvSpPr>
        <p:spPr>
          <a:xfrm>
            <a:off x="4297680" y="1463040"/>
            <a:ext cx="3563640" cy="3929400"/>
          </a:xfrm>
          <a:prstGeom prst="roundRect">
            <a:avLst>
              <a:gd name="adj" fmla="val 3077"/>
            </a:avLst>
          </a:prstGeom>
          <a:solidFill>
            <a:schemeClr val="bg2"/>
          </a:solidFill>
          <a:ln w="12700">
            <a:solidFill>
              <a:srgbClr val="F3F0FA"/>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49" name="Symbol Positionierung"/>
          <p:cNvSpPr/>
          <p:nvPr/>
        </p:nvSpPr>
        <p:spPr>
          <a:xfrm>
            <a:off x="4572000" y="1737360"/>
            <a:ext cx="546120" cy="546120"/>
          </a:xfrm>
          <a:prstGeom prst="ellipse">
            <a:avLst/>
          </a:prstGeom>
          <a:solidFill>
            <a:schemeClr val="accent4"/>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2</a:t>
            </a:r>
            <a:endParaRPr lang="de-DE" sz="1800" b="0" u="none" strike="noStrike">
              <a:solidFill>
                <a:srgbClr val="FFFFFF"/>
              </a:solidFill>
              <a:effectLst/>
              <a:uFillTx/>
              <a:latin typeface="Arial"/>
            </a:endParaRPr>
          </a:p>
        </p:txBody>
      </p:sp>
      <p:sp>
        <p:nvSpPr>
          <p:cNvPr id="250" name="Spalte Titel Positionierung"/>
          <p:cNvSpPr/>
          <p:nvPr/>
        </p:nvSpPr>
        <p:spPr>
          <a:xfrm>
            <a:off x="5303520" y="1737360"/>
            <a:ext cx="2374920" cy="54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dk1"/>
                </a:solidFill>
                <a:effectLst/>
                <a:uFillTx/>
                <a:latin typeface="Calibri"/>
              </a:rPr>
              <a:t>Positionierung</a:t>
            </a:r>
            <a:endParaRPr lang="de-DE" sz="2200" b="0" u="none" strike="noStrike">
              <a:solidFill>
                <a:srgbClr val="000000"/>
              </a:solidFill>
              <a:effectLst/>
              <a:uFillTx/>
              <a:latin typeface="Arial"/>
            </a:endParaRPr>
          </a:p>
        </p:txBody>
      </p:sp>
      <p:sp>
        <p:nvSpPr>
          <p:cNvPr id="251" name="Spalte Text Positionierung"/>
          <p:cNvSpPr/>
          <p:nvPr/>
        </p:nvSpPr>
        <p:spPr>
          <a:xfrm>
            <a:off x="4572000" y="2560320"/>
            <a:ext cx="3106440" cy="26492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199"/>
              </a:spcAft>
              <a:buClr>
                <a:srgbClr val="2D2A4A"/>
              </a:buClr>
              <a:buFont typeface="Symbol" charset="2"/>
              <a:buChar char=""/>
            </a:pPr>
            <a:r>
              <a:rPr lang="en-US" sz="1600" b="0" u="none" strike="noStrike">
                <a:solidFill>
                  <a:schemeClr val="dk2"/>
                </a:solidFill>
                <a:effectLst/>
                <a:uFillTx/>
                <a:latin typeface="Calibri"/>
              </a:rPr>
              <a:t>Der Motor-Controller zählt jeden Schritt</a:t>
            </a:r>
            <a:endParaRPr lang="de-DE" sz="1600" b="0" u="none" strike="noStrike">
              <a:solidFill>
                <a:srgbClr val="000000"/>
              </a:solidFill>
              <a:effectLst/>
              <a:uFillTx/>
              <a:latin typeface="Arial"/>
            </a:endParaRPr>
          </a:p>
          <a:p>
            <a:pPr marL="343080" indent="-343080" defTabSz="914400">
              <a:lnSpc>
                <a:spcPct val="100000"/>
              </a:lnSpc>
              <a:spcAft>
                <a:spcPts val="1199"/>
              </a:spcAft>
              <a:buClr>
                <a:srgbClr val="2D2A4A"/>
              </a:buClr>
              <a:buFont typeface="Symbol" charset="2"/>
              <a:buChar char=""/>
            </a:pPr>
            <a:r>
              <a:rPr lang="en-US" sz="1600" b="0" u="none" strike="noStrike">
                <a:solidFill>
                  <a:schemeClr val="dk2"/>
                </a:solidFill>
                <a:effectLst/>
                <a:uFillTx/>
                <a:latin typeface="Calibri"/>
              </a:rPr>
              <a:t>Der Server merkt sich Koordinaten ab dem Endstop</a:t>
            </a:r>
            <a:endParaRPr lang="de-DE" sz="1600" b="0" u="none" strike="noStrike">
              <a:solidFill>
                <a:srgbClr val="000000"/>
              </a:solidFill>
              <a:effectLst/>
              <a:uFillTx/>
              <a:latin typeface="Arial"/>
            </a:endParaRPr>
          </a:p>
          <a:p>
            <a:pPr marL="343080" indent="-343080" defTabSz="914400">
              <a:lnSpc>
                <a:spcPct val="100000"/>
              </a:lnSpc>
              <a:spcAft>
                <a:spcPts val="1199"/>
              </a:spcAft>
              <a:buClr>
                <a:srgbClr val="2D2A4A"/>
              </a:buClr>
              <a:buFont typeface="Symbol" charset="2"/>
              <a:buChar char=""/>
            </a:pPr>
            <a:r>
              <a:rPr lang="en-US" sz="1600" b="0" u="none" strike="noStrike">
                <a:solidFill>
                  <a:schemeClr val="dk2"/>
                </a:solidFill>
                <a:effectLst/>
                <a:uFillTx/>
                <a:latin typeface="Calibri"/>
              </a:rPr>
              <a:t>Ziel anfahren per Befehl goto:x,y,z</a:t>
            </a:r>
            <a:endParaRPr lang="de-DE" sz="1600" b="0" u="none" strike="noStrike">
              <a:solidFill>
                <a:srgbClr val="000000"/>
              </a:solidFill>
              <a:effectLst/>
              <a:uFillTx/>
              <a:latin typeface="Arial"/>
            </a:endParaRPr>
          </a:p>
          <a:p>
            <a:pPr marL="343080" indent="-343080" defTabSz="914400">
              <a:lnSpc>
                <a:spcPct val="100000"/>
              </a:lnSpc>
              <a:spcAft>
                <a:spcPts val="1199"/>
              </a:spcAft>
              <a:buClr>
                <a:srgbClr val="2D2A4A"/>
              </a:buClr>
              <a:buFont typeface="Symbol" charset="2"/>
              <a:buChar char=""/>
            </a:pPr>
            <a:r>
              <a:rPr lang="en-US" sz="1600" b="0" u="none" strike="noStrike">
                <a:solidFill>
                  <a:schemeClr val="dk2"/>
                </a:solidFill>
                <a:effectLst/>
                <a:uFillTx/>
                <a:latin typeface="Calibri"/>
              </a:rPr>
              <a:t>Einfaches Anfahren von Positionen per Webinterface</a:t>
            </a:r>
            <a:endParaRPr lang="de-DE" sz="1600" b="0" u="none" strike="noStrike">
              <a:solidFill>
                <a:srgbClr val="000000"/>
              </a:solidFill>
              <a:effectLst/>
              <a:uFillTx/>
              <a:latin typeface="Arial"/>
            </a:endParaRPr>
          </a:p>
        </p:txBody>
      </p:sp>
      <p:sp>
        <p:nvSpPr>
          <p:cNvPr id="252" name="Spalte Eingaben"/>
          <p:cNvSpPr/>
          <p:nvPr/>
        </p:nvSpPr>
        <p:spPr>
          <a:xfrm>
            <a:off x="8046720" y="1463040"/>
            <a:ext cx="3563640" cy="3929400"/>
          </a:xfrm>
          <a:prstGeom prst="roundRect">
            <a:avLst>
              <a:gd name="adj" fmla="val 3077"/>
            </a:avLst>
          </a:prstGeom>
          <a:solidFill>
            <a:schemeClr val="bg2"/>
          </a:solidFill>
          <a:ln w="12700">
            <a:solidFill>
              <a:srgbClr val="F3F0FA"/>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253" name="Symbol Eingaben"/>
          <p:cNvSpPr/>
          <p:nvPr/>
        </p:nvSpPr>
        <p:spPr>
          <a:xfrm>
            <a:off x="8321040" y="1737360"/>
            <a:ext cx="546120" cy="546120"/>
          </a:xfrm>
          <a:prstGeom prst="ellipse">
            <a:avLst/>
          </a:prstGeom>
          <a:solidFill>
            <a:schemeClr val="accent3"/>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3</a:t>
            </a:r>
            <a:endParaRPr lang="de-DE" sz="1800" b="0" u="none" strike="noStrike">
              <a:solidFill>
                <a:srgbClr val="FFFFFF"/>
              </a:solidFill>
              <a:effectLst/>
              <a:uFillTx/>
              <a:latin typeface="Arial"/>
            </a:endParaRPr>
          </a:p>
        </p:txBody>
      </p:sp>
      <p:sp>
        <p:nvSpPr>
          <p:cNvPr id="254" name="Spalte Titel Eingaben"/>
          <p:cNvSpPr/>
          <p:nvPr/>
        </p:nvSpPr>
        <p:spPr>
          <a:xfrm>
            <a:off x="9052560" y="1737360"/>
            <a:ext cx="2374920" cy="54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chemeClr val="dk1"/>
                </a:solidFill>
                <a:effectLst/>
                <a:uFillTx/>
                <a:latin typeface="Calibri"/>
              </a:rPr>
              <a:t>Eingaben</a:t>
            </a:r>
            <a:endParaRPr lang="de-DE" sz="2200" b="0" u="none" strike="noStrike">
              <a:solidFill>
                <a:srgbClr val="000000"/>
              </a:solidFill>
              <a:effectLst/>
              <a:uFillTx/>
              <a:latin typeface="Arial"/>
            </a:endParaRPr>
          </a:p>
        </p:txBody>
      </p:sp>
      <p:sp>
        <p:nvSpPr>
          <p:cNvPr id="255" name="Spalte Text Eingaben"/>
          <p:cNvSpPr/>
          <p:nvPr/>
        </p:nvSpPr>
        <p:spPr>
          <a:xfrm>
            <a:off x="8321040" y="2560320"/>
            <a:ext cx="3106440" cy="264924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199"/>
              </a:spcAft>
              <a:buClr>
                <a:srgbClr val="2D2A4A"/>
              </a:buClr>
              <a:buFont typeface="Symbol" charset="2"/>
              <a:buChar char=""/>
            </a:pPr>
            <a:r>
              <a:rPr lang="en-US" sz="1600" b="0" u="none" strike="noStrike">
                <a:solidFill>
                  <a:schemeClr val="dk2"/>
                </a:solidFill>
                <a:effectLst/>
                <a:uFillTx/>
                <a:latin typeface="Calibri"/>
              </a:rPr>
              <a:t>Joy-Con, Panel und Web werden zu einheitlichen Achsbefehlen</a:t>
            </a:r>
            <a:endParaRPr lang="de-DE" sz="1600" b="0" u="none" strike="noStrike">
              <a:solidFill>
                <a:srgbClr val="000000"/>
              </a:solidFill>
              <a:effectLst/>
              <a:uFillTx/>
              <a:latin typeface="Arial"/>
            </a:endParaRPr>
          </a:p>
          <a:p>
            <a:pPr marL="343080" indent="-343080" defTabSz="914400">
              <a:lnSpc>
                <a:spcPct val="100000"/>
              </a:lnSpc>
              <a:spcAft>
                <a:spcPts val="1199"/>
              </a:spcAft>
              <a:buClr>
                <a:srgbClr val="2D2A4A"/>
              </a:buClr>
              <a:buFont typeface="Symbol" charset="2"/>
              <a:buChar char=""/>
            </a:pPr>
            <a:r>
              <a:rPr lang="en-US" sz="1600" b="0" u="none" strike="noStrike">
                <a:solidFill>
                  <a:schemeClr val="dk2"/>
                </a:solidFill>
                <a:effectLst/>
                <a:uFillTx/>
                <a:latin typeface="Calibri"/>
              </a:rPr>
              <a:t>Eingabequelle ist umschaltbar</a:t>
            </a:r>
            <a:endParaRPr lang="de-DE" sz="1600" b="0" u="none" strike="noStrike">
              <a:solidFill>
                <a:srgbClr val="000000"/>
              </a:solidFill>
              <a:effectLst/>
              <a:uFillTx/>
              <a:latin typeface="Arial"/>
            </a:endParaRPr>
          </a:p>
          <a:p>
            <a:pPr marL="343080" indent="-343080" defTabSz="914400">
              <a:lnSpc>
                <a:spcPct val="100000"/>
              </a:lnSpc>
              <a:spcAft>
                <a:spcPts val="1199"/>
              </a:spcAft>
              <a:buClr>
                <a:srgbClr val="2D2A4A"/>
              </a:buClr>
              <a:buFont typeface="Symbol" charset="2"/>
              <a:buChar char=""/>
            </a:pPr>
            <a:r>
              <a:rPr lang="en-US" sz="1600" b="0" u="none" strike="noStrike">
                <a:solidFill>
                  <a:schemeClr val="dk2"/>
                </a:solidFill>
                <a:effectLst/>
                <a:uFillTx/>
                <a:latin typeface="Calibri"/>
              </a:rPr>
              <a:t>Potentiometer wird in Klauenwinkel umgerechnet</a:t>
            </a:r>
            <a:endParaRPr lang="de-DE" sz="1600" b="0" u="none" strike="noStrike">
              <a:solidFill>
                <a:srgbClr val="000000"/>
              </a:solidFill>
              <a:effectLst/>
              <a:uFillTx/>
              <a:latin typeface="Arial"/>
            </a:endParaRPr>
          </a:p>
        </p:txBody>
      </p:sp>
      <p:sp>
        <p:nvSpPr>
          <p:cNvPr id="256" name="Konfiguration"/>
          <p:cNvSpPr/>
          <p:nvPr/>
        </p:nvSpPr>
        <p:spPr>
          <a:xfrm>
            <a:off x="548640" y="5669280"/>
            <a:ext cx="11061720" cy="54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600" b="0" u="none" strike="noStrike">
                <a:solidFill>
                  <a:schemeClr val="dk1"/>
                </a:solidFill>
                <a:effectLst/>
                <a:uFillTx/>
                <a:latin typeface="Calibri"/>
              </a:rPr>
              <a:t>Alle Tempi und Verfahrwege stehen in der config.ini und gehen beim Start als Settings an den ESP, ohne Neuflashen.</a:t>
            </a:r>
            <a:endParaRPr lang="de-DE" sz="1600" b="0" u="none" strike="noStrike">
              <a:solidFill>
                <a:srgbClr val="000000"/>
              </a:solidFill>
              <a:effectLst/>
              <a:uFillTx/>
              <a:latin typeface="Arial"/>
            </a:endParaRPr>
          </a:p>
        </p:txBody>
      </p:sp>
      <p:sp>
        <p:nvSpPr>
          <p:cNvPr id="257" name="PlaceHolder 1"/>
          <p:cNvSpPr>
            <a:spLocks noGrp="1"/>
          </p:cNvSpPr>
          <p:nvPr>
            <p:ph type="sldNum" idx="9"/>
          </p:nvPr>
        </p:nvSpPr>
        <p:spPr>
          <a:xfrm>
            <a:off x="11155680" y="6400800"/>
            <a:ext cx="546120" cy="2718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100" b="0" u="none" strike="noStrike">
                <a:solidFill>
                  <a:schemeClr val="accent5"/>
                </a:solidFill>
                <a:effectLst/>
                <a:uFillTx/>
                <a:latin typeface="Calibri"/>
              </a:defRPr>
            </a:lvl1pPr>
          </a:lstStyle>
          <a:p>
            <a:pPr indent="0" algn="r" defTabSz="914400">
              <a:lnSpc>
                <a:spcPct val="100000"/>
              </a:lnSpc>
              <a:buNone/>
              <a:tabLst>
                <a:tab pos="0" algn="l"/>
              </a:tabLst>
            </a:pPr>
            <a:fld id="{1F6E7A73-B07D-4CEC-B899-CEA63B75A9F2}" type="slidenum">
              <a:rPr lang="en-US" sz="1100" b="0" u="none" strike="noStrike">
                <a:solidFill>
                  <a:schemeClr val="accent5"/>
                </a:solidFill>
                <a:effectLst/>
                <a:uFillTx/>
                <a:latin typeface="Calibri"/>
              </a:rPr>
              <a:t>&lt;Foliennummer&gt;</a:t>
            </a:fld>
            <a:endParaRPr lang="de-DE"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Titel"/>
          <p:cNvSpPr/>
          <p:nvPr/>
        </p:nvSpPr>
        <p:spPr>
          <a:xfrm>
            <a:off x="548640" y="456480"/>
            <a:ext cx="11063880" cy="54936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3600" b="1" u="none" strike="noStrike">
                <a:solidFill>
                  <a:srgbClr val="1B1B2F"/>
                </a:solidFill>
                <a:effectLst/>
                <a:uFillTx/>
                <a:latin typeface="Cambria"/>
              </a:rPr>
              <a:t>Was der Server mit jeder Nachricht macht</a:t>
            </a:r>
            <a:endParaRPr lang="de-DE" sz="3600" b="0" u="none" strike="noStrike">
              <a:solidFill>
                <a:srgbClr val="000000"/>
              </a:solidFill>
              <a:effectLst/>
              <a:uFillTx/>
              <a:latin typeface="Arial"/>
            </a:endParaRPr>
          </a:p>
        </p:txBody>
      </p:sp>
      <p:sp>
        <p:nvSpPr>
          <p:cNvPr id="259" name="Karte on_message"/>
          <p:cNvSpPr/>
          <p:nvPr/>
        </p:nvSpPr>
        <p:spPr>
          <a:xfrm>
            <a:off x="548640" y="1280160"/>
            <a:ext cx="5943240" cy="4983120"/>
          </a:xfrm>
          <a:prstGeom prst="roundRect">
            <a:avLst>
              <a:gd name="adj" fmla="val 3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260" name="Titel on_message"/>
          <p:cNvSpPr/>
          <p:nvPr/>
        </p:nvSpPr>
        <p:spPr>
          <a:xfrm>
            <a:off x="822960" y="1417320"/>
            <a:ext cx="5394600" cy="24408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600" b="1" u="none" strike="noStrike">
                <a:solidFill>
                  <a:srgbClr val="1B1B2F"/>
                </a:solidFill>
                <a:effectLst/>
                <a:uFillTx/>
                <a:latin typeface="Calibri"/>
              </a:rPr>
              <a:t>on_message: ein Verteiler für alle Topics</a:t>
            </a:r>
            <a:endParaRPr lang="de-DE" sz="1600" b="0" u="none" strike="noStrike">
              <a:solidFill>
                <a:srgbClr val="000000"/>
              </a:solidFill>
              <a:effectLst/>
              <a:uFillTx/>
              <a:latin typeface="Arial"/>
            </a:endParaRPr>
          </a:p>
        </p:txBody>
      </p:sp>
      <p:sp>
        <p:nvSpPr>
          <p:cNvPr id="261" name="Topic endstop/state"/>
          <p:cNvSpPr/>
          <p:nvPr/>
        </p:nvSpPr>
        <p:spPr>
          <a:xfrm>
            <a:off x="822960" y="1920240"/>
            <a:ext cx="2102760" cy="456840"/>
          </a:xfrm>
          <a:prstGeom prst="roundRect">
            <a:avLst>
              <a:gd name="adj" fmla="val 20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endstop/state</a:t>
            </a:r>
            <a:endParaRPr lang="de-DE" sz="1100" b="0" u="none" strike="noStrike">
              <a:solidFill>
                <a:srgbClr val="FFFFFF"/>
              </a:solidFill>
              <a:effectLst/>
              <a:uFillTx/>
              <a:latin typeface="Arial"/>
            </a:endParaRPr>
          </a:p>
        </p:txBody>
      </p:sp>
      <p:sp>
        <p:nvSpPr>
          <p:cNvPr id="262" name="Aktion endstop/state"/>
          <p:cNvSpPr/>
          <p:nvPr/>
        </p:nvSpPr>
        <p:spPr>
          <a:xfrm>
            <a:off x="3108960" y="1965240"/>
            <a:ext cx="3108600" cy="3664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200" b="0" u="none" strike="noStrike">
                <a:solidFill>
                  <a:srgbClr val="1B1B2F"/>
                </a:solidFill>
                <a:effectLst/>
                <a:uFillTx/>
                <a:latin typeface="Calibri"/>
              </a:rPr>
              <a:t>Endstops auslesen, Zustand ans Webinterface weitergeben</a:t>
            </a:r>
            <a:endParaRPr lang="de-DE" sz="1200" b="0" u="none" strike="noStrike">
              <a:solidFill>
                <a:srgbClr val="000000"/>
              </a:solidFill>
              <a:effectLst/>
              <a:uFillTx/>
              <a:latin typeface="Arial"/>
            </a:endParaRPr>
          </a:p>
        </p:txBody>
      </p:sp>
      <p:sp>
        <p:nvSpPr>
          <p:cNvPr id="263" name="Topic motor_controller/position"/>
          <p:cNvSpPr/>
          <p:nvPr/>
        </p:nvSpPr>
        <p:spPr>
          <a:xfrm>
            <a:off x="822960" y="2505600"/>
            <a:ext cx="2102760" cy="456840"/>
          </a:xfrm>
          <a:prstGeom prst="roundRect">
            <a:avLst>
              <a:gd name="adj" fmla="val 20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motor_controller/position</a:t>
            </a:r>
            <a:endParaRPr lang="de-DE" sz="1100" b="0" u="none" strike="noStrike">
              <a:solidFill>
                <a:srgbClr val="FFFFFF"/>
              </a:solidFill>
              <a:effectLst/>
              <a:uFillTx/>
              <a:latin typeface="Arial"/>
            </a:endParaRPr>
          </a:p>
        </p:txBody>
      </p:sp>
      <p:sp>
        <p:nvSpPr>
          <p:cNvPr id="264" name="Aktion motor_controller/position"/>
          <p:cNvSpPr/>
          <p:nvPr/>
        </p:nvSpPr>
        <p:spPr>
          <a:xfrm>
            <a:off x="3108960" y="2550600"/>
            <a:ext cx="3108600" cy="3664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200" b="0" u="none" strike="noStrike">
                <a:solidFill>
                  <a:srgbClr val="1B1B2F"/>
                </a:solidFill>
                <a:effectLst/>
                <a:uFillTx/>
                <a:latin typeface="Calibri"/>
              </a:rPr>
              <a:t>Schrittposition merken und ans Webinterface melden</a:t>
            </a:r>
            <a:endParaRPr lang="de-DE" sz="1200" b="0" u="none" strike="noStrike">
              <a:solidFill>
                <a:srgbClr val="000000"/>
              </a:solidFill>
              <a:effectLst/>
              <a:uFillTx/>
              <a:latin typeface="Arial"/>
            </a:endParaRPr>
          </a:p>
        </p:txBody>
      </p:sp>
      <p:sp>
        <p:nvSpPr>
          <p:cNvPr id="265" name="Topic motor_controller/error_log"/>
          <p:cNvSpPr/>
          <p:nvPr/>
        </p:nvSpPr>
        <p:spPr>
          <a:xfrm>
            <a:off x="822960" y="3090600"/>
            <a:ext cx="2102760" cy="456840"/>
          </a:xfrm>
          <a:prstGeom prst="roundRect">
            <a:avLst>
              <a:gd name="adj" fmla="val 20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motor_controller/error_log</a:t>
            </a:r>
            <a:endParaRPr lang="de-DE" sz="1100" b="0" u="none" strike="noStrike">
              <a:solidFill>
                <a:srgbClr val="FFFFFF"/>
              </a:solidFill>
              <a:effectLst/>
              <a:uFillTx/>
              <a:latin typeface="Arial"/>
            </a:endParaRPr>
          </a:p>
        </p:txBody>
      </p:sp>
      <p:sp>
        <p:nvSpPr>
          <p:cNvPr id="266" name="Aktion motor_controller/error_log"/>
          <p:cNvSpPr/>
          <p:nvPr/>
        </p:nvSpPr>
        <p:spPr>
          <a:xfrm>
            <a:off x="3108960" y="3135600"/>
            <a:ext cx="3108600" cy="3664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200" b="0" u="none" strike="noStrike">
                <a:solidFill>
                  <a:srgbClr val="1B1B2F"/>
                </a:solidFill>
                <a:effectLst/>
                <a:uFillTx/>
                <a:latin typeface="Calibri"/>
              </a:rPr>
              <a:t>Meldet der ESP need-homing, startet das Homing</a:t>
            </a:r>
            <a:endParaRPr lang="de-DE" sz="1200" b="0" u="none" strike="noStrike">
              <a:solidFill>
                <a:srgbClr val="000000"/>
              </a:solidFill>
              <a:effectLst/>
              <a:uFillTx/>
              <a:latin typeface="Arial"/>
            </a:endParaRPr>
          </a:p>
        </p:txBody>
      </p:sp>
      <p:sp>
        <p:nvSpPr>
          <p:cNvPr id="267" name="Topic &lt;name&gt;/status, uptime"/>
          <p:cNvSpPr/>
          <p:nvPr/>
        </p:nvSpPr>
        <p:spPr>
          <a:xfrm>
            <a:off x="822960" y="3675960"/>
            <a:ext cx="2102760" cy="456840"/>
          </a:xfrm>
          <a:prstGeom prst="roundRect">
            <a:avLst>
              <a:gd name="adj" fmla="val 20000"/>
            </a:avLst>
          </a:prstGeom>
          <a:solidFill>
            <a:srgbClr val="6C5CE7"/>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&lt;name&gt;/status, uptime</a:t>
            </a:r>
            <a:endParaRPr lang="de-DE" sz="1100" b="0" u="none" strike="noStrike">
              <a:solidFill>
                <a:srgbClr val="FFFFFF"/>
              </a:solidFill>
              <a:effectLst/>
              <a:uFillTx/>
              <a:latin typeface="Arial"/>
            </a:endParaRPr>
          </a:p>
        </p:txBody>
      </p:sp>
      <p:sp>
        <p:nvSpPr>
          <p:cNvPr id="268" name="Aktion &lt;name&gt;/status, uptime"/>
          <p:cNvSpPr/>
          <p:nvPr/>
        </p:nvSpPr>
        <p:spPr>
          <a:xfrm>
            <a:off x="3108960" y="3630600"/>
            <a:ext cx="3108600" cy="54792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200" b="0" u="none" strike="noStrike">
                <a:solidFill>
                  <a:srgbClr val="1B1B2F"/>
                </a:solidFill>
                <a:effectLst/>
                <a:uFillTx/>
                <a:latin typeface="Calibri"/>
              </a:rPr>
              <a:t>Device Registry; beim Motor-Controller Neustart-Behandlung und Settings erneut senden</a:t>
            </a:r>
            <a:endParaRPr lang="de-DE" sz="1200" b="0" u="none" strike="noStrike">
              <a:solidFill>
                <a:srgbClr val="000000"/>
              </a:solidFill>
              <a:effectLst/>
              <a:uFillTx/>
              <a:latin typeface="Arial"/>
            </a:endParaRPr>
          </a:p>
        </p:txBody>
      </p:sp>
      <p:sp>
        <p:nvSpPr>
          <p:cNvPr id="269" name="Topic Eingaben und Web-Befehle"/>
          <p:cNvSpPr/>
          <p:nvPr/>
        </p:nvSpPr>
        <p:spPr>
          <a:xfrm>
            <a:off x="822960" y="4260960"/>
            <a:ext cx="2102760" cy="456840"/>
          </a:xfrm>
          <a:prstGeom prst="roundRect">
            <a:avLst>
              <a:gd name="adj" fmla="val 20000"/>
            </a:avLst>
          </a:prstGeom>
          <a:solidFill>
            <a:srgbClr val="FF5A5F"/>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Eingaben und Web-Befehle</a:t>
            </a:r>
            <a:endParaRPr lang="de-DE" sz="1100" b="0" u="none" strike="noStrike">
              <a:solidFill>
                <a:srgbClr val="FFFFFF"/>
              </a:solidFill>
              <a:effectLst/>
              <a:uFillTx/>
              <a:latin typeface="Arial"/>
            </a:endParaRPr>
          </a:p>
        </p:txBody>
      </p:sp>
      <p:sp>
        <p:nvSpPr>
          <p:cNvPr id="270" name="Aktion Eingaben und Web-Befehle"/>
          <p:cNvSpPr/>
          <p:nvPr/>
        </p:nvSpPr>
        <p:spPr>
          <a:xfrm>
            <a:off x="3108960" y="4397400"/>
            <a:ext cx="3108600" cy="18360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200" b="0" u="none" strike="noStrike">
                <a:solidFill>
                  <a:srgbClr val="1B1B2F"/>
                </a:solidFill>
                <a:effectLst/>
                <a:uFillTx/>
                <a:latin typeface="Calibri"/>
              </a:rPr>
              <a:t>weiter an on_control_command</a:t>
            </a:r>
            <a:endParaRPr lang="de-DE" sz="1200" b="0" u="none" strike="noStrike">
              <a:solidFill>
                <a:srgbClr val="000000"/>
              </a:solidFill>
              <a:effectLst/>
              <a:uFillTx/>
              <a:latin typeface="Arial"/>
            </a:endParaRPr>
          </a:p>
        </p:txBody>
      </p:sp>
      <p:sp>
        <p:nvSpPr>
          <p:cNvPr id="271" name="Topic Anfragen vom Webinterface"/>
          <p:cNvSpPr/>
          <p:nvPr/>
        </p:nvSpPr>
        <p:spPr>
          <a:xfrm>
            <a:off x="822960" y="4846320"/>
            <a:ext cx="2102760" cy="456840"/>
          </a:xfrm>
          <a:prstGeom prst="roundRect">
            <a:avLst>
              <a:gd name="adj" fmla="val 20000"/>
            </a:avLst>
          </a:prstGeom>
          <a:solidFill>
            <a:srgbClr val="6C5CE7"/>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Anfragen vom Webinterface</a:t>
            </a:r>
            <a:endParaRPr lang="de-DE" sz="1100" b="0" u="none" strike="noStrike">
              <a:solidFill>
                <a:srgbClr val="FFFFFF"/>
              </a:solidFill>
              <a:effectLst/>
              <a:uFillTx/>
              <a:latin typeface="Arial"/>
            </a:endParaRPr>
          </a:p>
        </p:txBody>
      </p:sp>
      <p:sp>
        <p:nvSpPr>
          <p:cNvPr id="272" name="Aktion Anfragen vom Webinterface"/>
          <p:cNvSpPr/>
          <p:nvPr/>
        </p:nvSpPr>
        <p:spPr>
          <a:xfrm>
            <a:off x="3108960" y="4891320"/>
            <a:ext cx="3108600" cy="3664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200" b="0" u="none" strike="noStrike">
                <a:solidFill>
                  <a:srgbClr val="1B1B2F"/>
                </a:solidFill>
                <a:effectLst/>
                <a:uFillTx/>
                <a:latin typeface="Calibri"/>
              </a:rPr>
              <a:t>Geräteliste, Eingabequellen, Tempi oder Position zurückschicken</a:t>
            </a:r>
            <a:endParaRPr lang="de-DE" sz="1200" b="0" u="none" strike="noStrike">
              <a:solidFill>
                <a:srgbClr val="000000"/>
              </a:solidFill>
              <a:effectLst/>
              <a:uFillTx/>
              <a:latin typeface="Arial"/>
            </a:endParaRPr>
          </a:p>
        </p:txBody>
      </p:sp>
      <p:sp>
        <p:nvSpPr>
          <p:cNvPr id="273" name="Topic Eingabequelle sperren"/>
          <p:cNvSpPr/>
          <p:nvPr/>
        </p:nvSpPr>
        <p:spPr>
          <a:xfrm>
            <a:off x="822960" y="5431680"/>
            <a:ext cx="2102760" cy="456840"/>
          </a:xfrm>
          <a:prstGeom prst="roundRect">
            <a:avLst>
              <a:gd name="adj" fmla="val 20000"/>
            </a:avLst>
          </a:prstGeom>
          <a:solidFill>
            <a:srgbClr val="6C5CE7"/>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Eingabequelle sperren</a:t>
            </a:r>
            <a:endParaRPr lang="de-DE" sz="1100" b="0" u="none" strike="noStrike">
              <a:solidFill>
                <a:srgbClr val="FFFFFF"/>
              </a:solidFill>
              <a:effectLst/>
              <a:uFillTx/>
              <a:latin typeface="Arial"/>
            </a:endParaRPr>
          </a:p>
        </p:txBody>
      </p:sp>
      <p:sp>
        <p:nvSpPr>
          <p:cNvPr id="274" name="Aktion Eingabequelle sperren"/>
          <p:cNvSpPr/>
          <p:nvPr/>
        </p:nvSpPr>
        <p:spPr>
          <a:xfrm>
            <a:off x="3108960" y="5568120"/>
            <a:ext cx="3108600" cy="18360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200" b="0" u="none" strike="noStrike">
                <a:solidFill>
                  <a:srgbClr val="1B1B2F"/>
                </a:solidFill>
                <a:effectLst/>
                <a:uFillTx/>
                <a:latin typeface="Calibri"/>
              </a:rPr>
              <a:t>Joy-Con oder Panel ein- oder ausschalten</a:t>
            </a:r>
            <a:endParaRPr lang="de-DE" sz="1200" b="0" u="none" strike="noStrike">
              <a:solidFill>
                <a:srgbClr val="000000"/>
              </a:solidFill>
              <a:effectLst/>
              <a:uFillTx/>
              <a:latin typeface="Arial"/>
            </a:endParaRPr>
          </a:p>
        </p:txBody>
      </p:sp>
      <p:sp>
        <p:nvSpPr>
          <p:cNvPr id="275" name="Hinweis on_message"/>
          <p:cNvSpPr/>
          <p:nvPr/>
        </p:nvSpPr>
        <p:spPr>
          <a:xfrm>
            <a:off x="822960" y="5989320"/>
            <a:ext cx="5394600" cy="16812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100" b="0" u="none" strike="noStrike">
                <a:solidFill>
                  <a:srgbClr val="7C7A99"/>
                </a:solidFill>
                <a:effectLst/>
                <a:uFillTx/>
                <a:latin typeface="Calibri"/>
              </a:rPr>
              <a:t>Alles andere wird ignoriert.</a:t>
            </a:r>
            <a:endParaRPr lang="de-DE" sz="1100" b="0" u="none" strike="noStrike">
              <a:solidFill>
                <a:srgbClr val="000000"/>
              </a:solidFill>
              <a:effectLst/>
              <a:uFillTx/>
              <a:latin typeface="Arial"/>
            </a:endParaRPr>
          </a:p>
        </p:txBody>
      </p:sp>
      <p:sp>
        <p:nvSpPr>
          <p:cNvPr id="276" name="Karte on_control_command"/>
          <p:cNvSpPr/>
          <p:nvPr/>
        </p:nvSpPr>
        <p:spPr>
          <a:xfrm>
            <a:off x="6766560" y="1280160"/>
            <a:ext cx="4873320" cy="4983120"/>
          </a:xfrm>
          <a:prstGeom prst="roundRect">
            <a:avLst>
              <a:gd name="adj" fmla="val 3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277" name="Titel on_control_command"/>
          <p:cNvSpPr/>
          <p:nvPr/>
        </p:nvSpPr>
        <p:spPr>
          <a:xfrm>
            <a:off x="7040880" y="1417320"/>
            <a:ext cx="4324680" cy="24408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600" b="1" u="none" strike="noStrike">
                <a:solidFill>
                  <a:srgbClr val="1B1B2F"/>
                </a:solidFill>
                <a:effectLst/>
                <a:uFillTx/>
                <a:latin typeface="Calibri"/>
              </a:rPr>
              <a:t>on_control_command: Steuerbefehle</a:t>
            </a:r>
            <a:endParaRPr lang="de-DE" sz="1600" b="0" u="none" strike="noStrike">
              <a:solidFill>
                <a:srgbClr val="000000"/>
              </a:solidFill>
              <a:effectLst/>
              <a:uFillTx/>
              <a:latin typeface="Arial"/>
            </a:endParaRPr>
          </a:p>
        </p:txBody>
      </p:sp>
      <p:sp>
        <p:nvSpPr>
          <p:cNvPr id="278" name="Block Eingaben"/>
          <p:cNvSpPr/>
          <p:nvPr/>
        </p:nvSpPr>
        <p:spPr>
          <a:xfrm>
            <a:off x="7040880" y="1920240"/>
            <a:ext cx="4324680" cy="2138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400" b="1" u="none" strike="noStrike">
                <a:solidFill>
                  <a:srgbClr val="1FA896"/>
                </a:solidFill>
                <a:effectLst/>
                <a:uFillTx/>
                <a:latin typeface="Calibri"/>
              </a:rPr>
              <a:t>Joy-Con und Panel</a:t>
            </a:r>
            <a:endParaRPr lang="de-DE" sz="1400" b="0" u="none" strike="noStrike">
              <a:solidFill>
                <a:srgbClr val="000000"/>
              </a:solidFill>
              <a:effectLst/>
              <a:uFillTx/>
              <a:latin typeface="Arial"/>
            </a:endParaRPr>
          </a:p>
        </p:txBody>
      </p:sp>
      <p:sp>
        <p:nvSpPr>
          <p:cNvPr id="279" name="Liste Eingaben"/>
          <p:cNvSpPr/>
          <p:nvPr/>
        </p:nvSpPr>
        <p:spPr>
          <a:xfrm>
            <a:off x="7040880" y="2240280"/>
            <a:ext cx="4324680" cy="1433160"/>
          </a:xfrm>
          <a:prstGeom prst="rect">
            <a:avLst/>
          </a:prstGeom>
          <a:noFill/>
          <a:ln w="0">
            <a:noFill/>
          </a:ln>
        </p:spPr>
        <p:style>
          <a:lnRef idx="0"/>
          <a:fillRef idx="0"/>
          <a:effectRef idx="0"/>
          <a:fontRef idx="minor"/>
        </p:style>
        <p:txBody>
          <a:bodyPr lIns="0" tIns="0" rIns="0" bIns="0" anchor="t">
            <a:spAutoFit/>
          </a:bodyPr>
          <a:p>
            <a:pPr marL="228600" indent="-228600">
              <a:lnSpc>
                <a:spcPct val="100000"/>
              </a:lnSpc>
              <a:spcAft>
                <a:spcPts val="300"/>
              </a:spcAft>
              <a:buClr>
                <a:srgbClr val="1B1B2F"/>
              </a:buClr>
              <a:buFont typeface="Symbol" charset="2"/>
              <a:buChar char=""/>
            </a:pPr>
            <a:r>
              <a:rPr lang="de-DE" sz="1200" b="0" u="none" strike="noStrike">
                <a:solidFill>
                  <a:srgbClr val="1B1B2F"/>
                </a:solidFill>
                <a:effectLst/>
                <a:uFillTx/>
                <a:latin typeface="Calibri"/>
              </a:rPr>
              <a:t>Quelle gesperrt? Dann wird die Eingabe ignoriert</a:t>
            </a:r>
            <a:endParaRPr lang="de-DE" sz="1200" b="0" u="none" strike="noStrike">
              <a:solidFill>
                <a:srgbClr val="000000"/>
              </a:solidFill>
              <a:effectLst/>
              <a:uFillTx/>
              <a:latin typeface="Arial"/>
            </a:endParaRPr>
          </a:p>
          <a:p>
            <a:pPr marL="228600" indent="-228600">
              <a:lnSpc>
                <a:spcPct val="100000"/>
              </a:lnSpc>
              <a:spcAft>
                <a:spcPts val="300"/>
              </a:spcAft>
              <a:buClr>
                <a:srgbClr val="1B1B2F"/>
              </a:buClr>
              <a:buFont typeface="Symbol" charset="2"/>
              <a:buChar char=""/>
            </a:pPr>
            <a:r>
              <a:rPr lang="de-DE" sz="1200" b="0" u="none" strike="noStrike">
                <a:solidFill>
                  <a:srgbClr val="1B1B2F"/>
                </a:solidFill>
                <a:effectLst/>
                <a:uFillTx/>
                <a:latin typeface="Calibri"/>
              </a:rPr>
              <a:t>Alle Werte werden auf 0 bis 100 Prozent gebracht, Panel-Änderungen laufen in einen gemeinsamen Zustand</a:t>
            </a:r>
            <a:endParaRPr lang="de-DE" sz="1200" b="0" u="none" strike="noStrike">
              <a:solidFill>
                <a:srgbClr val="000000"/>
              </a:solidFill>
              <a:effectLst/>
              <a:uFillTx/>
              <a:latin typeface="Arial"/>
            </a:endParaRPr>
          </a:p>
          <a:p>
            <a:pPr marL="228600" indent="-228600">
              <a:lnSpc>
                <a:spcPct val="100000"/>
              </a:lnSpc>
              <a:spcAft>
                <a:spcPts val="300"/>
              </a:spcAft>
              <a:buClr>
                <a:srgbClr val="1B1B2F"/>
              </a:buClr>
              <a:buFont typeface="Symbol" charset="2"/>
              <a:buChar char=""/>
            </a:pPr>
            <a:r>
              <a:rPr lang="de-DE" sz="1200" b="0" u="none" strike="noStrike">
                <a:solidFill>
                  <a:srgbClr val="1B1B2F"/>
                </a:solidFill>
                <a:effectLst/>
                <a:uFillTx/>
                <a:latin typeface="Calibri"/>
              </a:rPr>
              <a:t>Gegenrichtungen ergeben pro Achse −100 bis 100</a:t>
            </a:r>
            <a:endParaRPr lang="de-DE" sz="1200" b="0" u="none" strike="noStrike">
              <a:solidFill>
                <a:srgbClr val="000000"/>
              </a:solidFill>
              <a:effectLst/>
              <a:uFillTx/>
              <a:latin typeface="Arial"/>
            </a:endParaRPr>
          </a:p>
          <a:p>
            <a:pPr marL="228600" indent="-228600">
              <a:lnSpc>
                <a:spcPct val="100000"/>
              </a:lnSpc>
              <a:spcAft>
                <a:spcPts val="300"/>
              </a:spcAft>
              <a:buClr>
                <a:srgbClr val="1B1B2F"/>
              </a:buClr>
              <a:buFont typeface="Symbol" charset="2"/>
              <a:buChar char=""/>
            </a:pPr>
            <a:r>
              <a:rPr lang="de-DE" sz="1200" b="0" u="none" strike="noStrike">
                <a:solidFill>
                  <a:srgbClr val="1B1B2F"/>
                </a:solidFill>
                <a:effectLst/>
                <a:uFillTx/>
                <a:latin typeface="Calibri"/>
              </a:rPr>
              <a:t>move_axis skaliert und prüft die Endstops</a:t>
            </a:r>
            <a:endParaRPr lang="de-DE" sz="1200" b="0" u="none" strike="noStrike">
              <a:solidFill>
                <a:srgbClr val="000000"/>
              </a:solidFill>
              <a:effectLst/>
              <a:uFillTx/>
              <a:latin typeface="Arial"/>
            </a:endParaRPr>
          </a:p>
          <a:p>
            <a:pPr marL="228600" indent="-228600">
              <a:lnSpc>
                <a:spcPct val="100000"/>
              </a:lnSpc>
              <a:spcAft>
                <a:spcPts val="300"/>
              </a:spcAft>
              <a:buClr>
                <a:srgbClr val="1B1B2F"/>
              </a:buClr>
              <a:buFont typeface="Symbol" charset="2"/>
              <a:buChar char=""/>
            </a:pPr>
            <a:r>
              <a:rPr lang="de-DE" sz="1200" b="0" u="none" strike="noStrike">
                <a:solidFill>
                  <a:srgbClr val="1B1B2F"/>
                </a:solidFill>
                <a:effectLst/>
                <a:uFillTx/>
                <a:latin typeface="Calibri"/>
              </a:rPr>
              <a:t>Klaue: Panel-Poti als Winkel, Joy-Con-Tasten als langsames Auf und Zu</a:t>
            </a:r>
            <a:endParaRPr lang="de-DE" sz="1200" b="0" u="none" strike="noStrike">
              <a:solidFill>
                <a:srgbClr val="000000"/>
              </a:solidFill>
              <a:effectLst/>
              <a:uFillTx/>
              <a:latin typeface="Arial"/>
            </a:endParaRPr>
          </a:p>
        </p:txBody>
      </p:sp>
      <p:sp>
        <p:nvSpPr>
          <p:cNvPr id="280" name="Block Web"/>
          <p:cNvSpPr/>
          <p:nvPr/>
        </p:nvSpPr>
        <p:spPr>
          <a:xfrm>
            <a:off x="7040880" y="4343400"/>
            <a:ext cx="4324680" cy="2138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400" b="1" u="none" strike="noStrike">
                <a:solidFill>
                  <a:srgbClr val="6C5CE7"/>
                </a:solidFill>
                <a:effectLst/>
                <a:uFillTx/>
                <a:latin typeface="Calibri"/>
              </a:rPr>
              <a:t>Webinterface</a:t>
            </a:r>
            <a:endParaRPr lang="de-DE" sz="1400" b="0" u="none" strike="noStrike">
              <a:solidFill>
                <a:srgbClr val="000000"/>
              </a:solidFill>
              <a:effectLst/>
              <a:uFillTx/>
              <a:latin typeface="Arial"/>
            </a:endParaRPr>
          </a:p>
        </p:txBody>
      </p:sp>
      <p:sp>
        <p:nvSpPr>
          <p:cNvPr id="281" name="Liste Web"/>
          <p:cNvSpPr/>
          <p:nvPr/>
        </p:nvSpPr>
        <p:spPr>
          <a:xfrm>
            <a:off x="7040880" y="4663440"/>
            <a:ext cx="4324680" cy="808200"/>
          </a:xfrm>
          <a:prstGeom prst="rect">
            <a:avLst/>
          </a:prstGeom>
          <a:noFill/>
          <a:ln w="0">
            <a:noFill/>
          </a:ln>
        </p:spPr>
        <p:style>
          <a:lnRef idx="0"/>
          <a:fillRef idx="0"/>
          <a:effectRef idx="0"/>
          <a:fontRef idx="minor"/>
        </p:style>
        <p:txBody>
          <a:bodyPr lIns="0" tIns="0" rIns="0" bIns="0" anchor="t">
            <a:spAutoFit/>
          </a:bodyPr>
          <a:p>
            <a:pPr marL="228600" indent="-228600">
              <a:lnSpc>
                <a:spcPct val="100000"/>
              </a:lnSpc>
              <a:spcAft>
                <a:spcPts val="300"/>
              </a:spcAft>
              <a:buClr>
                <a:srgbClr val="1B1B2F"/>
              </a:buClr>
              <a:buFont typeface="Symbol" charset="2"/>
              <a:buChar char=""/>
            </a:pPr>
            <a:r>
              <a:rPr lang="de-DE" sz="1200" b="0" u="none" strike="noStrike">
                <a:solidFill>
                  <a:srgbClr val="1B1B2F"/>
                </a:solidFill>
                <a:effectLst/>
                <a:uFillTx/>
                <a:latin typeface="Calibri"/>
              </a:rPr>
              <a:t>Fahren: left, right, front, back und claw</a:t>
            </a:r>
            <a:endParaRPr lang="de-DE" sz="1200" b="0" u="none" strike="noStrike">
              <a:solidFill>
                <a:srgbClr val="000000"/>
              </a:solidFill>
              <a:effectLst/>
              <a:uFillTx/>
              <a:latin typeface="Arial"/>
            </a:endParaRPr>
          </a:p>
          <a:p>
            <a:pPr marL="228600" indent="-228600">
              <a:lnSpc>
                <a:spcPct val="100000"/>
              </a:lnSpc>
              <a:spcAft>
                <a:spcPts val="300"/>
              </a:spcAft>
              <a:buClr>
                <a:srgbClr val="1B1B2F"/>
              </a:buClr>
              <a:buFont typeface="Symbol" charset="2"/>
              <a:buChar char=""/>
            </a:pPr>
            <a:r>
              <a:rPr lang="de-DE" sz="1200" b="0" u="none" strike="noStrike">
                <a:solidFill>
                  <a:srgbClr val="1B1B2F"/>
                </a:solidFill>
                <a:effectLst/>
                <a:uFillTx/>
                <a:latin typeface="Calibri"/>
              </a:rPr>
              <a:t>Tempo, Beschleunigung und Klauen-Tempo gehen als Settings an den ESP</a:t>
            </a:r>
            <a:endParaRPr lang="de-DE" sz="1200" b="0" u="none" strike="noStrike">
              <a:solidFill>
                <a:srgbClr val="000000"/>
              </a:solidFill>
              <a:effectLst/>
              <a:uFillTx/>
              <a:latin typeface="Arial"/>
            </a:endParaRPr>
          </a:p>
          <a:p>
            <a:pPr marL="228600" indent="-228600">
              <a:lnSpc>
                <a:spcPct val="100000"/>
              </a:lnSpc>
              <a:spcAft>
                <a:spcPts val="300"/>
              </a:spcAft>
              <a:buClr>
                <a:srgbClr val="1B1B2F"/>
              </a:buClr>
              <a:buFont typeface="Symbol" charset="2"/>
              <a:buChar char=""/>
            </a:pPr>
            <a:r>
              <a:rPr lang="de-DE" sz="1200" b="0" u="none" strike="noStrike">
                <a:solidFill>
                  <a:srgbClr val="1B1B2F"/>
                </a:solidFill>
                <a:effectLst/>
                <a:uFillTx/>
                <a:latin typeface="Calibri"/>
              </a:rPr>
              <a:t>goto, goto_cancel und home</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Titel"/>
          <p:cNvSpPr/>
          <p:nvPr/>
        </p:nvSpPr>
        <p:spPr>
          <a:xfrm>
            <a:off x="548640" y="365760"/>
            <a:ext cx="11061720" cy="729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dk1"/>
                </a:solidFill>
                <a:effectLst/>
                <a:uFillTx/>
                <a:latin typeface="Cambria"/>
                <a:ea typeface="Cambria"/>
              </a:rPr>
              <a:t>Sicherheit liegt auch im ESP, nicht nur im Server</a:t>
            </a:r>
            <a:endParaRPr lang="de-DE" sz="3600" b="0" u="none" strike="noStrike">
              <a:solidFill>
                <a:srgbClr val="000000"/>
              </a:solidFill>
              <a:effectLst/>
              <a:uFillTx/>
              <a:latin typeface="Arial"/>
            </a:endParaRPr>
          </a:p>
        </p:txBody>
      </p:sp>
      <p:sp>
        <p:nvSpPr>
          <p:cNvPr id="283" name="Symbol 1"/>
          <p:cNvSpPr/>
          <p:nvPr/>
        </p:nvSpPr>
        <p:spPr>
          <a:xfrm>
            <a:off x="548640" y="1508760"/>
            <a:ext cx="729000" cy="729000"/>
          </a:xfrm>
          <a:prstGeom prst="ellipse">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1</a:t>
            </a:r>
            <a:endParaRPr lang="de-DE" sz="1800" b="0" u="none" strike="noStrike">
              <a:solidFill>
                <a:srgbClr val="FFFFFF"/>
              </a:solidFill>
              <a:effectLst/>
              <a:uFillTx/>
              <a:latin typeface="Arial"/>
            </a:endParaRPr>
          </a:p>
        </p:txBody>
      </p:sp>
      <p:sp>
        <p:nvSpPr>
          <p:cNvPr id="284" name="Symbol 2"/>
          <p:cNvSpPr/>
          <p:nvPr/>
        </p:nvSpPr>
        <p:spPr>
          <a:xfrm>
            <a:off x="548640" y="2697480"/>
            <a:ext cx="729000" cy="729000"/>
          </a:xfrm>
          <a:prstGeom prst="ellipse">
            <a:avLst/>
          </a:prstGeom>
          <a:solidFill>
            <a:schemeClr val="accent4"/>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2</a:t>
            </a:r>
            <a:endParaRPr lang="de-DE" sz="1800" b="0" u="none" strike="noStrike">
              <a:solidFill>
                <a:srgbClr val="FFFFFF"/>
              </a:solidFill>
              <a:effectLst/>
              <a:uFillTx/>
              <a:latin typeface="Arial"/>
            </a:endParaRPr>
          </a:p>
        </p:txBody>
      </p:sp>
      <p:sp>
        <p:nvSpPr>
          <p:cNvPr id="285" name="Punkt Titel 2"/>
          <p:cNvSpPr/>
          <p:nvPr/>
        </p:nvSpPr>
        <p:spPr>
          <a:xfrm>
            <a:off x="1554480" y="2606040"/>
            <a:ext cx="9964440" cy="45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Calibri"/>
              </a:rPr>
              <a:t>Stopp bei Verbindungsverlust</a:t>
            </a:r>
            <a:endParaRPr lang="de-DE" sz="2000" b="0" u="none" strike="noStrike">
              <a:solidFill>
                <a:srgbClr val="000000"/>
              </a:solidFill>
              <a:effectLst/>
              <a:uFillTx/>
              <a:latin typeface="Arial"/>
            </a:endParaRPr>
          </a:p>
        </p:txBody>
      </p:sp>
      <p:sp>
        <p:nvSpPr>
          <p:cNvPr id="286" name="Punkt Text 2"/>
          <p:cNvSpPr/>
          <p:nvPr/>
        </p:nvSpPr>
        <p:spPr>
          <a:xfrm>
            <a:off x="1554480" y="3063240"/>
            <a:ext cx="9964440" cy="546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Bricht WLAN oder MQTT weg, stoppt der ESP alle Achsen und die Klaue sofort.</a:t>
            </a:r>
            <a:endParaRPr lang="de-DE" sz="1400" b="0" u="none" strike="noStrike">
              <a:solidFill>
                <a:srgbClr val="000000"/>
              </a:solidFill>
              <a:effectLst/>
              <a:uFillTx/>
              <a:latin typeface="Arial"/>
            </a:endParaRPr>
          </a:p>
        </p:txBody>
      </p:sp>
      <p:sp>
        <p:nvSpPr>
          <p:cNvPr id="287" name="Symbol 3"/>
          <p:cNvSpPr/>
          <p:nvPr/>
        </p:nvSpPr>
        <p:spPr>
          <a:xfrm>
            <a:off x="548640" y="3886200"/>
            <a:ext cx="729000" cy="729000"/>
          </a:xfrm>
          <a:prstGeom prst="ellipse">
            <a:avLst/>
          </a:prstGeom>
          <a:solidFill>
            <a:schemeClr val="accent3"/>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3</a:t>
            </a:r>
            <a:endParaRPr lang="de-DE" sz="1800" b="0" u="none" strike="noStrike">
              <a:solidFill>
                <a:srgbClr val="FFFFFF"/>
              </a:solidFill>
              <a:effectLst/>
              <a:uFillTx/>
              <a:latin typeface="Arial"/>
            </a:endParaRPr>
          </a:p>
        </p:txBody>
      </p:sp>
      <p:sp>
        <p:nvSpPr>
          <p:cNvPr id="288" name="Punkt Titel 3"/>
          <p:cNvSpPr/>
          <p:nvPr/>
        </p:nvSpPr>
        <p:spPr>
          <a:xfrm>
            <a:off x="1554480" y="3794760"/>
            <a:ext cx="9964440" cy="45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Calibri"/>
              </a:rPr>
              <a:t>Sofortstopp am Endstop</a:t>
            </a:r>
            <a:endParaRPr lang="de-DE" sz="2000" b="0" u="none" strike="noStrike">
              <a:solidFill>
                <a:srgbClr val="000000"/>
              </a:solidFill>
              <a:effectLst/>
              <a:uFillTx/>
              <a:latin typeface="Arial"/>
            </a:endParaRPr>
          </a:p>
        </p:txBody>
      </p:sp>
      <p:sp>
        <p:nvSpPr>
          <p:cNvPr id="289" name="Punkt Text 3"/>
          <p:cNvSpPr/>
          <p:nvPr/>
        </p:nvSpPr>
        <p:spPr>
          <a:xfrm>
            <a:off x="1554480" y="4251960"/>
            <a:ext cx="9964440" cy="546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Der Server stoppt ohne Rampe und setzt die Position zurück auf 0.</a:t>
            </a:r>
            <a:endParaRPr lang="de-DE" sz="1400" b="0" u="none" strike="noStrike">
              <a:solidFill>
                <a:srgbClr val="000000"/>
              </a:solidFill>
              <a:effectLst/>
              <a:uFillTx/>
              <a:latin typeface="Arial"/>
            </a:endParaRPr>
          </a:p>
        </p:txBody>
      </p:sp>
      <p:sp>
        <p:nvSpPr>
          <p:cNvPr id="290" name="Punkt Titel 4"/>
          <p:cNvSpPr/>
          <p:nvPr/>
        </p:nvSpPr>
        <p:spPr>
          <a:xfrm>
            <a:off x="1440000" y="1440000"/>
            <a:ext cx="9964440" cy="4546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chemeClr val="dk1"/>
                </a:solidFill>
                <a:effectLst/>
                <a:uFillTx/>
                <a:latin typeface="Calibri"/>
              </a:rPr>
              <a:t>Sanftes Anfahren</a:t>
            </a:r>
            <a:endParaRPr lang="de-DE" sz="2000" b="0" u="none" strike="noStrike">
              <a:solidFill>
                <a:srgbClr val="000000"/>
              </a:solidFill>
              <a:effectLst/>
              <a:uFillTx/>
              <a:latin typeface="Arial"/>
            </a:endParaRPr>
          </a:p>
        </p:txBody>
      </p:sp>
      <p:sp>
        <p:nvSpPr>
          <p:cNvPr id="291" name="Punkt Text 4"/>
          <p:cNvSpPr/>
          <p:nvPr/>
        </p:nvSpPr>
        <p:spPr>
          <a:xfrm>
            <a:off x="1440000" y="1895400"/>
            <a:ext cx="9964440" cy="546120"/>
          </a:xfrm>
          <a:prstGeom prst="rect">
            <a:avLst/>
          </a:prstGeom>
          <a:noFill/>
          <a:ln w="0">
            <a:noFill/>
          </a:ln>
        </p:spPr>
        <p:style>
          <a:lnRef idx="0"/>
          <a:fillRef idx="0"/>
          <a:effectRef idx="0"/>
          <a:fontRef idx="minor"/>
        </p:style>
        <p:txBody>
          <a:bodyPr lIns="0" tIns="0" rIns="0" bIns="0" anchor="t">
            <a:noAutofit/>
          </a:bodyPr>
          <a:p>
            <a:pPr defTabSz="914400">
              <a:lnSpc>
                <a:spcPct val="100000"/>
              </a:lnSpc>
              <a:tabLst>
                <a:tab pos="0" algn="l"/>
              </a:tabLst>
            </a:pPr>
            <a:r>
              <a:rPr lang="en-US" sz="1400" b="0" u="none" strike="noStrike">
                <a:solidFill>
                  <a:schemeClr val="dk2"/>
                </a:solidFill>
                <a:effectLst/>
                <a:uFillTx/>
                <a:latin typeface="Calibri"/>
              </a:rPr>
              <a:t>Beschleunigungsrampen schonen Motoren und Mechanik, getrennt für X/Y und Z.</a:t>
            </a:r>
            <a:endParaRPr lang="de-DE" sz="1400" b="0" u="none" strike="noStrike">
              <a:solidFill>
                <a:srgbClr val="000000"/>
              </a:solidFill>
              <a:effectLst/>
              <a:uFillTx/>
              <a:latin typeface="Arial"/>
            </a:endParaRPr>
          </a:p>
        </p:txBody>
      </p:sp>
      <p:sp>
        <p:nvSpPr>
          <p:cNvPr id="292" name="PlaceHolder 1"/>
          <p:cNvSpPr>
            <a:spLocks noGrp="1"/>
          </p:cNvSpPr>
          <p:nvPr>
            <p:ph type="sldNum" idx="10"/>
          </p:nvPr>
        </p:nvSpPr>
        <p:spPr>
          <a:xfrm>
            <a:off x="11155680" y="6400800"/>
            <a:ext cx="546120" cy="2718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100" b="0" u="none" strike="noStrike">
                <a:solidFill>
                  <a:schemeClr val="accent5"/>
                </a:solidFill>
                <a:effectLst/>
                <a:uFillTx/>
                <a:latin typeface="Calibri"/>
              </a:defRPr>
            </a:lvl1pPr>
          </a:lstStyle>
          <a:p>
            <a:pPr indent="0" algn="r" defTabSz="914400">
              <a:lnSpc>
                <a:spcPct val="100000"/>
              </a:lnSpc>
              <a:buNone/>
              <a:tabLst>
                <a:tab pos="0" algn="l"/>
              </a:tabLst>
            </a:pPr>
            <a:fld id="{0F90CE1E-D034-41A9-8C94-B58489FA7B1C}" type="slidenum">
              <a:rPr lang="en-US" sz="1100" b="0" u="none" strike="noStrike">
                <a:solidFill>
                  <a:schemeClr val="accent5"/>
                </a:solidFill>
                <a:effectLst/>
                <a:uFillTx/>
                <a:latin typeface="Calibri"/>
              </a:rPr>
              <a:t>&lt;Foliennummer&gt;</a:t>
            </a:fld>
            <a:endParaRPr lang="de-DE"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3" name="Titel"/>
          <p:cNvSpPr/>
          <p:nvPr/>
        </p:nvSpPr>
        <p:spPr>
          <a:xfrm>
            <a:off x="548640" y="365760"/>
            <a:ext cx="11063160" cy="73044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3600" b="1" u="none" strike="noStrike">
                <a:solidFill>
                  <a:srgbClr val="1B1B2F"/>
                </a:solidFill>
                <a:effectLst/>
                <a:uFillTx/>
                <a:latin typeface="Cambria"/>
              </a:rPr>
              <a:t>Meilensteinplanung</a:t>
            </a:r>
            <a:endParaRPr lang="de-DE" sz="3600" b="0" u="none" strike="noStrike">
              <a:solidFill>
                <a:srgbClr val="000000"/>
              </a:solidFill>
              <a:effectLst/>
              <a:uFillTx/>
              <a:latin typeface="Arial"/>
            </a:endParaRPr>
          </a:p>
        </p:txBody>
      </p:sp>
      <p:sp>
        <p:nvSpPr>
          <p:cNvPr id="294" name="Gantt Karte"/>
          <p:cNvSpPr/>
          <p:nvPr/>
        </p:nvSpPr>
        <p:spPr>
          <a:xfrm>
            <a:off x="548640" y="1234440"/>
            <a:ext cx="11063160" cy="5028120"/>
          </a:xfrm>
          <a:prstGeom prst="roundRect">
            <a:avLst>
              <a:gd name="adj" fmla="val 2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295" name="Monat Mai"/>
          <p:cNvSpPr/>
          <p:nvPr/>
        </p:nvSpPr>
        <p:spPr>
          <a:xfrm>
            <a:off x="4297680" y="1435680"/>
            <a:ext cx="820440" cy="27324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200" b="1" u="none" strike="noStrike">
                <a:solidFill>
                  <a:srgbClr val="2D2A4A"/>
                </a:solidFill>
                <a:effectLst/>
                <a:uFillTx/>
                <a:latin typeface="Calibri"/>
              </a:rPr>
              <a:t>Mai</a:t>
            </a:r>
            <a:endParaRPr lang="de-DE" sz="1200" b="0" u="none" strike="noStrike">
              <a:solidFill>
                <a:srgbClr val="000000"/>
              </a:solidFill>
              <a:effectLst/>
              <a:uFillTx/>
              <a:latin typeface="Arial"/>
            </a:endParaRPr>
          </a:p>
        </p:txBody>
      </p:sp>
      <p:sp>
        <p:nvSpPr>
          <p:cNvPr id="296" name="Monat Jun"/>
          <p:cNvSpPr/>
          <p:nvPr/>
        </p:nvSpPr>
        <p:spPr>
          <a:xfrm>
            <a:off x="5119200" y="1435680"/>
            <a:ext cx="794160" cy="27324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200" b="1" u="none" strike="noStrike">
                <a:solidFill>
                  <a:srgbClr val="2D2A4A"/>
                </a:solidFill>
                <a:effectLst/>
                <a:uFillTx/>
                <a:latin typeface="Calibri"/>
              </a:rPr>
              <a:t>Jun</a:t>
            </a:r>
            <a:endParaRPr lang="de-DE" sz="1200" b="0" u="none" strike="noStrike">
              <a:solidFill>
                <a:srgbClr val="000000"/>
              </a:solidFill>
              <a:effectLst/>
              <a:uFillTx/>
              <a:latin typeface="Arial"/>
            </a:endParaRPr>
          </a:p>
        </p:txBody>
      </p:sp>
      <p:sp>
        <p:nvSpPr>
          <p:cNvPr id="297" name="Monat Jul"/>
          <p:cNvSpPr/>
          <p:nvPr/>
        </p:nvSpPr>
        <p:spPr>
          <a:xfrm>
            <a:off x="5914440" y="1435680"/>
            <a:ext cx="820440" cy="27324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200" b="1" u="none" strike="noStrike">
                <a:solidFill>
                  <a:srgbClr val="2D2A4A"/>
                </a:solidFill>
                <a:effectLst/>
                <a:uFillTx/>
                <a:latin typeface="Calibri"/>
              </a:rPr>
              <a:t>Jul</a:t>
            </a:r>
            <a:endParaRPr lang="de-DE" sz="1200" b="0" u="none" strike="noStrike">
              <a:solidFill>
                <a:srgbClr val="000000"/>
              </a:solidFill>
              <a:effectLst/>
              <a:uFillTx/>
              <a:latin typeface="Arial"/>
            </a:endParaRPr>
          </a:p>
        </p:txBody>
      </p:sp>
      <p:sp>
        <p:nvSpPr>
          <p:cNvPr id="298" name="Monat Aug"/>
          <p:cNvSpPr/>
          <p:nvPr/>
        </p:nvSpPr>
        <p:spPr>
          <a:xfrm>
            <a:off x="6735960" y="1435680"/>
            <a:ext cx="820440" cy="27324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200" b="1" u="none" strike="noStrike">
                <a:solidFill>
                  <a:srgbClr val="2D2A4A"/>
                </a:solidFill>
                <a:effectLst/>
                <a:uFillTx/>
                <a:latin typeface="Calibri"/>
              </a:rPr>
              <a:t>Aug</a:t>
            </a:r>
            <a:endParaRPr lang="de-DE" sz="1200" b="0" u="none" strike="noStrike">
              <a:solidFill>
                <a:srgbClr val="000000"/>
              </a:solidFill>
              <a:effectLst/>
              <a:uFillTx/>
              <a:latin typeface="Arial"/>
            </a:endParaRPr>
          </a:p>
        </p:txBody>
      </p:sp>
      <p:sp>
        <p:nvSpPr>
          <p:cNvPr id="299" name="Monat Sep"/>
          <p:cNvSpPr/>
          <p:nvPr/>
        </p:nvSpPr>
        <p:spPr>
          <a:xfrm>
            <a:off x="7557840" y="1435680"/>
            <a:ext cx="794160" cy="27324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200" b="1" u="none" strike="noStrike">
                <a:solidFill>
                  <a:srgbClr val="2D2A4A"/>
                </a:solidFill>
                <a:effectLst/>
                <a:uFillTx/>
                <a:latin typeface="Calibri"/>
              </a:rPr>
              <a:t>Sep</a:t>
            </a:r>
            <a:endParaRPr lang="de-DE" sz="1200" b="0" u="none" strike="noStrike">
              <a:solidFill>
                <a:srgbClr val="000000"/>
              </a:solidFill>
              <a:effectLst/>
              <a:uFillTx/>
              <a:latin typeface="Arial"/>
            </a:endParaRPr>
          </a:p>
        </p:txBody>
      </p:sp>
      <p:sp>
        <p:nvSpPr>
          <p:cNvPr id="300" name="Monat Okt"/>
          <p:cNvSpPr/>
          <p:nvPr/>
        </p:nvSpPr>
        <p:spPr>
          <a:xfrm>
            <a:off x="8352720" y="1435680"/>
            <a:ext cx="820440" cy="27324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200" b="1" u="none" strike="noStrike">
                <a:solidFill>
                  <a:srgbClr val="2D2A4A"/>
                </a:solidFill>
                <a:effectLst/>
                <a:uFillTx/>
                <a:latin typeface="Calibri"/>
              </a:rPr>
              <a:t>Okt</a:t>
            </a:r>
            <a:endParaRPr lang="de-DE" sz="1200" b="0" u="none" strike="noStrike">
              <a:solidFill>
                <a:srgbClr val="000000"/>
              </a:solidFill>
              <a:effectLst/>
              <a:uFillTx/>
              <a:latin typeface="Arial"/>
            </a:endParaRPr>
          </a:p>
        </p:txBody>
      </p:sp>
      <p:sp>
        <p:nvSpPr>
          <p:cNvPr id="301" name="Monat Nov"/>
          <p:cNvSpPr/>
          <p:nvPr/>
        </p:nvSpPr>
        <p:spPr>
          <a:xfrm>
            <a:off x="9174600" y="1435680"/>
            <a:ext cx="794160" cy="27324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200" b="1" u="none" strike="noStrike">
                <a:solidFill>
                  <a:srgbClr val="2D2A4A"/>
                </a:solidFill>
                <a:effectLst/>
                <a:uFillTx/>
                <a:latin typeface="Calibri"/>
              </a:rPr>
              <a:t>Nov</a:t>
            </a:r>
            <a:endParaRPr lang="de-DE" sz="1200" b="0" u="none" strike="noStrike">
              <a:solidFill>
                <a:srgbClr val="000000"/>
              </a:solidFill>
              <a:effectLst/>
              <a:uFillTx/>
              <a:latin typeface="Arial"/>
            </a:endParaRPr>
          </a:p>
        </p:txBody>
      </p:sp>
      <p:sp>
        <p:nvSpPr>
          <p:cNvPr id="302" name="Monat Dez"/>
          <p:cNvSpPr/>
          <p:nvPr/>
        </p:nvSpPr>
        <p:spPr>
          <a:xfrm>
            <a:off x="9969480" y="1435680"/>
            <a:ext cx="820440" cy="27324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200" b="1" u="none" strike="noStrike">
                <a:solidFill>
                  <a:srgbClr val="2D2A4A"/>
                </a:solidFill>
                <a:effectLst/>
                <a:uFillTx/>
                <a:latin typeface="Calibri"/>
              </a:rPr>
              <a:t>Dez</a:t>
            </a:r>
            <a:endParaRPr lang="de-DE" sz="1200" b="0" u="none" strike="noStrike">
              <a:solidFill>
                <a:srgbClr val="000000"/>
              </a:solidFill>
              <a:effectLst/>
              <a:uFillTx/>
              <a:latin typeface="Arial"/>
            </a:endParaRPr>
          </a:p>
        </p:txBody>
      </p:sp>
      <p:sp>
        <p:nvSpPr>
          <p:cNvPr id="303" name="Monat Jan"/>
          <p:cNvSpPr/>
          <p:nvPr/>
        </p:nvSpPr>
        <p:spPr>
          <a:xfrm>
            <a:off x="10791360" y="1435680"/>
            <a:ext cx="820440" cy="27324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200" b="1" u="none" strike="noStrike">
                <a:solidFill>
                  <a:srgbClr val="2D2A4A"/>
                </a:solidFill>
                <a:effectLst/>
                <a:uFillTx/>
                <a:latin typeface="Calibri"/>
              </a:rPr>
              <a:t>Jan</a:t>
            </a:r>
            <a:endParaRPr lang="de-DE" sz="1200" b="0" u="none" strike="noStrike">
              <a:solidFill>
                <a:srgbClr val="000000"/>
              </a:solidFill>
              <a:effectLst/>
              <a:uFillTx/>
              <a:latin typeface="Arial"/>
            </a:endParaRPr>
          </a:p>
        </p:txBody>
      </p:sp>
      <p:sp>
        <p:nvSpPr>
          <p:cNvPr id="304" name="Name M1"/>
          <p:cNvSpPr/>
          <p:nvPr/>
        </p:nvSpPr>
        <p:spPr>
          <a:xfrm>
            <a:off x="777240" y="1874520"/>
            <a:ext cx="3427920" cy="3646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300" b="1" u="none" strike="noStrike">
                <a:solidFill>
                  <a:srgbClr val="1B1B2F"/>
                </a:solidFill>
                <a:effectLst/>
                <a:uFillTx/>
                <a:latin typeface="Calibri"/>
              </a:rPr>
              <a:t>M1  Bestandsanalyse</a:t>
            </a:r>
            <a:endParaRPr lang="de-DE" sz="1300" b="0" u="none" strike="noStrike">
              <a:solidFill>
                <a:srgbClr val="000000"/>
              </a:solidFill>
              <a:effectLst/>
              <a:uFillTx/>
              <a:latin typeface="Arial"/>
            </a:endParaRPr>
          </a:p>
        </p:txBody>
      </p:sp>
      <p:sp>
        <p:nvSpPr>
          <p:cNvPr id="305" name="Balken M1"/>
          <p:cNvSpPr/>
          <p:nvPr/>
        </p:nvSpPr>
        <p:spPr>
          <a:xfrm>
            <a:off x="4589280" y="1911240"/>
            <a:ext cx="449640" cy="291600"/>
          </a:xfrm>
          <a:prstGeom prst="roundRect">
            <a:avLst>
              <a:gd name="adj" fmla="val 30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M1</a:t>
            </a:r>
            <a:endParaRPr lang="de-DE" sz="1100" b="0" u="none" strike="noStrike">
              <a:solidFill>
                <a:srgbClr val="FFFFFF"/>
              </a:solidFill>
              <a:effectLst/>
              <a:uFillTx/>
              <a:latin typeface="Arial"/>
            </a:endParaRPr>
          </a:p>
        </p:txBody>
      </p:sp>
      <p:sp>
        <p:nvSpPr>
          <p:cNvPr id="306" name="Name M2"/>
          <p:cNvSpPr/>
          <p:nvPr/>
        </p:nvSpPr>
        <p:spPr>
          <a:xfrm>
            <a:off x="777240" y="2350080"/>
            <a:ext cx="3427920" cy="3646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300" b="1" u="none" strike="noStrike">
                <a:solidFill>
                  <a:srgbClr val="1B1B2F"/>
                </a:solidFill>
                <a:effectLst/>
                <a:uFillTx/>
                <a:latin typeface="Calibri"/>
              </a:rPr>
              <a:t>M2  Controller- und Schnittstellenentscheidung</a:t>
            </a:r>
            <a:endParaRPr lang="de-DE" sz="1300" b="0" u="none" strike="noStrike">
              <a:solidFill>
                <a:srgbClr val="000000"/>
              </a:solidFill>
              <a:effectLst/>
              <a:uFillTx/>
              <a:latin typeface="Arial"/>
            </a:endParaRPr>
          </a:p>
        </p:txBody>
      </p:sp>
      <p:sp>
        <p:nvSpPr>
          <p:cNvPr id="307" name="Balken M2"/>
          <p:cNvSpPr/>
          <p:nvPr/>
        </p:nvSpPr>
        <p:spPr>
          <a:xfrm>
            <a:off x="5119200" y="2386440"/>
            <a:ext cx="661680" cy="291600"/>
          </a:xfrm>
          <a:prstGeom prst="roundRect">
            <a:avLst>
              <a:gd name="adj" fmla="val 30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M2</a:t>
            </a:r>
            <a:endParaRPr lang="de-DE" sz="1100" b="0" u="none" strike="noStrike">
              <a:solidFill>
                <a:srgbClr val="FFFFFF"/>
              </a:solidFill>
              <a:effectLst/>
              <a:uFillTx/>
              <a:latin typeface="Arial"/>
            </a:endParaRPr>
          </a:p>
        </p:txBody>
      </p:sp>
      <p:sp>
        <p:nvSpPr>
          <p:cNvPr id="308" name="Name M3"/>
          <p:cNvSpPr/>
          <p:nvPr/>
        </p:nvSpPr>
        <p:spPr>
          <a:xfrm>
            <a:off x="777240" y="2825640"/>
            <a:ext cx="3427920" cy="3646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300" b="1" u="none" strike="noStrike">
                <a:solidFill>
                  <a:srgbClr val="1B1B2F"/>
                </a:solidFill>
                <a:effectLst/>
                <a:uFillTx/>
                <a:latin typeface="Calibri"/>
              </a:rPr>
              <a:t>M3  Einzeltests Motoren und Kamera</a:t>
            </a:r>
            <a:endParaRPr lang="de-DE" sz="1300" b="0" u="none" strike="noStrike">
              <a:solidFill>
                <a:srgbClr val="000000"/>
              </a:solidFill>
              <a:effectLst/>
              <a:uFillTx/>
              <a:latin typeface="Arial"/>
            </a:endParaRPr>
          </a:p>
        </p:txBody>
      </p:sp>
      <p:sp>
        <p:nvSpPr>
          <p:cNvPr id="309" name="Balken M3"/>
          <p:cNvSpPr/>
          <p:nvPr/>
        </p:nvSpPr>
        <p:spPr>
          <a:xfrm>
            <a:off x="5861520" y="2862000"/>
            <a:ext cx="1698480" cy="291600"/>
          </a:xfrm>
          <a:prstGeom prst="roundRect">
            <a:avLst>
              <a:gd name="adj" fmla="val 30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M3</a:t>
            </a:r>
            <a:endParaRPr lang="de-DE" sz="1100" b="0" u="none" strike="noStrike">
              <a:solidFill>
                <a:srgbClr val="FFFFFF"/>
              </a:solidFill>
              <a:effectLst/>
              <a:uFillTx/>
              <a:latin typeface="Arial"/>
            </a:endParaRPr>
          </a:p>
        </p:txBody>
      </p:sp>
      <p:sp>
        <p:nvSpPr>
          <p:cNvPr id="310" name="Name M4"/>
          <p:cNvSpPr/>
          <p:nvPr/>
        </p:nvSpPr>
        <p:spPr>
          <a:xfrm>
            <a:off x="777240" y="3300840"/>
            <a:ext cx="3427920" cy="3646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300" b="1" u="none" strike="noStrike">
                <a:solidFill>
                  <a:srgbClr val="1B1B2F"/>
                </a:solidFill>
                <a:effectLst/>
                <a:uFillTx/>
                <a:latin typeface="Calibri"/>
              </a:rPr>
              <a:t>M4  Integration Switch-/Controller-Steuerung</a:t>
            </a:r>
            <a:endParaRPr lang="de-DE" sz="1300" b="0" u="none" strike="noStrike">
              <a:solidFill>
                <a:srgbClr val="000000"/>
              </a:solidFill>
              <a:effectLst/>
              <a:uFillTx/>
              <a:latin typeface="Arial"/>
            </a:endParaRPr>
          </a:p>
        </p:txBody>
      </p:sp>
      <p:sp>
        <p:nvSpPr>
          <p:cNvPr id="311" name="Balken M4"/>
          <p:cNvSpPr/>
          <p:nvPr/>
        </p:nvSpPr>
        <p:spPr>
          <a:xfrm>
            <a:off x="7560000" y="3337560"/>
            <a:ext cx="1560240" cy="291600"/>
          </a:xfrm>
          <a:prstGeom prst="roundRect">
            <a:avLst>
              <a:gd name="adj" fmla="val 30000"/>
            </a:avLst>
          </a:prstGeom>
          <a:solidFill>
            <a:srgbClr val="FFC857"/>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1B1B2F"/>
                </a:solidFill>
                <a:effectLst/>
                <a:uFillTx/>
                <a:latin typeface="Calibri"/>
              </a:rPr>
              <a:t>M4</a:t>
            </a:r>
            <a:endParaRPr lang="de-DE" sz="1100" b="0" u="none" strike="noStrike">
              <a:solidFill>
                <a:srgbClr val="000000"/>
              </a:solidFill>
              <a:effectLst/>
              <a:uFillTx/>
              <a:latin typeface="Arial"/>
            </a:endParaRPr>
          </a:p>
        </p:txBody>
      </p:sp>
      <p:sp>
        <p:nvSpPr>
          <p:cNvPr id="312" name="Name M5"/>
          <p:cNvSpPr/>
          <p:nvPr/>
        </p:nvSpPr>
        <p:spPr>
          <a:xfrm>
            <a:off x="777240" y="3776400"/>
            <a:ext cx="3427920" cy="3646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300" b="1" u="none" strike="noStrike">
                <a:solidFill>
                  <a:srgbClr val="1B1B2F"/>
                </a:solidFill>
                <a:effectLst/>
                <a:uFillTx/>
                <a:latin typeface="Calibri"/>
              </a:rPr>
              <a:t>M5  Neuverkabelung und Schaltplan</a:t>
            </a:r>
            <a:endParaRPr lang="de-DE" sz="1300" b="0" u="none" strike="noStrike">
              <a:solidFill>
                <a:srgbClr val="000000"/>
              </a:solidFill>
              <a:effectLst/>
              <a:uFillTx/>
              <a:latin typeface="Arial"/>
            </a:endParaRPr>
          </a:p>
        </p:txBody>
      </p:sp>
      <p:sp>
        <p:nvSpPr>
          <p:cNvPr id="313" name="Balken M5"/>
          <p:cNvSpPr/>
          <p:nvPr/>
        </p:nvSpPr>
        <p:spPr>
          <a:xfrm>
            <a:off x="9200880" y="3813120"/>
            <a:ext cx="661680" cy="291600"/>
          </a:xfrm>
          <a:prstGeom prst="roundRect">
            <a:avLst>
              <a:gd name="adj" fmla="val 30000"/>
            </a:avLst>
          </a:prstGeom>
          <a:solidFill>
            <a:srgbClr val="7C7A99"/>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M5</a:t>
            </a:r>
            <a:endParaRPr lang="de-DE" sz="1100" b="0" u="none" strike="noStrike">
              <a:solidFill>
                <a:srgbClr val="FFFFFF"/>
              </a:solidFill>
              <a:effectLst/>
              <a:uFillTx/>
              <a:latin typeface="Arial"/>
            </a:endParaRPr>
          </a:p>
        </p:txBody>
      </p:sp>
      <p:sp>
        <p:nvSpPr>
          <p:cNvPr id="314" name="Name M6"/>
          <p:cNvSpPr/>
          <p:nvPr/>
        </p:nvSpPr>
        <p:spPr>
          <a:xfrm>
            <a:off x="777240" y="4251960"/>
            <a:ext cx="3427920" cy="3646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300" b="1" u="none" strike="noStrike">
                <a:solidFill>
                  <a:srgbClr val="1B1B2F"/>
                </a:solidFill>
                <a:effectLst/>
                <a:uFillTx/>
                <a:latin typeface="Calibri"/>
              </a:rPr>
              <a:t>M6  Gesamttest und Abnahme</a:t>
            </a:r>
            <a:endParaRPr lang="de-DE" sz="1300" b="0" u="none" strike="noStrike">
              <a:solidFill>
                <a:srgbClr val="000000"/>
              </a:solidFill>
              <a:effectLst/>
              <a:uFillTx/>
              <a:latin typeface="Arial"/>
            </a:endParaRPr>
          </a:p>
        </p:txBody>
      </p:sp>
      <p:sp>
        <p:nvSpPr>
          <p:cNvPr id="315" name="Balken M6"/>
          <p:cNvSpPr/>
          <p:nvPr/>
        </p:nvSpPr>
        <p:spPr>
          <a:xfrm>
            <a:off x="9943200" y="4288680"/>
            <a:ext cx="475920" cy="291600"/>
          </a:xfrm>
          <a:prstGeom prst="roundRect">
            <a:avLst>
              <a:gd name="adj" fmla="val 30000"/>
            </a:avLst>
          </a:prstGeom>
          <a:solidFill>
            <a:srgbClr val="7C7A99"/>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M6</a:t>
            </a:r>
            <a:endParaRPr lang="de-DE" sz="1100" b="0" u="none" strike="noStrike">
              <a:solidFill>
                <a:srgbClr val="FFFFFF"/>
              </a:solidFill>
              <a:effectLst/>
              <a:uFillTx/>
              <a:latin typeface="Arial"/>
            </a:endParaRPr>
          </a:p>
        </p:txBody>
      </p:sp>
      <p:sp>
        <p:nvSpPr>
          <p:cNvPr id="316" name="Name M7"/>
          <p:cNvSpPr/>
          <p:nvPr/>
        </p:nvSpPr>
        <p:spPr>
          <a:xfrm>
            <a:off x="777240" y="4727520"/>
            <a:ext cx="3427920" cy="3646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300" b="1" u="none" strike="noStrike">
                <a:solidFill>
                  <a:srgbClr val="1B1B2F"/>
                </a:solidFill>
                <a:effectLst/>
                <a:uFillTx/>
                <a:latin typeface="Calibri"/>
              </a:rPr>
              <a:t>M7  Dokumentation, Präsentation, Übergabe</a:t>
            </a:r>
            <a:endParaRPr lang="de-DE" sz="1300" b="0" u="none" strike="noStrike">
              <a:solidFill>
                <a:srgbClr val="000000"/>
              </a:solidFill>
              <a:effectLst/>
              <a:uFillTx/>
              <a:latin typeface="Arial"/>
            </a:endParaRPr>
          </a:p>
        </p:txBody>
      </p:sp>
      <p:sp>
        <p:nvSpPr>
          <p:cNvPr id="317" name="Balken M7"/>
          <p:cNvSpPr/>
          <p:nvPr/>
        </p:nvSpPr>
        <p:spPr>
          <a:xfrm>
            <a:off x="10897200" y="4763880"/>
            <a:ext cx="661680" cy="291600"/>
          </a:xfrm>
          <a:prstGeom prst="roundRect">
            <a:avLst>
              <a:gd name="adj" fmla="val 30000"/>
            </a:avLst>
          </a:prstGeom>
          <a:solidFill>
            <a:srgbClr val="7C7A99"/>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M7</a:t>
            </a:r>
            <a:endParaRPr lang="de-DE" sz="1100" b="0" u="none" strike="noStrike">
              <a:solidFill>
                <a:srgbClr val="FFFFFF"/>
              </a:solidFill>
              <a:effectLst/>
              <a:uFillTx/>
              <a:latin typeface="Arial"/>
            </a:endParaRPr>
          </a:p>
        </p:txBody>
      </p:sp>
      <p:cxnSp>
        <p:nvCxnSpPr>
          <p:cNvPr id="318" name="Heute-Linie"/>
          <p:cNvCxnSpPr/>
          <p:nvPr/>
        </p:nvCxnSpPr>
        <p:spPr>
          <a:xfrm>
            <a:off x="9094680" y="1737360"/>
            <a:ext cx="1080" cy="3521520"/>
          </a:xfrm>
          <a:prstGeom prst="straightConnector1">
            <a:avLst/>
          </a:prstGeom>
          <a:ln w="28575">
            <a:solidFill>
              <a:srgbClr val="FF5A5F"/>
            </a:solidFill>
            <a:round/>
          </a:ln>
        </p:spPr>
      </p:cxnSp>
      <p:sp>
        <p:nvSpPr>
          <p:cNvPr id="319" name="Heute"/>
          <p:cNvSpPr/>
          <p:nvPr/>
        </p:nvSpPr>
        <p:spPr>
          <a:xfrm>
            <a:off x="8454960" y="5303520"/>
            <a:ext cx="1279080" cy="273240"/>
          </a:xfrm>
          <a:prstGeom prst="roundRect">
            <a:avLst>
              <a:gd name="adj" fmla="val 40000"/>
            </a:avLst>
          </a:prstGeom>
          <a:solidFill>
            <a:srgbClr val="FF5A5F"/>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100" b="1" u="none" strike="noStrike">
                <a:solidFill>
                  <a:srgbClr val="FFFFFF"/>
                </a:solidFill>
                <a:effectLst/>
                <a:uFillTx/>
                <a:latin typeface="Calibri"/>
              </a:rPr>
              <a:t>heute 29.10.</a:t>
            </a:r>
            <a:endParaRPr lang="de-DE" sz="1100" b="0" u="none" strike="noStrike">
              <a:solidFill>
                <a:srgbClr val="FFFFFF"/>
              </a:solidFill>
              <a:effectLst/>
              <a:uFillTx/>
              <a:latin typeface="Arial"/>
            </a:endParaRPr>
          </a:p>
        </p:txBody>
      </p:sp>
      <p:sp>
        <p:nvSpPr>
          <p:cNvPr id="320" name="Legende erledigt / weitgehend"/>
          <p:cNvSpPr/>
          <p:nvPr/>
        </p:nvSpPr>
        <p:spPr>
          <a:xfrm>
            <a:off x="777240" y="5760720"/>
            <a:ext cx="200160" cy="200160"/>
          </a:xfrm>
          <a:prstGeom prst="roundRect">
            <a:avLst>
              <a:gd name="adj" fmla="val 30000"/>
            </a:avLst>
          </a:prstGeom>
          <a:solidFill>
            <a:srgbClr val="1FA89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321" name="TextBox 30"/>
          <p:cNvSpPr/>
          <p:nvPr/>
        </p:nvSpPr>
        <p:spPr>
          <a:xfrm>
            <a:off x="1069920" y="5742360"/>
            <a:ext cx="2010600" cy="2548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200" b="0" u="none" strike="noStrike">
                <a:solidFill>
                  <a:srgbClr val="2D2A4A"/>
                </a:solidFill>
                <a:effectLst/>
                <a:uFillTx/>
                <a:latin typeface="Calibri"/>
              </a:rPr>
              <a:t>erledigt / weitgehend</a:t>
            </a:r>
            <a:endParaRPr lang="de-DE" sz="1200" b="0" u="none" strike="noStrike">
              <a:solidFill>
                <a:srgbClr val="000000"/>
              </a:solidFill>
              <a:effectLst/>
              <a:uFillTx/>
              <a:latin typeface="Arial"/>
            </a:endParaRPr>
          </a:p>
        </p:txBody>
      </p:sp>
      <p:sp>
        <p:nvSpPr>
          <p:cNvPr id="322" name="Legende in Arbeit"/>
          <p:cNvSpPr/>
          <p:nvPr/>
        </p:nvSpPr>
        <p:spPr>
          <a:xfrm>
            <a:off x="3063240" y="5760720"/>
            <a:ext cx="200160" cy="200160"/>
          </a:xfrm>
          <a:prstGeom prst="roundRect">
            <a:avLst>
              <a:gd name="adj" fmla="val 30000"/>
            </a:avLst>
          </a:prstGeom>
          <a:solidFill>
            <a:srgbClr val="FFC857"/>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323" name="TextBox 32"/>
          <p:cNvSpPr/>
          <p:nvPr/>
        </p:nvSpPr>
        <p:spPr>
          <a:xfrm>
            <a:off x="3355920" y="5742360"/>
            <a:ext cx="2010600" cy="2548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200" b="0" u="none" strike="noStrike">
                <a:solidFill>
                  <a:srgbClr val="2D2A4A"/>
                </a:solidFill>
                <a:effectLst/>
                <a:uFillTx/>
                <a:latin typeface="Calibri"/>
              </a:rPr>
              <a:t>in Arbeit</a:t>
            </a:r>
            <a:endParaRPr lang="de-DE" sz="1200" b="0" u="none" strike="noStrike">
              <a:solidFill>
                <a:srgbClr val="000000"/>
              </a:solidFill>
              <a:effectLst/>
              <a:uFillTx/>
              <a:latin typeface="Arial"/>
            </a:endParaRPr>
          </a:p>
        </p:txBody>
      </p:sp>
      <p:sp>
        <p:nvSpPr>
          <p:cNvPr id="324" name="Legende offen"/>
          <p:cNvSpPr/>
          <p:nvPr/>
        </p:nvSpPr>
        <p:spPr>
          <a:xfrm>
            <a:off x="5349240" y="5760720"/>
            <a:ext cx="200160" cy="200160"/>
          </a:xfrm>
          <a:prstGeom prst="roundRect">
            <a:avLst>
              <a:gd name="adj" fmla="val 30000"/>
            </a:avLst>
          </a:prstGeom>
          <a:solidFill>
            <a:srgbClr val="7C7A9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325" name="TextBox 34"/>
          <p:cNvSpPr/>
          <p:nvPr/>
        </p:nvSpPr>
        <p:spPr>
          <a:xfrm>
            <a:off x="5641920" y="5742360"/>
            <a:ext cx="2010600" cy="2548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200" b="0" u="none" strike="noStrike">
                <a:solidFill>
                  <a:srgbClr val="2D2A4A"/>
                </a:solidFill>
                <a:effectLst/>
                <a:uFillTx/>
                <a:latin typeface="Calibri"/>
              </a:rPr>
              <a:t>offen</a:t>
            </a:r>
            <a:endParaRPr lang="de-DE" sz="1200" b="0" u="none" strike="noStrike">
              <a:solidFill>
                <a:srgbClr val="000000"/>
              </a:solidFill>
              <a:effectLst/>
              <a:uFillTx/>
              <a:latin typeface="Arial"/>
            </a:endParaRPr>
          </a:p>
        </p:txBody>
      </p:sp>
      <p:sp>
        <p:nvSpPr>
          <p:cNvPr id="326" name="TextBox 35"/>
          <p:cNvSpPr/>
          <p:nvPr/>
        </p:nvSpPr>
        <p:spPr>
          <a:xfrm>
            <a:off x="7863840" y="5742360"/>
            <a:ext cx="3565080" cy="273240"/>
          </a:xfrm>
          <a:prstGeom prst="rect">
            <a:avLst/>
          </a:prstGeom>
          <a:noFill/>
          <a:ln w="0">
            <a:noFill/>
          </a:ln>
        </p:spPr>
        <p:style>
          <a:lnRef idx="0"/>
          <a:fillRef idx="0"/>
          <a:effectRef idx="0"/>
          <a:fontRef idx="minor"/>
        </p:style>
        <p:txBody>
          <a:bodyPr lIns="0" tIns="0" rIns="0" bIns="0" anchor="t">
            <a:spAutoFit/>
          </a:bodyPr>
          <a:p>
            <a:pPr algn="r">
              <a:lnSpc>
                <a:spcPct val="100000"/>
              </a:lnSpc>
            </a:pPr>
            <a:r>
              <a:rPr lang="de-DE" sz="1200" b="0" u="none" strike="noStrike">
                <a:solidFill>
                  <a:srgbClr val="7C7A99"/>
                </a:solidFill>
                <a:effectLst/>
                <a:uFillTx/>
                <a:latin typeface="Calibri"/>
              </a:rPr>
              <a:t>Laufzeit 12.05.2026 – 30.01.2027</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Titel"/>
          <p:cNvSpPr/>
          <p:nvPr/>
        </p:nvSpPr>
        <p:spPr>
          <a:xfrm>
            <a:off x="548640" y="365760"/>
            <a:ext cx="11063160" cy="73044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3600" b="1" u="none" strike="noStrike">
                <a:solidFill>
                  <a:srgbClr val="1B1B2F"/>
                </a:solidFill>
                <a:effectLst/>
                <a:uFillTx/>
                <a:latin typeface="Cambria"/>
              </a:rPr>
              <a:t>Geplant und umgesetzt</a:t>
            </a:r>
            <a:endParaRPr lang="de-DE" sz="3600" b="0" u="none" strike="noStrike">
              <a:solidFill>
                <a:srgbClr val="000000"/>
              </a:solidFill>
              <a:effectLst/>
              <a:uFillTx/>
              <a:latin typeface="Arial"/>
            </a:endParaRPr>
          </a:p>
        </p:txBody>
      </p:sp>
      <p:sp>
        <p:nvSpPr>
          <p:cNvPr id="328" name="TextBox 2"/>
          <p:cNvSpPr/>
          <p:nvPr/>
        </p:nvSpPr>
        <p:spPr>
          <a:xfrm>
            <a:off x="548640" y="1234440"/>
            <a:ext cx="1370520" cy="273240"/>
          </a:xfrm>
          <a:prstGeom prst="rect">
            <a:avLst/>
          </a:prstGeom>
          <a:noFill/>
          <a:ln w="0">
            <a:noFill/>
          </a:ln>
        </p:spPr>
        <p:style>
          <a:lnRef idx="0"/>
          <a:fillRef idx="0"/>
          <a:effectRef idx="0"/>
          <a:fontRef idx="minor"/>
        </p:style>
        <p:txBody>
          <a:bodyPr lIns="0" tIns="0" rIns="0" bIns="0" anchor="t">
            <a:spAutoFit/>
          </a:bodyPr>
          <a:p>
            <a:endParaRPr lang="de-DE" sz="1800" b="0" u="none" strike="noStrike">
              <a:solidFill>
                <a:srgbClr val="000000"/>
              </a:solidFill>
              <a:effectLst/>
              <a:uFillTx/>
              <a:latin typeface="Arial"/>
            </a:endParaRPr>
          </a:p>
        </p:txBody>
      </p:sp>
      <p:sp>
        <p:nvSpPr>
          <p:cNvPr id="329" name="Kopf Geplant"/>
          <p:cNvSpPr/>
          <p:nvPr/>
        </p:nvSpPr>
        <p:spPr>
          <a:xfrm>
            <a:off x="1417320" y="1280160"/>
            <a:ext cx="3016440" cy="31896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600" b="1" u="none" strike="noStrike">
                <a:solidFill>
                  <a:srgbClr val="2D2A4A"/>
                </a:solidFill>
                <a:effectLst/>
                <a:uFillTx/>
                <a:latin typeface="Calibri"/>
              </a:rPr>
              <a:t>Geplant</a:t>
            </a:r>
            <a:endParaRPr lang="de-DE" sz="1600" b="0" u="none" strike="noStrike">
              <a:solidFill>
                <a:srgbClr val="000000"/>
              </a:solidFill>
              <a:effectLst/>
              <a:uFillTx/>
              <a:latin typeface="Arial"/>
            </a:endParaRPr>
          </a:p>
        </p:txBody>
      </p:sp>
      <p:sp>
        <p:nvSpPr>
          <p:cNvPr id="330" name="Kopf Umgesetzt"/>
          <p:cNvSpPr/>
          <p:nvPr/>
        </p:nvSpPr>
        <p:spPr>
          <a:xfrm>
            <a:off x="4800600" y="1280160"/>
            <a:ext cx="3565080" cy="31896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600" b="1" u="none" strike="noStrike">
                <a:solidFill>
                  <a:srgbClr val="2D2A4A"/>
                </a:solidFill>
                <a:effectLst/>
                <a:uFillTx/>
                <a:latin typeface="Calibri"/>
              </a:rPr>
              <a:t>Umgesetzt</a:t>
            </a:r>
            <a:endParaRPr lang="de-DE" sz="1600" b="0" u="none" strike="noStrike">
              <a:solidFill>
                <a:srgbClr val="000000"/>
              </a:solidFill>
              <a:effectLst/>
              <a:uFillTx/>
              <a:latin typeface="Arial"/>
            </a:endParaRPr>
          </a:p>
        </p:txBody>
      </p:sp>
      <p:sp>
        <p:nvSpPr>
          <p:cNvPr id="331" name="Kopf Status"/>
          <p:cNvSpPr/>
          <p:nvPr/>
        </p:nvSpPr>
        <p:spPr>
          <a:xfrm>
            <a:off x="9784080" y="1280160"/>
            <a:ext cx="1827720" cy="318960"/>
          </a:xfrm>
          <a:prstGeom prst="rect">
            <a:avLst/>
          </a:prstGeom>
          <a:noFill/>
          <a:ln w="0">
            <a:noFill/>
          </a:ln>
        </p:spPr>
        <p:style>
          <a:lnRef idx="0"/>
          <a:fillRef idx="0"/>
          <a:effectRef idx="0"/>
          <a:fontRef idx="minor"/>
        </p:style>
        <p:txBody>
          <a:bodyPr lIns="0" tIns="0" rIns="0" bIns="0" anchor="t">
            <a:spAutoFit/>
          </a:bodyPr>
          <a:p>
            <a:pPr algn="ctr">
              <a:lnSpc>
                <a:spcPct val="100000"/>
              </a:lnSpc>
            </a:pPr>
            <a:r>
              <a:rPr lang="de-DE" sz="1600" b="1" u="none" strike="noStrike">
                <a:solidFill>
                  <a:srgbClr val="2D2A4A"/>
                </a:solidFill>
                <a:effectLst/>
                <a:uFillTx/>
                <a:latin typeface="Calibri"/>
              </a:rPr>
              <a:t>Status</a:t>
            </a:r>
            <a:endParaRPr lang="de-DE" sz="1600" b="0" u="none" strike="noStrike">
              <a:solidFill>
                <a:srgbClr val="000000"/>
              </a:solidFill>
              <a:effectLst/>
              <a:uFillTx/>
              <a:latin typeface="Arial"/>
            </a:endParaRPr>
          </a:p>
        </p:txBody>
      </p:sp>
      <p:sp>
        <p:nvSpPr>
          <p:cNvPr id="332" name="Zeile M1"/>
          <p:cNvSpPr/>
          <p:nvPr/>
        </p:nvSpPr>
        <p:spPr>
          <a:xfrm>
            <a:off x="548640" y="1783080"/>
            <a:ext cx="11063160" cy="959040"/>
          </a:xfrm>
          <a:prstGeom prst="roundRect">
            <a:avLst>
              <a:gd name="adj" fmla="val 8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333" name="Badge M1"/>
          <p:cNvSpPr/>
          <p:nvPr/>
        </p:nvSpPr>
        <p:spPr>
          <a:xfrm>
            <a:off x="731520" y="1984320"/>
            <a:ext cx="547560" cy="547560"/>
          </a:xfrm>
          <a:prstGeom prst="ellipse">
            <a:avLst/>
          </a:prstGeom>
          <a:solidFill>
            <a:srgbClr val="1FA896"/>
          </a:solidFill>
          <a:ln>
            <a:noFill/>
          </a:ln>
        </p:spPr>
        <p:style>
          <a:lnRef idx="1">
            <a:schemeClr val="accent1"/>
          </a:lnRef>
          <a:fillRef idx="3">
            <a:schemeClr val="accent1"/>
          </a:fillRef>
          <a:effectRef idx="2">
            <a:schemeClr val="accent1"/>
          </a:effectRef>
          <a:fontRef idx="minor"/>
        </p:style>
        <p:txBody>
          <a:bodyPr lIns="0" tIns="0" rIns="0" bIns="0" anchor="ctr">
            <a:noAutofit/>
          </a:bodyPr>
          <a:p>
            <a:pPr algn="ctr">
              <a:lnSpc>
                <a:spcPct val="100000"/>
              </a:lnSpc>
            </a:pPr>
            <a:r>
              <a:rPr lang="de-DE" sz="1300" b="1" u="none" strike="noStrike">
                <a:solidFill>
                  <a:srgbClr val="FFFFFF"/>
                </a:solidFill>
                <a:effectLst/>
                <a:uFillTx/>
                <a:latin typeface="Calibri"/>
              </a:rPr>
              <a:t>M1</a:t>
            </a:r>
            <a:endParaRPr lang="de-DE" sz="1300" b="0" u="none" strike="noStrike">
              <a:solidFill>
                <a:srgbClr val="FFFFFF"/>
              </a:solidFill>
              <a:effectLst/>
              <a:uFillTx/>
              <a:latin typeface="Arial"/>
            </a:endParaRPr>
          </a:p>
        </p:txBody>
      </p:sp>
      <p:sp>
        <p:nvSpPr>
          <p:cNvPr id="334" name="Titel M1"/>
          <p:cNvSpPr/>
          <p:nvPr/>
        </p:nvSpPr>
        <p:spPr>
          <a:xfrm>
            <a:off x="1417320" y="1874520"/>
            <a:ext cx="319932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400" b="1" u="none" strike="noStrike">
                <a:solidFill>
                  <a:srgbClr val="1B1B2F"/>
                </a:solidFill>
                <a:effectLst/>
                <a:uFillTx/>
                <a:latin typeface="Calibri"/>
              </a:rPr>
              <a:t>Bestandsanalyse</a:t>
            </a:r>
            <a:endParaRPr lang="de-DE" sz="1400" b="0" u="none" strike="noStrike">
              <a:solidFill>
                <a:srgbClr val="000000"/>
              </a:solidFill>
              <a:effectLst/>
              <a:uFillTx/>
              <a:latin typeface="Arial"/>
            </a:endParaRPr>
          </a:p>
        </p:txBody>
      </p:sp>
      <p:sp>
        <p:nvSpPr>
          <p:cNvPr id="335" name="Plan M1"/>
          <p:cNvSpPr/>
          <p:nvPr/>
        </p:nvSpPr>
        <p:spPr>
          <a:xfrm>
            <a:off x="1417320" y="2148840"/>
            <a:ext cx="3107880" cy="54756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200" b="0" u="none" strike="noStrike">
                <a:solidFill>
                  <a:srgbClr val="2D2A4A"/>
                </a:solidFill>
                <a:effectLst/>
                <a:uFillTx/>
                <a:latin typeface="Calibri"/>
              </a:rPr>
              <a:t>Arduino-Mega-Aufbau erfassen, Verdrahtung dokumentieren</a:t>
            </a:r>
            <a:endParaRPr lang="de-DE" sz="1200" b="0" u="none" strike="noStrike">
              <a:solidFill>
                <a:srgbClr val="000000"/>
              </a:solidFill>
              <a:effectLst/>
              <a:uFillTx/>
              <a:latin typeface="Arial"/>
            </a:endParaRPr>
          </a:p>
        </p:txBody>
      </p:sp>
      <p:sp>
        <p:nvSpPr>
          <p:cNvPr id="336" name="Ist M1"/>
          <p:cNvSpPr/>
          <p:nvPr/>
        </p:nvSpPr>
        <p:spPr>
          <a:xfrm>
            <a:off x="4800600" y="1874520"/>
            <a:ext cx="4753800" cy="8218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300" b="0" u="none" strike="noStrike">
                <a:solidFill>
                  <a:srgbClr val="1B1B2F"/>
                </a:solidFill>
                <a:effectLst/>
                <a:uFillTx/>
                <a:latin typeface="Calibri"/>
              </a:rPr>
              <a:t>Bestand gesichtet; Ausgangspunkt für die neue Architektur</a:t>
            </a:r>
            <a:endParaRPr lang="de-DE" sz="1300" b="0" u="none" strike="noStrike">
              <a:solidFill>
                <a:srgbClr val="000000"/>
              </a:solidFill>
              <a:effectLst/>
              <a:uFillTx/>
              <a:latin typeface="Arial"/>
            </a:endParaRPr>
          </a:p>
        </p:txBody>
      </p:sp>
      <p:sp>
        <p:nvSpPr>
          <p:cNvPr id="337" name="Status M1"/>
          <p:cNvSpPr/>
          <p:nvPr/>
        </p:nvSpPr>
        <p:spPr>
          <a:xfrm>
            <a:off x="9829800" y="2084760"/>
            <a:ext cx="1553400" cy="364680"/>
          </a:xfrm>
          <a:prstGeom prst="roundRect">
            <a:avLst>
              <a:gd name="adj" fmla="val 50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200" b="1" u="none" strike="noStrike">
                <a:solidFill>
                  <a:srgbClr val="FFFFFF"/>
                </a:solidFill>
                <a:effectLst/>
                <a:uFillTx/>
                <a:latin typeface="Calibri"/>
              </a:rPr>
              <a:t>erledigt</a:t>
            </a:r>
            <a:endParaRPr lang="de-DE" sz="1200" b="0" u="none" strike="noStrike">
              <a:solidFill>
                <a:srgbClr val="FFFFFF"/>
              </a:solidFill>
              <a:effectLst/>
              <a:uFillTx/>
              <a:latin typeface="Arial"/>
            </a:endParaRPr>
          </a:p>
        </p:txBody>
      </p:sp>
      <p:sp>
        <p:nvSpPr>
          <p:cNvPr id="338" name="Zeile M2"/>
          <p:cNvSpPr/>
          <p:nvPr/>
        </p:nvSpPr>
        <p:spPr>
          <a:xfrm>
            <a:off x="548640" y="2880360"/>
            <a:ext cx="11063160" cy="959040"/>
          </a:xfrm>
          <a:prstGeom prst="roundRect">
            <a:avLst>
              <a:gd name="adj" fmla="val 8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339" name="Badge M2"/>
          <p:cNvSpPr/>
          <p:nvPr/>
        </p:nvSpPr>
        <p:spPr>
          <a:xfrm>
            <a:off x="731520" y="3081600"/>
            <a:ext cx="547560" cy="547560"/>
          </a:xfrm>
          <a:prstGeom prst="ellipse">
            <a:avLst/>
          </a:prstGeom>
          <a:solidFill>
            <a:srgbClr val="1FA896"/>
          </a:solidFill>
          <a:ln>
            <a:noFill/>
          </a:ln>
        </p:spPr>
        <p:style>
          <a:lnRef idx="1">
            <a:schemeClr val="accent1"/>
          </a:lnRef>
          <a:fillRef idx="3">
            <a:schemeClr val="accent1"/>
          </a:fillRef>
          <a:effectRef idx="2">
            <a:schemeClr val="accent1"/>
          </a:effectRef>
          <a:fontRef idx="minor"/>
        </p:style>
        <p:txBody>
          <a:bodyPr lIns="0" tIns="0" rIns="0" bIns="0" anchor="ctr">
            <a:noAutofit/>
          </a:bodyPr>
          <a:p>
            <a:pPr algn="ctr">
              <a:lnSpc>
                <a:spcPct val="100000"/>
              </a:lnSpc>
            </a:pPr>
            <a:r>
              <a:rPr lang="de-DE" sz="1300" b="1" u="none" strike="noStrike">
                <a:solidFill>
                  <a:srgbClr val="FFFFFF"/>
                </a:solidFill>
                <a:effectLst/>
                <a:uFillTx/>
                <a:latin typeface="Calibri"/>
              </a:rPr>
              <a:t>M2</a:t>
            </a:r>
            <a:endParaRPr lang="de-DE" sz="1300" b="0" u="none" strike="noStrike">
              <a:solidFill>
                <a:srgbClr val="FFFFFF"/>
              </a:solidFill>
              <a:effectLst/>
              <a:uFillTx/>
              <a:latin typeface="Arial"/>
            </a:endParaRPr>
          </a:p>
        </p:txBody>
      </p:sp>
      <p:sp>
        <p:nvSpPr>
          <p:cNvPr id="340" name="Titel M2"/>
          <p:cNvSpPr/>
          <p:nvPr/>
        </p:nvSpPr>
        <p:spPr>
          <a:xfrm>
            <a:off x="1417320" y="2971800"/>
            <a:ext cx="319932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400" b="1" u="none" strike="noStrike">
                <a:solidFill>
                  <a:srgbClr val="1B1B2F"/>
                </a:solidFill>
                <a:effectLst/>
                <a:uFillTx/>
                <a:latin typeface="Calibri"/>
              </a:rPr>
              <a:t>Controller-Entscheidung</a:t>
            </a:r>
            <a:endParaRPr lang="de-DE" sz="1400" b="0" u="none" strike="noStrike">
              <a:solidFill>
                <a:srgbClr val="000000"/>
              </a:solidFill>
              <a:effectLst/>
              <a:uFillTx/>
              <a:latin typeface="Arial"/>
            </a:endParaRPr>
          </a:p>
        </p:txBody>
      </p:sp>
      <p:sp>
        <p:nvSpPr>
          <p:cNvPr id="341" name="Plan M2"/>
          <p:cNvSpPr/>
          <p:nvPr/>
        </p:nvSpPr>
        <p:spPr>
          <a:xfrm>
            <a:off x="1417320" y="3246120"/>
            <a:ext cx="3107880" cy="54756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200" b="0" u="none" strike="noStrike">
                <a:solidFill>
                  <a:srgbClr val="2D2A4A"/>
                </a:solidFill>
                <a:effectLst/>
                <a:uFillTx/>
                <a:latin typeface="Calibri"/>
              </a:rPr>
              <a:t>Controller und Switch-Anbindung wählen, Tastenbelegung festlegen</a:t>
            </a:r>
            <a:endParaRPr lang="de-DE" sz="1200" b="0" u="none" strike="noStrike">
              <a:solidFill>
                <a:srgbClr val="000000"/>
              </a:solidFill>
              <a:effectLst/>
              <a:uFillTx/>
              <a:latin typeface="Arial"/>
            </a:endParaRPr>
          </a:p>
        </p:txBody>
      </p:sp>
      <p:sp>
        <p:nvSpPr>
          <p:cNvPr id="342" name="Ist M2"/>
          <p:cNvSpPr/>
          <p:nvPr/>
        </p:nvSpPr>
        <p:spPr>
          <a:xfrm>
            <a:off x="4800600" y="2971800"/>
            <a:ext cx="4753800" cy="8218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300" b="0" u="none" strike="noStrike">
                <a:solidFill>
                  <a:srgbClr val="1B1B2F"/>
                </a:solidFill>
                <a:effectLst/>
                <a:uFillTx/>
                <a:latin typeface="Calibri"/>
              </a:rPr>
              <a:t>ESP32 mit Bluetooth LE für Switch-2-Joy-Con; Server auf dem Raspberry Pi; MQTT als Rückgrat</a:t>
            </a:r>
            <a:endParaRPr lang="de-DE" sz="1300" b="0" u="none" strike="noStrike">
              <a:solidFill>
                <a:srgbClr val="000000"/>
              </a:solidFill>
              <a:effectLst/>
              <a:uFillTx/>
              <a:latin typeface="Arial"/>
            </a:endParaRPr>
          </a:p>
        </p:txBody>
      </p:sp>
      <p:sp>
        <p:nvSpPr>
          <p:cNvPr id="343" name="Status M2"/>
          <p:cNvSpPr/>
          <p:nvPr/>
        </p:nvSpPr>
        <p:spPr>
          <a:xfrm>
            <a:off x="9829800" y="3182040"/>
            <a:ext cx="1553400" cy="364680"/>
          </a:xfrm>
          <a:prstGeom prst="roundRect">
            <a:avLst>
              <a:gd name="adj" fmla="val 50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200" b="1" u="none" strike="noStrike">
                <a:solidFill>
                  <a:srgbClr val="FFFFFF"/>
                </a:solidFill>
                <a:effectLst/>
                <a:uFillTx/>
                <a:latin typeface="Calibri"/>
              </a:rPr>
              <a:t>erledigt</a:t>
            </a:r>
            <a:endParaRPr lang="de-DE" sz="1200" b="0" u="none" strike="noStrike">
              <a:solidFill>
                <a:srgbClr val="FFFFFF"/>
              </a:solidFill>
              <a:effectLst/>
              <a:uFillTx/>
              <a:latin typeface="Arial"/>
            </a:endParaRPr>
          </a:p>
        </p:txBody>
      </p:sp>
      <p:sp>
        <p:nvSpPr>
          <p:cNvPr id="344" name="Zeile M3"/>
          <p:cNvSpPr/>
          <p:nvPr/>
        </p:nvSpPr>
        <p:spPr>
          <a:xfrm>
            <a:off x="548640" y="3977640"/>
            <a:ext cx="11063160" cy="959040"/>
          </a:xfrm>
          <a:prstGeom prst="roundRect">
            <a:avLst>
              <a:gd name="adj" fmla="val 8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345" name="Badge M3"/>
          <p:cNvSpPr/>
          <p:nvPr/>
        </p:nvSpPr>
        <p:spPr>
          <a:xfrm>
            <a:off x="731520" y="4178880"/>
            <a:ext cx="547560" cy="547560"/>
          </a:xfrm>
          <a:prstGeom prst="ellipse">
            <a:avLst/>
          </a:prstGeom>
          <a:solidFill>
            <a:srgbClr val="1FA896"/>
          </a:solidFill>
          <a:ln>
            <a:noFill/>
          </a:ln>
        </p:spPr>
        <p:style>
          <a:lnRef idx="1">
            <a:schemeClr val="accent1"/>
          </a:lnRef>
          <a:fillRef idx="3">
            <a:schemeClr val="accent1"/>
          </a:fillRef>
          <a:effectRef idx="2">
            <a:schemeClr val="accent1"/>
          </a:effectRef>
          <a:fontRef idx="minor"/>
        </p:style>
        <p:txBody>
          <a:bodyPr lIns="0" tIns="0" rIns="0" bIns="0" anchor="ctr">
            <a:noAutofit/>
          </a:bodyPr>
          <a:p>
            <a:pPr algn="ctr">
              <a:lnSpc>
                <a:spcPct val="100000"/>
              </a:lnSpc>
            </a:pPr>
            <a:r>
              <a:rPr lang="de-DE" sz="1300" b="1" u="none" strike="noStrike">
                <a:solidFill>
                  <a:srgbClr val="FFFFFF"/>
                </a:solidFill>
                <a:effectLst/>
                <a:uFillTx/>
                <a:latin typeface="Calibri"/>
              </a:rPr>
              <a:t>M3</a:t>
            </a:r>
            <a:endParaRPr lang="de-DE" sz="1300" b="0" u="none" strike="noStrike">
              <a:solidFill>
                <a:srgbClr val="FFFFFF"/>
              </a:solidFill>
              <a:effectLst/>
              <a:uFillTx/>
              <a:latin typeface="Arial"/>
            </a:endParaRPr>
          </a:p>
        </p:txBody>
      </p:sp>
      <p:sp>
        <p:nvSpPr>
          <p:cNvPr id="346" name="Titel M3"/>
          <p:cNvSpPr/>
          <p:nvPr/>
        </p:nvSpPr>
        <p:spPr>
          <a:xfrm>
            <a:off x="1417320" y="4069080"/>
            <a:ext cx="319932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400" b="1" u="none" strike="noStrike">
                <a:solidFill>
                  <a:srgbClr val="1B1B2F"/>
                </a:solidFill>
                <a:effectLst/>
                <a:uFillTx/>
                <a:latin typeface="Calibri"/>
              </a:rPr>
              <a:t>Einzeltests</a:t>
            </a:r>
            <a:endParaRPr lang="de-DE" sz="1400" b="0" u="none" strike="noStrike">
              <a:solidFill>
                <a:srgbClr val="000000"/>
              </a:solidFill>
              <a:effectLst/>
              <a:uFillTx/>
              <a:latin typeface="Arial"/>
            </a:endParaRPr>
          </a:p>
        </p:txBody>
      </p:sp>
      <p:sp>
        <p:nvSpPr>
          <p:cNvPr id="347" name="Plan M3"/>
          <p:cNvSpPr/>
          <p:nvPr/>
        </p:nvSpPr>
        <p:spPr>
          <a:xfrm>
            <a:off x="1417320" y="4343400"/>
            <a:ext cx="3107880" cy="54756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200" b="0" u="none" strike="noStrike">
                <a:solidFill>
                  <a:srgbClr val="2D2A4A"/>
                </a:solidFill>
                <a:effectLst/>
                <a:uFillTx/>
                <a:latin typeface="Calibri"/>
              </a:rPr>
              <a:t>Achsen, Endschalter und Kamera einzeln prüfen</a:t>
            </a:r>
            <a:endParaRPr lang="de-DE" sz="1200" b="0" u="none" strike="noStrike">
              <a:solidFill>
                <a:srgbClr val="000000"/>
              </a:solidFill>
              <a:effectLst/>
              <a:uFillTx/>
              <a:latin typeface="Arial"/>
            </a:endParaRPr>
          </a:p>
        </p:txBody>
      </p:sp>
      <p:sp>
        <p:nvSpPr>
          <p:cNvPr id="348" name="Ist M3"/>
          <p:cNvSpPr/>
          <p:nvPr/>
        </p:nvSpPr>
        <p:spPr>
          <a:xfrm>
            <a:off x="4800600" y="4069080"/>
            <a:ext cx="4753800" cy="8218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300" b="0" u="none" strike="noStrike">
                <a:solidFill>
                  <a:srgbClr val="1B1B2F"/>
                </a:solidFill>
                <a:effectLst/>
                <a:uFillTx/>
                <a:latin typeface="Calibri"/>
              </a:rPr>
              <a:t>Achsen, Endstops und Servo getestet; Kamerastream im Server vorhanden, mechanische Integration noch offen</a:t>
            </a:r>
            <a:endParaRPr lang="de-DE" sz="1300" b="0" u="none" strike="noStrike">
              <a:solidFill>
                <a:srgbClr val="000000"/>
              </a:solidFill>
              <a:effectLst/>
              <a:uFillTx/>
              <a:latin typeface="Arial"/>
            </a:endParaRPr>
          </a:p>
        </p:txBody>
      </p:sp>
      <p:sp>
        <p:nvSpPr>
          <p:cNvPr id="349" name="Status M3"/>
          <p:cNvSpPr/>
          <p:nvPr/>
        </p:nvSpPr>
        <p:spPr>
          <a:xfrm>
            <a:off x="9829800" y="4279320"/>
            <a:ext cx="1553400" cy="364680"/>
          </a:xfrm>
          <a:prstGeom prst="roundRect">
            <a:avLst>
              <a:gd name="adj" fmla="val 50000"/>
            </a:avLst>
          </a:prstGeom>
          <a:solidFill>
            <a:srgbClr val="1FA896"/>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200" b="1" u="none" strike="noStrike">
                <a:solidFill>
                  <a:srgbClr val="FFFFFF"/>
                </a:solidFill>
                <a:effectLst/>
                <a:uFillTx/>
                <a:latin typeface="Calibri"/>
              </a:rPr>
              <a:t>weitgehend</a:t>
            </a:r>
            <a:endParaRPr lang="de-DE" sz="1200" b="0" u="none" strike="noStrike">
              <a:solidFill>
                <a:srgbClr val="FFFFFF"/>
              </a:solidFill>
              <a:effectLst/>
              <a:uFillTx/>
              <a:latin typeface="Arial"/>
            </a:endParaRPr>
          </a:p>
        </p:txBody>
      </p:sp>
      <p:sp>
        <p:nvSpPr>
          <p:cNvPr id="350" name="Zeile M4"/>
          <p:cNvSpPr/>
          <p:nvPr/>
        </p:nvSpPr>
        <p:spPr>
          <a:xfrm>
            <a:off x="548640" y="5074920"/>
            <a:ext cx="11063160" cy="959040"/>
          </a:xfrm>
          <a:prstGeom prst="roundRect">
            <a:avLst>
              <a:gd name="adj" fmla="val 8000"/>
            </a:avLst>
          </a:prstGeom>
          <a:solidFill>
            <a:srgbClr val="F3F0FA"/>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de-DE" sz="1800" b="0" u="none" strike="noStrike">
              <a:solidFill>
                <a:schemeClr val="lt1"/>
              </a:solidFill>
              <a:effectLst/>
              <a:uFillTx/>
              <a:latin typeface="Calibri"/>
            </a:endParaRPr>
          </a:p>
        </p:txBody>
      </p:sp>
      <p:sp>
        <p:nvSpPr>
          <p:cNvPr id="351" name="Badge M4"/>
          <p:cNvSpPr/>
          <p:nvPr/>
        </p:nvSpPr>
        <p:spPr>
          <a:xfrm>
            <a:off x="731520" y="5276160"/>
            <a:ext cx="547560" cy="547560"/>
          </a:xfrm>
          <a:prstGeom prst="ellipse">
            <a:avLst/>
          </a:prstGeom>
          <a:solidFill>
            <a:srgbClr val="FFC857"/>
          </a:solidFill>
          <a:ln>
            <a:noFill/>
          </a:ln>
        </p:spPr>
        <p:style>
          <a:lnRef idx="1">
            <a:schemeClr val="accent1"/>
          </a:lnRef>
          <a:fillRef idx="3">
            <a:schemeClr val="accent1"/>
          </a:fillRef>
          <a:effectRef idx="2">
            <a:schemeClr val="accent1"/>
          </a:effectRef>
          <a:fontRef idx="minor"/>
        </p:style>
        <p:txBody>
          <a:bodyPr lIns="0" tIns="0" rIns="0" bIns="0" anchor="ctr">
            <a:noAutofit/>
          </a:bodyPr>
          <a:p>
            <a:pPr algn="ctr">
              <a:lnSpc>
                <a:spcPct val="100000"/>
              </a:lnSpc>
            </a:pPr>
            <a:r>
              <a:rPr lang="de-DE" sz="1300" b="1" u="none" strike="noStrike">
                <a:solidFill>
                  <a:srgbClr val="1B1B2F"/>
                </a:solidFill>
                <a:effectLst/>
                <a:uFillTx/>
                <a:latin typeface="Calibri"/>
              </a:rPr>
              <a:t>M4</a:t>
            </a:r>
            <a:endParaRPr lang="de-DE" sz="1300" b="0" u="none" strike="noStrike">
              <a:solidFill>
                <a:srgbClr val="000000"/>
              </a:solidFill>
              <a:effectLst/>
              <a:uFillTx/>
              <a:latin typeface="Arial"/>
            </a:endParaRPr>
          </a:p>
        </p:txBody>
      </p:sp>
      <p:sp>
        <p:nvSpPr>
          <p:cNvPr id="352" name="Titel M4"/>
          <p:cNvSpPr/>
          <p:nvPr/>
        </p:nvSpPr>
        <p:spPr>
          <a:xfrm>
            <a:off x="1417320" y="5166360"/>
            <a:ext cx="319932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400" b="1" u="none" strike="noStrike">
                <a:solidFill>
                  <a:srgbClr val="1B1B2F"/>
                </a:solidFill>
                <a:effectLst/>
                <a:uFillTx/>
                <a:latin typeface="Calibri"/>
              </a:rPr>
              <a:t>Integration Switch</a:t>
            </a:r>
            <a:endParaRPr lang="de-DE" sz="1400" b="0" u="none" strike="noStrike">
              <a:solidFill>
                <a:srgbClr val="000000"/>
              </a:solidFill>
              <a:effectLst/>
              <a:uFillTx/>
              <a:latin typeface="Arial"/>
            </a:endParaRPr>
          </a:p>
        </p:txBody>
      </p:sp>
      <p:sp>
        <p:nvSpPr>
          <p:cNvPr id="353" name="Plan M4"/>
          <p:cNvSpPr/>
          <p:nvPr/>
        </p:nvSpPr>
        <p:spPr>
          <a:xfrm>
            <a:off x="1417320" y="5440680"/>
            <a:ext cx="3107880" cy="54756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200" b="0" u="none" strike="noStrike">
                <a:solidFill>
                  <a:srgbClr val="2D2A4A"/>
                </a:solidFill>
                <a:effectLst/>
                <a:uFillTx/>
                <a:latin typeface="Calibri"/>
              </a:rPr>
              <a:t>Alle Achsen per Switch, Betriebsarten, Sicherheitslogik, Latenz &lt; 500 ms</a:t>
            </a:r>
            <a:endParaRPr lang="de-DE" sz="1200" b="0" u="none" strike="noStrike">
              <a:solidFill>
                <a:srgbClr val="000000"/>
              </a:solidFill>
              <a:effectLst/>
              <a:uFillTx/>
              <a:latin typeface="Arial"/>
            </a:endParaRPr>
          </a:p>
        </p:txBody>
      </p:sp>
      <p:sp>
        <p:nvSpPr>
          <p:cNvPr id="354" name="Ist M4"/>
          <p:cNvSpPr/>
          <p:nvPr/>
        </p:nvSpPr>
        <p:spPr>
          <a:xfrm>
            <a:off x="4800600" y="5166360"/>
            <a:ext cx="4753800" cy="821880"/>
          </a:xfrm>
          <a:prstGeom prst="rect">
            <a:avLst/>
          </a:prstGeom>
          <a:noFill/>
          <a:ln w="0">
            <a:noFill/>
          </a:ln>
        </p:spPr>
        <p:style>
          <a:lnRef idx="0"/>
          <a:fillRef idx="0"/>
          <a:effectRef idx="0"/>
          <a:fontRef idx="minor"/>
        </p:style>
        <p:txBody>
          <a:bodyPr lIns="0" tIns="0" rIns="0" bIns="0" anchor="ctr">
            <a:spAutoFit/>
          </a:bodyPr>
          <a:p>
            <a:pPr>
              <a:lnSpc>
                <a:spcPct val="100000"/>
              </a:lnSpc>
            </a:pPr>
            <a:r>
              <a:rPr lang="de-DE" sz="1300" b="0" u="none" strike="noStrike">
                <a:solidFill>
                  <a:srgbClr val="1B1B2F"/>
                </a:solidFill>
                <a:effectLst/>
                <a:uFillTx/>
                <a:latin typeface="Calibri"/>
              </a:rPr>
              <a:t>Joy-Con, Panel und Web steuern alle Achsen, Eingabequelle umschaltbar, Stopp bei Verbindungsverlust; Latenzmessung steht aus</a:t>
            </a:r>
            <a:endParaRPr lang="de-DE" sz="1300" b="0" u="none" strike="noStrike">
              <a:solidFill>
                <a:srgbClr val="000000"/>
              </a:solidFill>
              <a:effectLst/>
              <a:uFillTx/>
              <a:latin typeface="Arial"/>
            </a:endParaRPr>
          </a:p>
        </p:txBody>
      </p:sp>
      <p:sp>
        <p:nvSpPr>
          <p:cNvPr id="355" name="Status M4"/>
          <p:cNvSpPr/>
          <p:nvPr/>
        </p:nvSpPr>
        <p:spPr>
          <a:xfrm>
            <a:off x="9829800" y="5376600"/>
            <a:ext cx="1553400" cy="364680"/>
          </a:xfrm>
          <a:prstGeom prst="roundRect">
            <a:avLst>
              <a:gd name="adj" fmla="val 50000"/>
            </a:avLst>
          </a:prstGeom>
          <a:solidFill>
            <a:srgbClr val="FFC857"/>
          </a:solidFill>
          <a:ln>
            <a:noFill/>
          </a:ln>
        </p:spPr>
        <p:style>
          <a:lnRef idx="1">
            <a:schemeClr val="accent1"/>
          </a:lnRef>
          <a:fillRef idx="3">
            <a:schemeClr val="accent1"/>
          </a:fillRef>
          <a:effectRef idx="2">
            <a:schemeClr val="accent1"/>
          </a:effectRef>
          <a:fontRef idx="minor"/>
        </p:style>
        <p:txBody>
          <a:bodyPr lIns="73080" tIns="0" rIns="73080" bIns="0" anchor="ctr">
            <a:noAutofit/>
          </a:bodyPr>
          <a:p>
            <a:pPr algn="ctr">
              <a:lnSpc>
                <a:spcPct val="100000"/>
              </a:lnSpc>
            </a:pPr>
            <a:r>
              <a:rPr lang="de-DE" sz="1200" b="1" u="none" strike="noStrike">
                <a:solidFill>
                  <a:srgbClr val="1B1B2F"/>
                </a:solidFill>
                <a:effectLst/>
                <a:uFillTx/>
                <a:latin typeface="Calibri"/>
              </a:rPr>
              <a:t>läuft</a:t>
            </a:r>
            <a:endParaRPr lang="de-DE" sz="1200" b="0" u="none" strike="noStrike">
              <a:solidFill>
                <a:srgbClr val="000000"/>
              </a:solidFill>
              <a:effectLst/>
              <a:uFillTx/>
              <a:latin typeface="Arial"/>
            </a:endParaRPr>
          </a:p>
        </p:txBody>
      </p:sp>
      <p:sp>
        <p:nvSpPr>
          <p:cNvPr id="356" name="Hinweis"/>
          <p:cNvSpPr/>
          <p:nvPr/>
        </p:nvSpPr>
        <p:spPr>
          <a:xfrm>
            <a:off x="548640" y="6263640"/>
            <a:ext cx="11063160" cy="273240"/>
          </a:xfrm>
          <a:prstGeom prst="rect">
            <a:avLst/>
          </a:prstGeom>
          <a:noFill/>
          <a:ln w="0">
            <a:noFill/>
          </a:ln>
        </p:spPr>
        <p:style>
          <a:lnRef idx="0"/>
          <a:fillRef idx="0"/>
          <a:effectRef idx="0"/>
          <a:fontRef idx="minor"/>
        </p:style>
        <p:txBody>
          <a:bodyPr lIns="0" tIns="0" rIns="0" bIns="0" anchor="t">
            <a:spAutoFit/>
          </a:bodyPr>
          <a:p>
            <a:pPr>
              <a:lnSpc>
                <a:spcPct val="100000"/>
              </a:lnSpc>
            </a:pPr>
            <a:r>
              <a:rPr lang="de-DE" sz="1200" b="0" u="none" strike="noStrike">
                <a:solidFill>
                  <a:srgbClr val="7C7A99"/>
                </a:solidFill>
                <a:effectLst/>
                <a:uFillTx/>
                <a:latin typeface="Calibri"/>
              </a:rPr>
              <a:t>Abweichung vom Plan: M3 und M4 liefen schon im Sommer an; die Sommerpause war keine Pause.</a:t>
            </a:r>
            <a:endParaRPr lang="de-DE"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Titel"/>
          <p:cNvSpPr/>
          <p:nvPr/>
        </p:nvSpPr>
        <p:spPr>
          <a:xfrm>
            <a:off x="548640" y="365760"/>
            <a:ext cx="11061720" cy="7290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3600" b="1" u="none" strike="noStrike">
                <a:solidFill>
                  <a:schemeClr val="dk1"/>
                </a:solidFill>
                <a:effectLst/>
                <a:uFillTx/>
                <a:latin typeface="Cambria"/>
                <a:ea typeface="Cambria"/>
              </a:rPr>
              <a:t>Stand und Weg bis zur Abgabe</a:t>
            </a:r>
            <a:endParaRPr lang="de-DE" sz="3600" b="0" u="none" strike="noStrike">
              <a:solidFill>
                <a:srgbClr val="000000"/>
              </a:solidFill>
              <a:effectLst/>
              <a:uFillTx/>
              <a:latin typeface="Arial"/>
            </a:endParaRPr>
          </a:p>
        </p:txBody>
      </p:sp>
      <p:sp>
        <p:nvSpPr>
          <p:cNvPr id="358" name="Spalte Läuft"/>
          <p:cNvSpPr/>
          <p:nvPr/>
        </p:nvSpPr>
        <p:spPr>
          <a:xfrm>
            <a:off x="548640" y="1463040"/>
            <a:ext cx="5438160" cy="4478040"/>
          </a:xfrm>
          <a:prstGeom prst="roundRect">
            <a:avLst>
              <a:gd name="adj" fmla="val 2449"/>
            </a:avLst>
          </a:prstGeom>
          <a:solidFill>
            <a:schemeClr val="bg2"/>
          </a:solidFill>
          <a:ln w="12700">
            <a:solidFill>
              <a:srgbClr val="F3F0FA"/>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59" name="Symbol Läuft"/>
          <p:cNvSpPr/>
          <p:nvPr/>
        </p:nvSpPr>
        <p:spPr>
          <a:xfrm>
            <a:off x="822960" y="1737360"/>
            <a:ext cx="637560" cy="637560"/>
          </a:xfrm>
          <a:prstGeom prst="ellipse">
            <a:avLst/>
          </a:prstGeom>
          <a:solidFill>
            <a:schemeClr val="accent3"/>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a:t>
            </a:r>
            <a:endParaRPr lang="de-DE" sz="1800" b="0" u="none" strike="noStrike">
              <a:solidFill>
                <a:srgbClr val="FFFFFF"/>
              </a:solidFill>
              <a:effectLst/>
              <a:uFillTx/>
              <a:latin typeface="Arial"/>
            </a:endParaRPr>
          </a:p>
        </p:txBody>
      </p:sp>
      <p:sp>
        <p:nvSpPr>
          <p:cNvPr id="360" name="Spalte Titel Läuft"/>
          <p:cNvSpPr/>
          <p:nvPr/>
        </p:nvSpPr>
        <p:spPr>
          <a:xfrm>
            <a:off x="1645920" y="1737360"/>
            <a:ext cx="4112280" cy="637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chemeClr val="dk1"/>
                </a:solidFill>
                <a:effectLst/>
                <a:uFillTx/>
                <a:latin typeface="Calibri"/>
              </a:rPr>
              <a:t>Läuft</a:t>
            </a:r>
            <a:endParaRPr lang="de-DE" sz="2400" b="0" u="none" strike="noStrike">
              <a:solidFill>
                <a:srgbClr val="000000"/>
              </a:solidFill>
              <a:effectLst/>
              <a:uFillTx/>
              <a:latin typeface="Arial"/>
            </a:endParaRPr>
          </a:p>
        </p:txBody>
      </p:sp>
      <p:sp>
        <p:nvSpPr>
          <p:cNvPr id="361" name="Spalte Text Läuft"/>
          <p:cNvSpPr/>
          <p:nvPr/>
        </p:nvSpPr>
        <p:spPr>
          <a:xfrm>
            <a:off x="822960" y="2651760"/>
            <a:ext cx="4935240" cy="30150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400"/>
              </a:spcAft>
              <a:buClr>
                <a:srgbClr val="2D2A4A"/>
              </a:buClr>
              <a:buFont typeface="Symbol" charset="2"/>
              <a:buChar char=""/>
            </a:pPr>
            <a:r>
              <a:rPr lang="en-US" sz="1800" b="0" u="none" strike="noStrike">
                <a:solidFill>
                  <a:schemeClr val="dk2"/>
                </a:solidFill>
                <a:effectLst/>
                <a:uFillTx/>
                <a:latin typeface="Calibri"/>
              </a:rPr>
              <a:t>MQTT-Architektur mit automatischer Geräteanmeldung</a:t>
            </a:r>
            <a:endParaRPr lang="de-DE" sz="1800" b="0" u="none" strike="noStrike">
              <a:solidFill>
                <a:srgbClr val="000000"/>
              </a:solidFill>
              <a:effectLst/>
              <a:uFillTx/>
              <a:latin typeface="Arial"/>
            </a:endParaRPr>
          </a:p>
          <a:p>
            <a:pPr marL="343080" indent="-343080" defTabSz="914400">
              <a:lnSpc>
                <a:spcPct val="100000"/>
              </a:lnSpc>
              <a:spcAft>
                <a:spcPts val="1400"/>
              </a:spcAft>
              <a:buClr>
                <a:srgbClr val="2D2A4A"/>
              </a:buClr>
              <a:buFont typeface="Symbol" charset="2"/>
              <a:buChar char=""/>
            </a:pPr>
            <a:r>
              <a:rPr lang="en-US" sz="1800" b="0" u="none" strike="noStrike">
                <a:solidFill>
                  <a:schemeClr val="dk2"/>
                </a:solidFill>
                <a:effectLst/>
                <a:uFillTx/>
                <a:latin typeface="Calibri"/>
              </a:rPr>
              <a:t>Drei Eingabewege: Joy-Con, Panel, Webinterface</a:t>
            </a:r>
            <a:endParaRPr lang="de-DE" sz="1800" b="0" u="none" strike="noStrike">
              <a:solidFill>
                <a:srgbClr val="000000"/>
              </a:solidFill>
              <a:effectLst/>
              <a:uFillTx/>
              <a:latin typeface="Arial"/>
            </a:endParaRPr>
          </a:p>
          <a:p>
            <a:pPr marL="343080" indent="-343080" defTabSz="914400">
              <a:lnSpc>
                <a:spcPct val="100000"/>
              </a:lnSpc>
              <a:spcAft>
                <a:spcPts val="1400"/>
              </a:spcAft>
              <a:buClr>
                <a:srgbClr val="2D2A4A"/>
              </a:buClr>
              <a:buFont typeface="Symbol" charset="2"/>
              <a:buChar char=""/>
            </a:pPr>
            <a:r>
              <a:rPr lang="en-US" sz="1800" b="0" u="none" strike="noStrike">
                <a:solidFill>
                  <a:schemeClr val="dk2"/>
                </a:solidFill>
                <a:effectLst/>
                <a:uFillTx/>
                <a:latin typeface="Calibri"/>
              </a:rPr>
              <a:t>Homing, Positionierung und Zielfahrten</a:t>
            </a:r>
            <a:endParaRPr lang="de-DE" sz="1800" b="0" u="none" strike="noStrike">
              <a:solidFill>
                <a:srgbClr val="000000"/>
              </a:solidFill>
              <a:effectLst/>
              <a:uFillTx/>
              <a:latin typeface="Arial"/>
            </a:endParaRPr>
          </a:p>
          <a:p>
            <a:pPr marL="343080" indent="-343080" defTabSz="914400">
              <a:lnSpc>
                <a:spcPct val="100000"/>
              </a:lnSpc>
              <a:spcAft>
                <a:spcPts val="1400"/>
              </a:spcAft>
              <a:buClr>
                <a:srgbClr val="2D2A4A"/>
              </a:buClr>
              <a:buFont typeface="Symbol" charset="2"/>
              <a:buChar char=""/>
            </a:pPr>
            <a:r>
              <a:rPr lang="en-US" sz="1800" b="0" u="none" strike="noStrike">
                <a:solidFill>
                  <a:schemeClr val="dk2"/>
                </a:solidFill>
                <a:effectLst/>
                <a:uFillTx/>
                <a:latin typeface="Calibri"/>
              </a:rPr>
              <a:t>Sicherheitsstopps im Motor-Controller</a:t>
            </a:r>
            <a:endParaRPr lang="de-DE" sz="1800" b="0" u="none" strike="noStrike">
              <a:solidFill>
                <a:srgbClr val="000000"/>
              </a:solidFill>
              <a:effectLst/>
              <a:uFillTx/>
              <a:latin typeface="Arial"/>
            </a:endParaRPr>
          </a:p>
          <a:p>
            <a:pPr marL="343080" indent="-343080" defTabSz="914400">
              <a:lnSpc>
                <a:spcPct val="100000"/>
              </a:lnSpc>
              <a:spcAft>
                <a:spcPts val="1400"/>
              </a:spcAft>
              <a:buClr>
                <a:srgbClr val="2D2A4A"/>
              </a:buClr>
              <a:buFont typeface="Symbol" charset="2"/>
              <a:buChar char=""/>
            </a:pPr>
            <a:r>
              <a:rPr lang="en-US" sz="1800" b="0" u="none" strike="noStrike">
                <a:solidFill>
                  <a:schemeClr val="dk2"/>
                </a:solidFill>
                <a:effectLst/>
                <a:uFillTx/>
                <a:latin typeface="Calibri"/>
              </a:rPr>
              <a:t>Kamerastream im Server</a:t>
            </a:r>
            <a:endParaRPr lang="de-DE" sz="1800" b="0" u="none" strike="noStrike">
              <a:solidFill>
                <a:srgbClr val="000000"/>
              </a:solidFill>
              <a:effectLst/>
              <a:uFillTx/>
              <a:latin typeface="Arial"/>
            </a:endParaRPr>
          </a:p>
        </p:txBody>
      </p:sp>
      <p:sp>
        <p:nvSpPr>
          <p:cNvPr id="362" name="Spalte Als Nächstes"/>
          <p:cNvSpPr/>
          <p:nvPr/>
        </p:nvSpPr>
        <p:spPr>
          <a:xfrm>
            <a:off x="6172200" y="1463040"/>
            <a:ext cx="5438160" cy="4478040"/>
          </a:xfrm>
          <a:prstGeom prst="roundRect">
            <a:avLst>
              <a:gd name="adj" fmla="val 2449"/>
            </a:avLst>
          </a:prstGeom>
          <a:solidFill>
            <a:schemeClr val="bg2"/>
          </a:solidFill>
          <a:ln w="12700">
            <a:solidFill>
              <a:srgbClr val="F3F0FA"/>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63" name="Symbol Als Nächstes"/>
          <p:cNvSpPr/>
          <p:nvPr/>
        </p:nvSpPr>
        <p:spPr>
          <a:xfrm>
            <a:off x="6446520" y="1737360"/>
            <a:ext cx="637560" cy="637560"/>
          </a:xfrm>
          <a:prstGeom prst="ellipse">
            <a:avLst/>
          </a:prstGeom>
          <a:solidFill>
            <a:schemeClr val="accent1"/>
          </a:solid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800" b="1" u="none" strike="noStrike">
                <a:solidFill>
                  <a:schemeClr val="lt1"/>
                </a:solidFill>
                <a:effectLst/>
                <a:uFillTx/>
                <a:latin typeface="Calibri"/>
              </a:rPr>
              <a:t>→</a:t>
            </a:r>
            <a:endParaRPr lang="de-DE" sz="1800" b="0" u="none" strike="noStrike">
              <a:solidFill>
                <a:srgbClr val="FFFFFF"/>
              </a:solidFill>
              <a:effectLst/>
              <a:uFillTx/>
              <a:latin typeface="Arial"/>
            </a:endParaRPr>
          </a:p>
        </p:txBody>
      </p:sp>
      <p:sp>
        <p:nvSpPr>
          <p:cNvPr id="364" name="Spalte Titel Als Nächstes"/>
          <p:cNvSpPr/>
          <p:nvPr/>
        </p:nvSpPr>
        <p:spPr>
          <a:xfrm>
            <a:off x="7269480" y="1737360"/>
            <a:ext cx="4112280" cy="6375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400" b="1" u="none" strike="noStrike">
                <a:solidFill>
                  <a:schemeClr val="dk1"/>
                </a:solidFill>
                <a:effectLst/>
                <a:uFillTx/>
                <a:latin typeface="Calibri"/>
              </a:rPr>
              <a:t>Bis zur Abgabe</a:t>
            </a:r>
            <a:endParaRPr lang="de-DE" sz="2400" b="0" u="none" strike="noStrike">
              <a:solidFill>
                <a:srgbClr val="000000"/>
              </a:solidFill>
              <a:effectLst/>
              <a:uFillTx/>
              <a:latin typeface="Arial"/>
            </a:endParaRPr>
          </a:p>
        </p:txBody>
      </p:sp>
      <p:sp>
        <p:nvSpPr>
          <p:cNvPr id="365" name="Spalte Text Als Nächstes"/>
          <p:cNvSpPr/>
          <p:nvPr/>
        </p:nvSpPr>
        <p:spPr>
          <a:xfrm>
            <a:off x="6446520" y="2651760"/>
            <a:ext cx="4935240" cy="3015000"/>
          </a:xfrm>
          <a:prstGeom prst="rect">
            <a:avLst/>
          </a:prstGeom>
          <a:noFill/>
          <a:ln w="0">
            <a:noFill/>
          </a:ln>
        </p:spPr>
        <p:style>
          <a:lnRef idx="0"/>
          <a:fillRef idx="0"/>
          <a:effectRef idx="0"/>
          <a:fontRef idx="minor"/>
        </p:style>
        <p:txBody>
          <a:bodyPr lIns="0" tIns="0" rIns="0" bIns="0" anchor="t">
            <a:noAutofit/>
          </a:bodyPr>
          <a:p>
            <a:pPr marL="343080" indent="-343080" defTabSz="914400">
              <a:lnSpc>
                <a:spcPct val="100000"/>
              </a:lnSpc>
              <a:spcAft>
                <a:spcPts val="1400"/>
              </a:spcAft>
              <a:buClr>
                <a:srgbClr val="2D2A4A"/>
              </a:buClr>
              <a:buFont typeface="Symbol" charset="2"/>
              <a:buChar char=""/>
            </a:pPr>
            <a:r>
              <a:rPr lang="en-US" sz="1800" b="0" u="none" strike="noStrike">
                <a:solidFill>
                  <a:schemeClr val="dk2"/>
                </a:solidFill>
                <a:effectLst/>
                <a:uFillTx/>
                <a:latin typeface="Calibri"/>
              </a:rPr>
              <a:t>M4: Latenz Eingabe bis Bewegung messen (&lt; 500 ms)</a:t>
            </a:r>
            <a:endParaRPr lang="de-DE" sz="1800" b="0" u="none" strike="noStrike">
              <a:solidFill>
                <a:srgbClr val="000000"/>
              </a:solidFill>
              <a:effectLst/>
              <a:uFillTx/>
              <a:latin typeface="Arial"/>
            </a:endParaRPr>
          </a:p>
          <a:p>
            <a:pPr marL="343080" indent="-343080" defTabSz="914400">
              <a:lnSpc>
                <a:spcPct val="100000"/>
              </a:lnSpc>
              <a:spcAft>
                <a:spcPts val="1400"/>
              </a:spcAft>
              <a:buClr>
                <a:srgbClr val="2D2A4A"/>
              </a:buClr>
              <a:buFont typeface="Symbol" charset="2"/>
              <a:buChar char=""/>
            </a:pPr>
            <a:r>
              <a:rPr lang="en-US" sz="1800" b="0" u="none" strike="noStrike">
                <a:solidFill>
                  <a:schemeClr val="dk2"/>
                </a:solidFill>
                <a:effectLst/>
                <a:uFillTx/>
                <a:latin typeface="Calibri"/>
              </a:rPr>
              <a:t>M4: Verfahrwege ausmessen, Heartbeat bei Serverausfall</a:t>
            </a:r>
            <a:endParaRPr lang="de-DE" sz="1800" b="0" u="none" strike="noStrike">
              <a:solidFill>
                <a:srgbClr val="000000"/>
              </a:solidFill>
              <a:effectLst/>
              <a:uFillTx/>
              <a:latin typeface="Arial"/>
            </a:endParaRPr>
          </a:p>
          <a:p>
            <a:pPr marL="343080" indent="-343080" defTabSz="914400">
              <a:lnSpc>
                <a:spcPct val="100000"/>
              </a:lnSpc>
              <a:spcAft>
                <a:spcPts val="1400"/>
              </a:spcAft>
              <a:buClr>
                <a:srgbClr val="2D2A4A"/>
              </a:buClr>
              <a:buFont typeface="Symbol" charset="2"/>
              <a:buChar char=""/>
            </a:pPr>
            <a:r>
              <a:rPr lang="en-US" sz="1800" b="0" u="none" strike="noStrike">
                <a:solidFill>
                  <a:schemeClr val="dk2"/>
                </a:solidFill>
                <a:effectLst/>
                <a:uFillTx/>
                <a:latin typeface="Calibri"/>
              </a:rPr>
              <a:t>M5: Neuverkabelung und Schaltplan</a:t>
            </a:r>
            <a:endParaRPr lang="de-DE" sz="1800" b="0" u="none" strike="noStrike">
              <a:solidFill>
                <a:srgbClr val="000000"/>
              </a:solidFill>
              <a:effectLst/>
              <a:uFillTx/>
              <a:latin typeface="Arial"/>
            </a:endParaRPr>
          </a:p>
          <a:p>
            <a:pPr marL="343080" indent="-343080" defTabSz="914400">
              <a:lnSpc>
                <a:spcPct val="100000"/>
              </a:lnSpc>
              <a:spcAft>
                <a:spcPts val="1400"/>
              </a:spcAft>
              <a:buClr>
                <a:srgbClr val="2D2A4A"/>
              </a:buClr>
              <a:buFont typeface="Symbol" charset="2"/>
              <a:buChar char=""/>
            </a:pPr>
            <a:r>
              <a:rPr lang="en-US" sz="1800" b="0" u="none" strike="noStrike">
                <a:solidFill>
                  <a:schemeClr val="dk2"/>
                </a:solidFill>
                <a:effectLst/>
                <a:uFillTx/>
                <a:latin typeface="Calibri"/>
              </a:rPr>
              <a:t>M6: Gesamttest mit unbeteiligter Person</a:t>
            </a:r>
            <a:endParaRPr lang="de-DE" sz="1800" b="0" u="none" strike="noStrike">
              <a:solidFill>
                <a:srgbClr val="000000"/>
              </a:solidFill>
              <a:effectLst/>
              <a:uFillTx/>
              <a:latin typeface="Arial"/>
            </a:endParaRPr>
          </a:p>
          <a:p>
            <a:pPr marL="343080" indent="-343080" defTabSz="914400">
              <a:lnSpc>
                <a:spcPct val="100000"/>
              </a:lnSpc>
              <a:spcAft>
                <a:spcPts val="1400"/>
              </a:spcAft>
              <a:buClr>
                <a:srgbClr val="2D2A4A"/>
              </a:buClr>
              <a:buFont typeface="Symbol" charset="2"/>
              <a:buChar char=""/>
            </a:pPr>
            <a:r>
              <a:rPr lang="en-US" sz="1800" b="0" u="none" strike="noStrike">
                <a:solidFill>
                  <a:schemeClr val="dk2"/>
                </a:solidFill>
                <a:effectLst/>
                <a:uFillTx/>
                <a:latin typeface="Calibri"/>
              </a:rPr>
              <a:t>M7: Doku, Übergabe, Einweisung; Doku ab M5 parallel</a:t>
            </a:r>
            <a:endParaRPr lang="de-DE" sz="1800" b="0" u="none" strike="noStrike">
              <a:solidFill>
                <a:srgbClr val="000000"/>
              </a:solidFill>
              <a:effectLst/>
              <a:uFillTx/>
              <a:latin typeface="Arial"/>
            </a:endParaRPr>
          </a:p>
        </p:txBody>
      </p:sp>
      <p:sp>
        <p:nvSpPr>
          <p:cNvPr id="366" name="PlaceHolder 1"/>
          <p:cNvSpPr>
            <a:spLocks noGrp="1"/>
          </p:cNvSpPr>
          <p:nvPr>
            <p:ph type="sldNum" idx="11"/>
          </p:nvPr>
        </p:nvSpPr>
        <p:spPr>
          <a:xfrm>
            <a:off x="11155680" y="6400800"/>
            <a:ext cx="546120" cy="271800"/>
          </a:xfrm>
          <a:prstGeom prst="rect">
            <a:avLst/>
          </a:prstGeom>
          <a:noFill/>
          <a:ln w="0">
            <a:noFill/>
          </a:ln>
        </p:spPr>
        <p:txBody>
          <a:bodyPr lIns="90000" tIns="45000" rIns="90000" bIns="45000" anchor="t">
            <a:noAutofit/>
          </a:bodyPr>
          <a:lstStyle>
            <a:lvl1pPr indent="0" algn="r" defTabSz="914400">
              <a:lnSpc>
                <a:spcPct val="100000"/>
              </a:lnSpc>
              <a:buNone/>
              <a:tabLst>
                <a:tab pos="0" algn="l"/>
              </a:tabLst>
              <a:defRPr lang="en-US" sz="1100" b="0" u="none" strike="noStrike">
                <a:solidFill>
                  <a:schemeClr val="accent5"/>
                </a:solidFill>
                <a:effectLst/>
                <a:uFillTx/>
                <a:latin typeface="Calibri"/>
              </a:defRPr>
            </a:lvl1pPr>
          </a:lstStyle>
          <a:p>
            <a:pPr indent="0" algn="r" defTabSz="914400">
              <a:lnSpc>
                <a:spcPct val="100000"/>
              </a:lnSpc>
              <a:buNone/>
              <a:tabLst>
                <a:tab pos="0" algn="l"/>
              </a:tabLst>
            </a:pPr>
            <a:fld id="{26DCE03A-9285-4B75-8DD3-908F1584852A}" type="slidenum">
              <a:rPr lang="en-US" sz="1100" b="0" u="none" strike="noStrike">
                <a:solidFill>
                  <a:schemeClr val="accent5"/>
                </a:solidFill>
                <a:effectLst/>
                <a:uFillTx/>
                <a:latin typeface="Calibri"/>
              </a:rPr>
              <a:t>&lt;Foliennummer&gt;</a:t>
            </a:fld>
            <a:endParaRPr lang="de-DE"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7" name="Titel"/>
          <p:cNvSpPr/>
          <p:nvPr/>
        </p:nvSpPr>
        <p:spPr>
          <a:xfrm>
            <a:off x="731520" y="2377440"/>
            <a:ext cx="7312680" cy="127764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6600" b="1" u="none" strike="noStrike">
                <a:solidFill>
                  <a:schemeClr val="lt1"/>
                </a:solidFill>
                <a:effectLst/>
                <a:uFillTx/>
                <a:latin typeface="Cambria"/>
                <a:ea typeface="Cambria"/>
              </a:rPr>
              <a:t>Fragen?</a:t>
            </a:r>
            <a:endParaRPr lang="de-DE" sz="6600" b="0" u="none" strike="noStrike">
              <a:solidFill>
                <a:srgbClr val="000000"/>
              </a:solidFill>
              <a:effectLst/>
              <a:uFillTx/>
              <a:latin typeface="Arial"/>
            </a:endParaRPr>
          </a:p>
        </p:txBody>
      </p:sp>
      <p:sp>
        <p:nvSpPr>
          <p:cNvPr id="368" name="Schlusssatz"/>
          <p:cNvSpPr/>
          <p:nvPr/>
        </p:nvSpPr>
        <p:spPr>
          <a:xfrm>
            <a:off x="731520" y="3749040"/>
            <a:ext cx="7312680" cy="54612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0" u="none" strike="noStrike">
                <a:solidFill>
                  <a:schemeClr val="accent2"/>
                </a:solidFill>
                <a:effectLst/>
                <a:uFillTx/>
                <a:latin typeface="Calibri"/>
              </a:rPr>
              <a:t>Ein Server, viele kleine Geräte, ein gemeinsamer Bus.</a:t>
            </a:r>
            <a:endParaRPr lang="de-DE" sz="2200" b="0" u="none" strike="noStrike">
              <a:solidFill>
                <a:srgbClr val="000000"/>
              </a:solidFill>
              <a:effectLst/>
              <a:uFillTx/>
              <a:latin typeface="Arial"/>
            </a:endParaRPr>
          </a:p>
        </p:txBody>
      </p:sp>
      <p:sp>
        <p:nvSpPr>
          <p:cNvPr id="369" name="Motiv Kreis 1"/>
          <p:cNvSpPr/>
          <p:nvPr/>
        </p:nvSpPr>
        <p:spPr>
          <a:xfrm>
            <a:off x="9326880" y="2011680"/>
            <a:ext cx="1826280" cy="1826280"/>
          </a:xfrm>
          <a:prstGeom prst="ellipse">
            <a:avLst/>
          </a:prstGeom>
          <a:solidFill>
            <a:schemeClr val="accent1"/>
          </a:solidFill>
          <a:ln w="12700">
            <a:solidFill>
              <a:srgbClr val="FF5A5F"/>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
        <p:nvSpPr>
          <p:cNvPr id="370" name="Motiv Kreis 2"/>
          <p:cNvSpPr/>
          <p:nvPr/>
        </p:nvSpPr>
        <p:spPr>
          <a:xfrm>
            <a:off x="10424160" y="3840480"/>
            <a:ext cx="1277640" cy="1277640"/>
          </a:xfrm>
          <a:prstGeom prst="ellipse">
            <a:avLst/>
          </a:prstGeom>
          <a:solidFill>
            <a:schemeClr val="accent2"/>
          </a:solidFill>
          <a:ln w="12700">
            <a:solidFill>
              <a:srgbClr val="FFC857"/>
            </a:solidFill>
            <a:round/>
          </a:ln>
        </p:spPr>
        <p:style>
          <a:lnRef idx="0"/>
          <a:fillRef idx="0"/>
          <a:effectRef idx="0"/>
          <a:fontRef idx="minor"/>
        </p:style>
        <p:txBody>
          <a:bodyPr lIns="90000" tIns="45000" rIns="90000" bIns="45000" anchor="t">
            <a:noAutofit/>
          </a:bodyPr>
          <a:p>
            <a:endParaRPr lang="de-DE" sz="1800" b="0" u="none" strike="noStrike">
              <a:solidFill>
                <a:srgbClr val="000000"/>
              </a:solidFill>
              <a:effectLst/>
              <a:uFillTx/>
              <a:latin typeface="Arial"/>
            </a:endParaRPr>
          </a:p>
        </p:txBody>
      </p:sp>
      <p:sp>
        <p:nvSpPr>
          <p:cNvPr id="371" name="Motiv Kreis 3"/>
          <p:cNvSpPr/>
          <p:nvPr/>
        </p:nvSpPr>
        <p:spPr>
          <a:xfrm>
            <a:off x="8869680" y="4206240"/>
            <a:ext cx="1003320" cy="1003320"/>
          </a:xfrm>
          <a:prstGeom prst="ellipse">
            <a:avLst/>
          </a:prstGeom>
          <a:solidFill>
            <a:schemeClr val="accent3"/>
          </a:solidFill>
          <a:ln w="12700">
            <a:solidFill>
              <a:srgbClr val="1FA896"/>
            </a:solidFill>
            <a:round/>
          </a:ln>
        </p:spPr>
        <p:style>
          <a:lnRef idx="0"/>
          <a:fillRef idx="0"/>
          <a:effectRef idx="0"/>
          <a:fontRef idx="minor"/>
        </p:style>
        <p:txBody>
          <a:bodyPr lIns="90000" tIns="45000" rIns="90000" bIns="45000" anchor="t">
            <a:noAutofit/>
          </a:bodyPr>
          <a:p>
            <a:endParaRPr lang="de-DE"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Clawmachine Arcade">
  <a:themeElements>
    <a:clrScheme name="Clawmachine Arcade">
      <a:dk1>
        <a:srgbClr val="1B1B2F"/>
      </a:dk1>
      <a:lt1>
        <a:srgbClr val="FFFFFF"/>
      </a:lt1>
      <a:dk2>
        <a:srgbClr val="2D2A4A"/>
      </a:dk2>
      <a:lt2>
        <a:srgbClr val="F3F0FA"/>
      </a:lt2>
      <a:accent1>
        <a:srgbClr val="FF5A5F"/>
      </a:accent1>
      <a:accent2>
        <a:srgbClr val="FFC857"/>
      </a:accent2>
      <a:accent3>
        <a:srgbClr val="1FA896"/>
      </a:accent3>
      <a:accent4>
        <a:srgbClr val="6C5CE7"/>
      </a:accent4>
      <a:accent5>
        <a:srgbClr val="7C7A99"/>
      </a:accent5>
      <a:accent6>
        <a:srgbClr val="3A86FF"/>
      </a:accent6>
      <a:hlink>
        <a:srgbClr val="3A86FF"/>
      </a:hlink>
      <a:folHlink>
        <a:srgbClr val="7C7A99"/>
      </a:folHlink>
    </a:clrScheme>
    <a:fontScheme name="Clawmachine Arcade">
      <a:majorFont>
        <a:latin typeface="Cambria" pitchFamily="0" charset="1"/>
        <a:ea typeface=""/>
        <a:cs typeface=""/>
      </a:majorFont>
      <a:minorFont>
        <a:latin typeface="Calibri"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20</TotalTime>
  <Application>LibreOffice/26.2.6.3$Linux_X86_64 LibreOffice_project/620$Build-3</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2026-10-28T20:11:07Z</dcterms:created>
  <dc:creator>Softwarepraktikum Clawmachine</dc:creator>
  <dc:description/>
  <dc:language>de-DE</dc:language>
  <cp:lastModifiedBy/>
  <dcterms:modified xsi:type="dcterms:W3CDTF">2026-10-29T13:59:20Z</dcterms:modified>
  <cp:revision>10</cp:revision>
  <dc:subject>PptxGenJS Presentation</dc:subject>
  <dc:title>Clawmachine – Architektur-Pitch</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On-screen Show (16:9)</vt:lpwstr>
  </property>
  <property fmtid="{D5CDD505-2E9C-101B-9397-08002B2CF9AE}" pid="4" name="Slides">
    <vt:i4>9</vt:i4>
  </property>
</Properties>
</file>